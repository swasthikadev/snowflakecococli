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549ab2f-d775-b750-072b-5e7b9e29fa4b}">
          <p14:sldIdLst>
            <p14:sldId id="256"/>
          </p14:sldIdLst>
        </p14:section>
        <p14:section name="Problem Brief" id="{889e51a2-80a6-fa17-9859-4ec93e96e625}">
          <p14:sldIdLst>
            <p14:sldId id="257"/>
            <p14:sldId id="258"/>
            <p14:sldId id="259"/>
            <p14:sldId id="260"/>
          </p14:sldIdLst>
        </p14:section>
        <p14:section name="Solution &amp; Architecture" id="{2729eea5-4720-658d-a7f6-5e5258278c71}">
          <p14:sldIdLst>
            <p14:sldId id="261"/>
            <p14:sldId id="262"/>
            <p14:sldId id="263"/>
            <p14:sldId id="264"/>
            <p14:sldId id="265"/>
          </p14:sldIdLst>
        </p14:section>
        <p14:section name="Impact" id="{5374e9ad-b74f-af7f-2a0b-404be696adef}">
          <p14:sldIdLst>
            <p14:sldId id="266"/>
            <p14:sldId id="267"/>
          </p14:sldIdLst>
        </p14:section>
        <p14:section name="Close" id="{97c4e980-8bb3-0082-ca7e-d6578342a974}">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MuleTrace is a copilot for bank and NBFC fraud, AML and compliance teams. It turns raw transactions into mule-network findings, explains each one with evidence and policy clauses, and drafts the Suspicious Transaction Report. Everything runs on Snowflake and is built with CoCo CLI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we started from. A fraudster moves ten lakh rupees as two thousand ₹500 transfers through a hundred mule accounts. No single transaction trips a rule. The pattern only shows up when you look at the network of accounts, which is what MuleTrace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Banking and NBFC domain, India. Mule accounts are now tracked at national level, UPI volume makes manual review impossible, and PML Rules give a compliance officer seven working days to file an STR once suspicion is established. Sources: MHA statement Feb 2025; NPCI 2025 data; PML (Maintenance of Records)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personas. Investigators need the money trail fast. Compliance officers need evidence and a defensible STR. Risk heads need aggregate exposure. All three ask questions in plain English instead of waiting on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pain versus improvement, row by row. The key shift is from transaction-level rules to network-level analysis, with evidence and the report produced in the same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detector looks for four typologies as time-ordered graph patterns, not single-transaction rules. The thresholds on each card are the defaults and can be configured per bank policy. Every alert keeps the exact transactions that triggered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 left to right. Structured transactions and accounts land through Openflow; unstructured policy and filing PDFs are parsed with AI_PARSE_DOCUMENT and indexed in Cortex Search. Dynamic Tables keep flow features fresh; a Snowpark graph detector writes alerts. A Cortex Agent combines Cortex Analyst over a semantic view with Cortex Search, so answers carry both numbers and policy citations. The investigator app runs on Snowpark Container Services, so data never leaves Snowflake.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CoCo CLI bundled skill builds one module. They connect through Snowflake tables: Openflow and dynamic tables feed the detector; document-intelligence and search-optimization feed the agent; agent-studio wires both into one Cortex Agent; governance, lineage and SPCS deployment wrap the whole system. We also package the analyst workflow as a custom skill so it is reusable.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flow the problem statement asks for: signal to evidence to a documented finding or report. Each step is a separate module whose output is a table, which makes the system modular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compliance officer asks a question in plain English. The Cortex Agent answers with the numbers from Cortex Analyst, the policy clause from Cortex Search, and links to the network diagram and an STR draft. Every claim links back to source rows. This example uses synthetic data and a sample bank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Measurable outcomes. Time from alert to evidence and time to an STR draft are the two biggest manual costs today. Explainability is a design rule: no answer without a citation. Accuracy is measured in the demo because the synthetic data carries ground-truth labels. Targets are goals, not claims, until validated in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Scalability comes from Snowflake: elastic warehouses, incremental dynamic tables, and graph search bounded by time window and partition. Beyond the demo, the same pipeline takes new typologies as plug-in rules, shares mule signals across banks through clean rooms, and the agent can answer credit, liquidity and Basel questions because it is a general risk copilot over governed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judges will see in the demo: synthetic data with ground truth, detection, the network diagram, the copilot answering with citations, and the STR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T_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37744"/>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30352"/>
            <a:ext cx="8229600" cy="50292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4" name="Text 0"/>
          <p:cNvSpPr/>
          <p:nvPr/>
        </p:nvSpPr>
        <p:spPr>
          <a:xfrm>
            <a:off x="457200" y="4818888"/>
            <a:ext cx="6400800" cy="201168"/>
          </a:xfrm>
          <a:prstGeom prst="rect">
            <a:avLst/>
          </a:prstGeom>
          <a:noFill/>
          <a:ln/>
        </p:spPr>
        <p:txBody>
          <a:bodyPr wrap="square" lIns="0" tIns="0" rIns="0" bIns="0" rtlCol="0" anchor="ctr"/>
          <a:lstStyle/>
          <a:p>
            <a:pPr indent="0" marL="0">
              <a:buNone/>
            </a:pPr>
            <a:r>
              <a:rPr lang="en-US" sz="900" dirty="0">
                <a:solidFill>
                  <a:schemeClr val="accent6"/>
                </a:solidFill>
              </a:rPr>
              <a:t>MuleTrace  ·  Prototype / MVP Brief  ·  Snowflake CoCo Hackathon 2026</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T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822960"/>
            <a:ext cx="4846320" cy="274320"/>
          </a:xfrm>
          <a:prstGeom prst="rect">
            <a:avLst/>
          </a:prstGeom>
          <a:noFill/>
          <a:ln/>
        </p:spPr>
        <p:txBody>
          <a:bodyPr wrap="square" rtlCol="0"/>
          <a:lstStyle>
            <a:lvl1pPr indent="0" marL="0">
              <a:buNone/>
              <a:defRPr lang="en-US" sz="1100" b="1" spc="150" kern="0" dirty="0">
                <a:solidFill>
                  <a:schemeClr val="accent5"/>
                </a:solidFill>
              </a:defRPr>
            </a:lvl1pPr>
          </a:lstStyle>
          <a:p>
            <a:pPr indent="0" marL="0">
              <a:buNone/>
            </a:pPr>
            <a:endParaRPr lang="en-US" sz="1100" dirty="0"/>
          </a:p>
        </p:txBody>
      </p:sp>
      <p:sp>
        <p:nvSpPr>
          <p:cNvPr id="3" name="Text 0"/>
          <p:cNvSpPr/>
          <p:nvPr>
            <p:ph idx="101" type="title" hasCustomPrompt="1"/>
          </p:nvPr>
        </p:nvSpPr>
        <p:spPr>
          <a:xfrm>
            <a:off x="457200" y="1188720"/>
            <a:ext cx="4846320" cy="9144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457200" y="2148840"/>
            <a:ext cx="4846320" cy="6858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5" name="Text 0"/>
          <p:cNvSpPr/>
          <p:nvPr>
            <p:ph idx="103" type="body" hasCustomPrompt="1"/>
          </p:nvPr>
        </p:nvSpPr>
        <p:spPr>
          <a:xfrm>
            <a:off x="457200" y="2926080"/>
            <a:ext cx="4572000" cy="109728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822960"/>
            <a:ext cx="4846320" cy="274320"/>
          </a:xfrm>
          <a:prstGeom prst="rect">
            <a:avLst/>
          </a:prstGeom>
          <a:noFill/>
          <a:ln/>
        </p:spPr>
        <p:txBody>
          <a:bodyPr wrap="square" lIns="0" tIns="0" rIns="0" bIns="0" rtlCol="0"/>
          <a:lstStyle/>
          <a:p>
            <a:pPr indent="0" marL="0">
              <a:buNone/>
            </a:pPr>
            <a:r>
              <a:rPr lang="en-US" sz="1100" b="1" spc="150" kern="0" dirty="0">
                <a:solidFill>
                  <a:schemeClr val="accent5"/>
                </a:solidFill>
              </a:rPr>
              <a:t>SNOWFLAKE COCO HACKATHON 2026  ·  GCC EDITION</a:t>
            </a:r>
            <a:endParaRPr lang="en-US" sz="1100" dirty="0"/>
          </a:p>
        </p:txBody>
      </p:sp>
      <p:sp>
        <p:nvSpPr>
          <p:cNvPr id="3" name="Text 0"/>
          <p:cNvSpPr/>
          <p:nvPr>
            <p:ph idx="101" type="title" hasCustomPrompt="1"/>
          </p:nvPr>
        </p:nvSpPr>
        <p:spPr>
          <a:xfrm>
            <a:off x="457200" y="1188720"/>
            <a:ext cx="4846320" cy="914400"/>
          </a:xfrm>
          <a:prstGeom prst="rect">
            <a:avLst/>
          </a:prstGeom>
          <a:noFill/>
          <a:ln/>
        </p:spPr>
        <p:txBody>
          <a:bodyPr wrap="square" lIns="0" tIns="0" rIns="0" bIns="0" rtlCol="0" anchor="ctr"/>
          <a:lstStyle/>
          <a:p>
            <a:pPr algn="l" indent="0" marL="0">
              <a:buNone/>
            </a:pPr>
            <a:r>
              <a:rPr lang="en-US" sz="4800" b="1" dirty="0">
                <a:solidFill>
                  <a:schemeClr val="bg1"/>
                </a:solidFill>
              </a:rPr>
              <a:t>MuleTrace</a:t>
            </a:r>
            <a:endParaRPr lang="en-US" sz="4800" dirty="0"/>
          </a:p>
        </p:txBody>
      </p:sp>
      <p:sp>
        <p:nvSpPr>
          <p:cNvPr id="4" name="Text 0"/>
          <p:cNvSpPr/>
          <p:nvPr>
            <p:ph idx="102" type="body" hasCustomPrompt="1"/>
          </p:nvPr>
        </p:nvSpPr>
        <p:spPr>
          <a:xfrm>
            <a:off x="457200" y="2148840"/>
            <a:ext cx="4846320" cy="685800"/>
          </a:xfrm>
          <a:prstGeom prst="rect">
            <a:avLst/>
          </a:prstGeom>
          <a:noFill/>
          <a:ln/>
        </p:spPr>
        <p:txBody>
          <a:bodyPr wrap="square" lIns="0" tIns="0" rIns="0" bIns="0" rtlCol="0" anchor="t"/>
          <a:lstStyle/>
          <a:p>
            <a:pPr indent="0" marL="0">
              <a:buNone/>
            </a:pPr>
            <a:r>
              <a:rPr lang="en-US" sz="2000" dirty="0">
                <a:solidFill>
                  <a:schemeClr val="bg2"/>
                </a:solidFill>
              </a:rPr>
              <a:t>Risk, Fraud &amp; Regulatory Intelligence Copilot</a:t>
            </a:r>
            <a:endParaRPr lang="en-US" sz="2000" dirty="0"/>
          </a:p>
        </p:txBody>
      </p:sp>
      <p:sp>
        <p:nvSpPr>
          <p:cNvPr id="5" name="Text 0"/>
          <p:cNvSpPr/>
          <p:nvPr>
            <p:ph idx="103" type="body" hasCustomPrompt="1"/>
          </p:nvPr>
        </p:nvSpPr>
        <p:spPr>
          <a:xfrm>
            <a:off x="457200" y="2926080"/>
            <a:ext cx="4572000" cy="1097280"/>
          </a:xfrm>
          <a:prstGeom prst="rect">
            <a:avLst/>
          </a:prstGeom>
          <a:noFill/>
          <a:ln/>
        </p:spPr>
        <p:txBody>
          <a:bodyPr wrap="square" lIns="0" tIns="0" rIns="0" bIns="0" rtlCol="0" anchor="t"/>
          <a:lstStyle/>
          <a:p>
            <a:pPr indent="0" marL="0">
              <a:buNone/>
            </a:pPr>
            <a:r>
              <a:rPr lang="en-US" sz="1400" dirty="0">
                <a:solidFill>
                  <a:schemeClr val="bg2"/>
                </a:solidFill>
              </a:rPr>
              <a:t>Finds mule-account networks in bank transactions, explains them with policy evidence, and drafts an audit-ready STR from a plain-English question.</a:t>
            </a:r>
            <a:endParaRPr lang="en-US" sz="1400" dirty="0"/>
          </a:p>
        </p:txBody>
      </p:sp>
      <p:sp>
        <p:nvSpPr>
          <p:cNvPr id="6" name="Text 4"/>
          <p:cNvSpPr txBox="1"/>
          <p:nvPr/>
        </p:nvSpPr>
        <p:spPr>
          <a:xfrm>
            <a:off x="457200" y="4343400"/>
            <a:ext cx="3657600" cy="274320"/>
          </a:xfrm>
          <a:prstGeom prst="rect">
            <a:avLst/>
          </a:prstGeom>
          <a:noFill/>
          <a:ln/>
        </p:spPr>
        <p:txBody>
          <a:bodyPr wrap="square" lIns="0" tIns="0" rIns="0" bIns="0" rtlCol="0" anchor="t"/>
          <a:lstStyle/>
          <a:p>
            <a:pPr indent="0" marL="0">
              <a:buNone/>
            </a:pPr>
            <a:r>
              <a:rPr lang="en-US" sz="1200" b="1" dirty="0">
                <a:solidFill>
                  <a:schemeClr val="accent5"/>
                </a:solidFill>
              </a:rPr>
              <a:t>Prototype / MVP Brief</a:t>
            </a:r>
            <a:endParaRPr lang="en-US" sz="1200" dirty="0"/>
          </a:p>
        </p:txBody>
      </p:sp>
      <p:sp>
        <p:nvSpPr>
          <p:cNvPr id="7" name="Shape 5"/>
          <p:cNvSpPr/>
          <p:nvPr/>
        </p:nvSpPr>
        <p:spPr>
          <a:xfrm>
            <a:off x="7178040" y="1417320"/>
            <a:ext cx="914" cy="850392"/>
          </a:xfrm>
          <a:prstGeom prst="line">
            <a:avLst/>
          </a:prstGeom>
          <a:noFill/>
          <a:ln w="12700">
            <a:solidFill>
              <a:schemeClr val="accent6"/>
            </a:solidFill>
            <a:prstDash val="solid"/>
            <a:tailEnd type="triangle"/>
          </a:ln>
        </p:spPr>
      </p:sp>
      <p:sp>
        <p:nvSpPr>
          <p:cNvPr id="8" name="Shape 6"/>
          <p:cNvSpPr/>
          <p:nvPr/>
        </p:nvSpPr>
        <p:spPr>
          <a:xfrm>
            <a:off x="7068312" y="1170432"/>
            <a:ext cx="219456" cy="219456"/>
          </a:xfrm>
          <a:prstGeom prst="ellipse">
            <a:avLst/>
          </a:prstGeom>
          <a:solidFill>
            <a:schemeClr val="accent3"/>
          </a:solidFill>
          <a:ln w="12700">
            <a:solidFill>
              <a:schemeClr val="tx2"/>
            </a:solidFill>
            <a:prstDash val="solid"/>
          </a:ln>
        </p:spPr>
      </p:sp>
      <p:sp>
        <p:nvSpPr>
          <p:cNvPr id="9" name="Shape 7"/>
          <p:cNvSpPr/>
          <p:nvPr/>
        </p:nvSpPr>
        <p:spPr>
          <a:xfrm flipH="1">
            <a:off x="7347204" y="1576578"/>
            <a:ext cx="425196" cy="736461"/>
          </a:xfrm>
          <a:prstGeom prst="line">
            <a:avLst/>
          </a:prstGeom>
          <a:noFill/>
          <a:ln w="12700">
            <a:solidFill>
              <a:schemeClr val="accent6"/>
            </a:solidFill>
            <a:prstDash val="solid"/>
            <a:tailEnd type="triangle"/>
          </a:ln>
        </p:spPr>
      </p:sp>
      <p:sp>
        <p:nvSpPr>
          <p:cNvPr id="10" name="Shape 8"/>
          <p:cNvSpPr/>
          <p:nvPr/>
        </p:nvSpPr>
        <p:spPr>
          <a:xfrm>
            <a:off x="7731252" y="1348066"/>
            <a:ext cx="219456" cy="219456"/>
          </a:xfrm>
          <a:prstGeom prst="ellipse">
            <a:avLst/>
          </a:prstGeom>
          <a:solidFill>
            <a:schemeClr val="accent3"/>
          </a:solidFill>
          <a:ln w="12700">
            <a:solidFill>
              <a:schemeClr val="tx2"/>
            </a:solidFill>
            <a:prstDash val="solid"/>
          </a:ln>
        </p:spPr>
      </p:sp>
      <p:sp>
        <p:nvSpPr>
          <p:cNvPr id="11" name="Shape 9"/>
          <p:cNvSpPr/>
          <p:nvPr/>
        </p:nvSpPr>
        <p:spPr>
          <a:xfrm flipH="1">
            <a:off x="7471041" y="2011680"/>
            <a:ext cx="736461" cy="425196"/>
          </a:xfrm>
          <a:prstGeom prst="line">
            <a:avLst/>
          </a:prstGeom>
          <a:noFill/>
          <a:ln w="12700">
            <a:solidFill>
              <a:schemeClr val="accent6"/>
            </a:solidFill>
            <a:prstDash val="solid"/>
            <a:tailEnd type="triangle"/>
          </a:ln>
        </p:spPr>
      </p:sp>
      <p:sp>
        <p:nvSpPr>
          <p:cNvPr id="12" name="Shape 10"/>
          <p:cNvSpPr/>
          <p:nvPr/>
        </p:nvSpPr>
        <p:spPr>
          <a:xfrm>
            <a:off x="8216558" y="1833372"/>
            <a:ext cx="219456" cy="219456"/>
          </a:xfrm>
          <a:prstGeom prst="ellipse">
            <a:avLst/>
          </a:prstGeom>
          <a:solidFill>
            <a:schemeClr val="accent3"/>
          </a:solidFill>
          <a:ln w="12700">
            <a:solidFill>
              <a:schemeClr val="tx2"/>
            </a:solidFill>
            <a:prstDash val="solid"/>
          </a:ln>
        </p:spPr>
      </p:sp>
      <p:sp>
        <p:nvSpPr>
          <p:cNvPr id="13" name="Shape 11"/>
          <p:cNvSpPr/>
          <p:nvPr/>
        </p:nvSpPr>
        <p:spPr>
          <a:xfrm flipH="1">
            <a:off x="7516368" y="2606040"/>
            <a:ext cx="850392" cy="914"/>
          </a:xfrm>
          <a:prstGeom prst="line">
            <a:avLst/>
          </a:prstGeom>
          <a:noFill/>
          <a:ln w="12700">
            <a:solidFill>
              <a:schemeClr val="accent6"/>
            </a:solidFill>
            <a:prstDash val="solid"/>
            <a:tailEnd type="triangle"/>
          </a:ln>
        </p:spPr>
      </p:sp>
      <p:sp>
        <p:nvSpPr>
          <p:cNvPr id="14" name="Shape 12"/>
          <p:cNvSpPr/>
          <p:nvPr/>
        </p:nvSpPr>
        <p:spPr>
          <a:xfrm>
            <a:off x="8394192" y="2496312"/>
            <a:ext cx="219456" cy="219456"/>
          </a:xfrm>
          <a:prstGeom prst="ellipse">
            <a:avLst/>
          </a:prstGeom>
          <a:solidFill>
            <a:schemeClr val="accent3"/>
          </a:solidFill>
          <a:ln w="12700">
            <a:solidFill>
              <a:schemeClr val="tx2"/>
            </a:solidFill>
            <a:prstDash val="solid"/>
          </a:ln>
        </p:spPr>
      </p:sp>
      <p:sp>
        <p:nvSpPr>
          <p:cNvPr id="15" name="Shape 13"/>
          <p:cNvSpPr/>
          <p:nvPr/>
        </p:nvSpPr>
        <p:spPr>
          <a:xfrm flipH="1" flipV="1">
            <a:off x="7471041" y="2775204"/>
            <a:ext cx="736461" cy="425196"/>
          </a:xfrm>
          <a:prstGeom prst="line">
            <a:avLst/>
          </a:prstGeom>
          <a:noFill/>
          <a:ln w="12700">
            <a:solidFill>
              <a:schemeClr val="accent6"/>
            </a:solidFill>
            <a:prstDash val="solid"/>
            <a:tailEnd type="triangle"/>
          </a:ln>
        </p:spPr>
      </p:sp>
      <p:sp>
        <p:nvSpPr>
          <p:cNvPr id="16" name="Shape 14"/>
          <p:cNvSpPr/>
          <p:nvPr/>
        </p:nvSpPr>
        <p:spPr>
          <a:xfrm>
            <a:off x="8216558" y="3159252"/>
            <a:ext cx="219456" cy="219456"/>
          </a:xfrm>
          <a:prstGeom prst="ellipse">
            <a:avLst/>
          </a:prstGeom>
          <a:solidFill>
            <a:schemeClr val="accent3"/>
          </a:solidFill>
          <a:ln w="12700">
            <a:solidFill>
              <a:schemeClr val="tx2"/>
            </a:solidFill>
            <a:prstDash val="solid"/>
          </a:ln>
        </p:spPr>
      </p:sp>
      <p:sp>
        <p:nvSpPr>
          <p:cNvPr id="17" name="Shape 15"/>
          <p:cNvSpPr/>
          <p:nvPr/>
        </p:nvSpPr>
        <p:spPr>
          <a:xfrm flipH="1" flipV="1">
            <a:off x="7347204" y="2899041"/>
            <a:ext cx="425196" cy="736461"/>
          </a:xfrm>
          <a:prstGeom prst="line">
            <a:avLst/>
          </a:prstGeom>
          <a:noFill/>
          <a:ln w="12700">
            <a:solidFill>
              <a:schemeClr val="accent6"/>
            </a:solidFill>
            <a:prstDash val="solid"/>
            <a:tailEnd type="triangle"/>
          </a:ln>
        </p:spPr>
      </p:sp>
      <p:sp>
        <p:nvSpPr>
          <p:cNvPr id="18" name="Shape 16"/>
          <p:cNvSpPr/>
          <p:nvPr/>
        </p:nvSpPr>
        <p:spPr>
          <a:xfrm>
            <a:off x="7731252" y="3644558"/>
            <a:ext cx="219456" cy="219456"/>
          </a:xfrm>
          <a:prstGeom prst="ellipse">
            <a:avLst/>
          </a:prstGeom>
          <a:solidFill>
            <a:schemeClr val="accent3"/>
          </a:solidFill>
          <a:ln w="12700">
            <a:solidFill>
              <a:schemeClr val="tx2"/>
            </a:solidFill>
            <a:prstDash val="solid"/>
          </a:ln>
        </p:spPr>
      </p:sp>
      <p:sp>
        <p:nvSpPr>
          <p:cNvPr id="19" name="Shape 17"/>
          <p:cNvSpPr/>
          <p:nvPr/>
        </p:nvSpPr>
        <p:spPr>
          <a:xfrm flipV="1">
            <a:off x="7178040" y="2944368"/>
            <a:ext cx="914" cy="850392"/>
          </a:xfrm>
          <a:prstGeom prst="line">
            <a:avLst/>
          </a:prstGeom>
          <a:noFill/>
          <a:ln w="12700">
            <a:solidFill>
              <a:schemeClr val="accent6"/>
            </a:solidFill>
            <a:prstDash val="solid"/>
            <a:tailEnd type="triangle"/>
          </a:ln>
        </p:spPr>
      </p:sp>
      <p:sp>
        <p:nvSpPr>
          <p:cNvPr id="20" name="Shape 18"/>
          <p:cNvSpPr/>
          <p:nvPr/>
        </p:nvSpPr>
        <p:spPr>
          <a:xfrm>
            <a:off x="7068312" y="3822192"/>
            <a:ext cx="219456" cy="219456"/>
          </a:xfrm>
          <a:prstGeom prst="ellipse">
            <a:avLst/>
          </a:prstGeom>
          <a:solidFill>
            <a:schemeClr val="accent3"/>
          </a:solidFill>
          <a:ln w="12700">
            <a:solidFill>
              <a:schemeClr val="tx2"/>
            </a:solidFill>
            <a:prstDash val="solid"/>
          </a:ln>
        </p:spPr>
      </p:sp>
      <p:sp>
        <p:nvSpPr>
          <p:cNvPr id="21" name="Shape 19"/>
          <p:cNvSpPr/>
          <p:nvPr/>
        </p:nvSpPr>
        <p:spPr>
          <a:xfrm flipV="1">
            <a:off x="6583680" y="2899041"/>
            <a:ext cx="425196" cy="736461"/>
          </a:xfrm>
          <a:prstGeom prst="line">
            <a:avLst/>
          </a:prstGeom>
          <a:noFill/>
          <a:ln w="12700">
            <a:solidFill>
              <a:schemeClr val="accent6"/>
            </a:solidFill>
            <a:prstDash val="solid"/>
            <a:tailEnd type="triangle"/>
          </a:ln>
        </p:spPr>
      </p:sp>
      <p:sp>
        <p:nvSpPr>
          <p:cNvPr id="22" name="Shape 20"/>
          <p:cNvSpPr/>
          <p:nvPr/>
        </p:nvSpPr>
        <p:spPr>
          <a:xfrm>
            <a:off x="6405372" y="3644558"/>
            <a:ext cx="219456" cy="219456"/>
          </a:xfrm>
          <a:prstGeom prst="ellipse">
            <a:avLst/>
          </a:prstGeom>
          <a:solidFill>
            <a:schemeClr val="accent3"/>
          </a:solidFill>
          <a:ln w="12700">
            <a:solidFill>
              <a:schemeClr val="tx2"/>
            </a:solidFill>
            <a:prstDash val="solid"/>
          </a:ln>
        </p:spPr>
      </p:sp>
      <p:sp>
        <p:nvSpPr>
          <p:cNvPr id="23" name="Shape 21"/>
          <p:cNvSpPr/>
          <p:nvPr/>
        </p:nvSpPr>
        <p:spPr>
          <a:xfrm flipV="1">
            <a:off x="6148578" y="2775204"/>
            <a:ext cx="736461" cy="425196"/>
          </a:xfrm>
          <a:prstGeom prst="line">
            <a:avLst/>
          </a:prstGeom>
          <a:noFill/>
          <a:ln w="12700">
            <a:solidFill>
              <a:schemeClr val="accent6"/>
            </a:solidFill>
            <a:prstDash val="solid"/>
            <a:tailEnd type="triangle"/>
          </a:ln>
        </p:spPr>
      </p:sp>
      <p:sp>
        <p:nvSpPr>
          <p:cNvPr id="24" name="Shape 22"/>
          <p:cNvSpPr/>
          <p:nvPr/>
        </p:nvSpPr>
        <p:spPr>
          <a:xfrm>
            <a:off x="5920066" y="3159252"/>
            <a:ext cx="219456" cy="219456"/>
          </a:xfrm>
          <a:prstGeom prst="ellipse">
            <a:avLst/>
          </a:prstGeom>
          <a:solidFill>
            <a:schemeClr val="accent3"/>
          </a:solidFill>
          <a:ln w="12700">
            <a:solidFill>
              <a:schemeClr val="tx2"/>
            </a:solidFill>
            <a:prstDash val="solid"/>
          </a:ln>
        </p:spPr>
      </p:sp>
      <p:sp>
        <p:nvSpPr>
          <p:cNvPr id="25" name="Shape 23"/>
          <p:cNvSpPr/>
          <p:nvPr/>
        </p:nvSpPr>
        <p:spPr>
          <a:xfrm>
            <a:off x="5989320" y="2606040"/>
            <a:ext cx="850392" cy="914"/>
          </a:xfrm>
          <a:prstGeom prst="line">
            <a:avLst/>
          </a:prstGeom>
          <a:noFill/>
          <a:ln w="12700">
            <a:solidFill>
              <a:schemeClr val="accent6"/>
            </a:solidFill>
            <a:prstDash val="solid"/>
            <a:tailEnd type="triangle"/>
          </a:ln>
        </p:spPr>
      </p:sp>
      <p:sp>
        <p:nvSpPr>
          <p:cNvPr id="26" name="Shape 24"/>
          <p:cNvSpPr/>
          <p:nvPr/>
        </p:nvSpPr>
        <p:spPr>
          <a:xfrm>
            <a:off x="5742432" y="2496312"/>
            <a:ext cx="219456" cy="219456"/>
          </a:xfrm>
          <a:prstGeom prst="ellipse">
            <a:avLst/>
          </a:prstGeom>
          <a:solidFill>
            <a:schemeClr val="accent3"/>
          </a:solidFill>
          <a:ln w="12700">
            <a:solidFill>
              <a:schemeClr val="tx2"/>
            </a:solidFill>
            <a:prstDash val="solid"/>
          </a:ln>
        </p:spPr>
      </p:sp>
      <p:sp>
        <p:nvSpPr>
          <p:cNvPr id="27" name="Shape 25"/>
          <p:cNvSpPr/>
          <p:nvPr/>
        </p:nvSpPr>
        <p:spPr>
          <a:xfrm>
            <a:off x="6148578" y="2011680"/>
            <a:ext cx="736461" cy="425196"/>
          </a:xfrm>
          <a:prstGeom prst="line">
            <a:avLst/>
          </a:prstGeom>
          <a:noFill/>
          <a:ln w="12700">
            <a:solidFill>
              <a:schemeClr val="accent6"/>
            </a:solidFill>
            <a:prstDash val="solid"/>
            <a:tailEnd type="triangle"/>
          </a:ln>
        </p:spPr>
      </p:sp>
      <p:sp>
        <p:nvSpPr>
          <p:cNvPr id="28" name="Shape 26"/>
          <p:cNvSpPr/>
          <p:nvPr/>
        </p:nvSpPr>
        <p:spPr>
          <a:xfrm>
            <a:off x="5920066" y="1833372"/>
            <a:ext cx="219456" cy="219456"/>
          </a:xfrm>
          <a:prstGeom prst="ellipse">
            <a:avLst/>
          </a:prstGeom>
          <a:solidFill>
            <a:schemeClr val="accent3"/>
          </a:solidFill>
          <a:ln w="12700">
            <a:solidFill>
              <a:schemeClr val="tx2"/>
            </a:solidFill>
            <a:prstDash val="solid"/>
          </a:ln>
        </p:spPr>
      </p:sp>
      <p:sp>
        <p:nvSpPr>
          <p:cNvPr id="29" name="Shape 27"/>
          <p:cNvSpPr/>
          <p:nvPr/>
        </p:nvSpPr>
        <p:spPr>
          <a:xfrm>
            <a:off x="6583680" y="1576578"/>
            <a:ext cx="425196" cy="736461"/>
          </a:xfrm>
          <a:prstGeom prst="line">
            <a:avLst/>
          </a:prstGeom>
          <a:noFill/>
          <a:ln w="12700">
            <a:solidFill>
              <a:schemeClr val="accent6"/>
            </a:solidFill>
            <a:prstDash val="solid"/>
            <a:tailEnd type="triangle"/>
          </a:ln>
        </p:spPr>
      </p:sp>
      <p:sp>
        <p:nvSpPr>
          <p:cNvPr id="30" name="Shape 28"/>
          <p:cNvSpPr/>
          <p:nvPr/>
        </p:nvSpPr>
        <p:spPr>
          <a:xfrm>
            <a:off x="6405372" y="1348066"/>
            <a:ext cx="219456" cy="219456"/>
          </a:xfrm>
          <a:prstGeom prst="ellipse">
            <a:avLst/>
          </a:prstGeom>
          <a:solidFill>
            <a:schemeClr val="accent3"/>
          </a:solidFill>
          <a:ln w="12700">
            <a:solidFill>
              <a:schemeClr val="tx2"/>
            </a:solidFill>
            <a:prstDash val="solid"/>
          </a:ln>
        </p:spPr>
      </p:sp>
      <p:sp>
        <p:nvSpPr>
          <p:cNvPr id="31" name="Shape 29"/>
          <p:cNvSpPr/>
          <p:nvPr/>
        </p:nvSpPr>
        <p:spPr>
          <a:xfrm>
            <a:off x="6885432" y="2313432"/>
            <a:ext cx="585216" cy="585216"/>
          </a:xfrm>
          <a:prstGeom prst="ellipse">
            <a:avLst/>
          </a:prstGeom>
          <a:solidFill>
            <a:schemeClr val="accent1"/>
          </a:solidFill>
          <a:ln w="12700">
            <a:solidFill>
              <a:schemeClr val="tx2"/>
            </a:solidFill>
            <a:prstDash val="solid"/>
          </a:ln>
        </p:spPr>
      </p:sp>
      <p:sp>
        <p:nvSpPr>
          <p:cNvPr id="32" name="Text 30"/>
          <p:cNvSpPr txBox="1"/>
          <p:nvPr/>
        </p:nvSpPr>
        <p:spPr>
          <a:xfrm>
            <a:off x="6263640" y="4160520"/>
            <a:ext cx="1828800" cy="274320"/>
          </a:xfrm>
          <a:prstGeom prst="rect">
            <a:avLst/>
          </a:prstGeom>
          <a:noFill/>
          <a:ln/>
        </p:spPr>
        <p:txBody>
          <a:bodyPr wrap="square" lIns="0" tIns="0" rIns="0" bIns="0" rtlCol="0" anchor="t"/>
          <a:lstStyle/>
          <a:p>
            <a:pPr algn="ctr" indent="0" marL="0">
              <a:buNone/>
            </a:pPr>
            <a:r>
              <a:rPr lang="en-US" sz="1000" dirty="0">
                <a:solidFill>
                  <a:schemeClr val="bg2"/>
                </a:solidFill>
              </a:rPr>
              <a:t>100 mules → 1 collector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1 · PROBLEM BRIEF</a:t>
            </a:r>
            <a:endParaRPr lang="en-US" sz="1100" dirty="0"/>
          </a:p>
        </p:txBody>
      </p:sp>
      <p:sp>
        <p:nvSpPr>
          <p:cNvPr id="3" name="Text 0"/>
          <p:cNvSpPr/>
          <p:nvPr>
            <p:ph idx="101" type="title" hasCustomPrompt="1"/>
          </p:nvPr>
        </p:nvSpPr>
        <p:spPr>
          <a:xfrm>
            <a:off x="457200" y="530352"/>
            <a:ext cx="8229600" cy="502920"/>
          </a:xfrm>
          <a:prstGeom prst="rect">
            <a:avLst/>
          </a:prstGeom>
          <a:noFill/>
          <a:ln/>
        </p:spPr>
        <p:txBody>
          <a:bodyPr wrap="square" lIns="0" tIns="0" rIns="0" bIns="0" rtlCol="0" anchor="ctr"/>
          <a:lstStyle/>
          <a:p>
            <a:pPr algn="l" indent="0" marL="0">
              <a:buNone/>
            </a:pPr>
            <a:r>
              <a:rPr lang="en-US" sz="2400" b="1" dirty="0">
                <a:solidFill>
                  <a:schemeClr val="tx1"/>
                </a:solidFill>
              </a:rPr>
              <a:t>₹10 lakh, moved as 2,000 harmless ₹500 transfers</a:t>
            </a:r>
            <a:endParaRPr lang="en-US" sz="2400" dirty="0"/>
          </a:p>
        </p:txBody>
      </p:sp>
      <p:sp>
        <p:nvSpPr>
          <p:cNvPr id="4" name="Shape 2"/>
          <p:cNvSpPr/>
          <p:nvPr/>
        </p:nvSpPr>
        <p:spPr>
          <a:xfrm>
            <a:off x="457200" y="1325880"/>
            <a:ext cx="457200" cy="457200"/>
          </a:xfrm>
          <a:prstGeom prst="ellipse">
            <a:avLst/>
          </a:prstGeom>
          <a:solidFill>
            <a:schemeClr val="accent3"/>
          </a:solidFill>
          <a:ln/>
        </p:spPr>
      </p:sp>
      <p:pic>
        <p:nvPicPr>
          <p:cNvPr id="5" name="Image 0" descr="preencoded.png">    </p:cNvPr>
          <p:cNvPicPr>
            <a:picLocks noChangeAspect="1"/>
          </p:cNvPicPr>
          <p:nvPr/>
        </p:nvPicPr>
        <p:blipFill>
          <a:blip r:embed="rId1"/>
          <a:stretch>
            <a:fillRect/>
          </a:stretch>
        </p:blipFill>
        <p:spPr>
          <a:xfrm>
            <a:off x="566928" y="1435608"/>
            <a:ext cx="237744" cy="237744"/>
          </a:xfrm>
          <a:prstGeom prst="rect">
            <a:avLst/>
          </a:prstGeom>
        </p:spPr>
      </p:pic>
      <p:sp>
        <p:nvSpPr>
          <p:cNvPr id="6" name="Text 3"/>
          <p:cNvSpPr txBox="1"/>
          <p:nvPr/>
        </p:nvSpPr>
        <p:spPr>
          <a:xfrm>
            <a:off x="1097280" y="1307592"/>
            <a:ext cx="3291840" cy="292608"/>
          </a:xfrm>
          <a:prstGeom prst="rect">
            <a:avLst/>
          </a:prstGeom>
          <a:noFill/>
          <a:ln/>
        </p:spPr>
        <p:txBody>
          <a:bodyPr wrap="square" lIns="0" tIns="0" rIns="0" bIns="0" rtlCol="0" anchor="t"/>
          <a:lstStyle/>
          <a:p>
            <a:pPr indent="0" marL="0">
              <a:buNone/>
            </a:pPr>
            <a:r>
              <a:rPr lang="en-US" sz="1600" b="1" dirty="0">
                <a:solidFill>
                  <a:schemeClr val="tx1"/>
                </a:solidFill>
              </a:rPr>
              <a:t>Below every threshold</a:t>
            </a:r>
            <a:endParaRPr lang="en-US" sz="1600" dirty="0"/>
          </a:p>
        </p:txBody>
      </p:sp>
      <p:sp>
        <p:nvSpPr>
          <p:cNvPr id="7" name="Text 4"/>
          <p:cNvSpPr txBox="1"/>
          <p:nvPr/>
        </p:nvSpPr>
        <p:spPr>
          <a:xfrm>
            <a:off x="1097280" y="1618488"/>
            <a:ext cx="3291840" cy="640080"/>
          </a:xfrm>
          <a:prstGeom prst="rect">
            <a:avLst/>
          </a:prstGeom>
          <a:noFill/>
          <a:ln/>
        </p:spPr>
        <p:txBody>
          <a:bodyPr wrap="square" lIns="0" tIns="0" rIns="0" bIns="0" rtlCol="0" anchor="t"/>
          <a:lstStyle/>
          <a:p>
            <a:pPr indent="0" marL="0">
              <a:buNone/>
            </a:pPr>
            <a:r>
              <a:rPr lang="en-US" sz="1400" dirty="0">
                <a:solidFill>
                  <a:schemeClr val="accent6"/>
                </a:solidFill>
              </a:rPr>
              <a:t>Each ₹500 UPI transfer passes rule-based checks on its own.</a:t>
            </a:r>
            <a:endParaRPr lang="en-US" sz="1400" dirty="0"/>
          </a:p>
        </p:txBody>
      </p:sp>
      <p:sp>
        <p:nvSpPr>
          <p:cNvPr id="8" name="Shape 5"/>
          <p:cNvSpPr/>
          <p:nvPr/>
        </p:nvSpPr>
        <p:spPr>
          <a:xfrm>
            <a:off x="457200" y="2441448"/>
            <a:ext cx="457200" cy="457200"/>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566928" y="2551176"/>
            <a:ext cx="237744" cy="237744"/>
          </a:xfrm>
          <a:prstGeom prst="rect">
            <a:avLst/>
          </a:prstGeom>
        </p:spPr>
      </p:pic>
      <p:sp>
        <p:nvSpPr>
          <p:cNvPr id="10" name="Text 6"/>
          <p:cNvSpPr txBox="1"/>
          <p:nvPr/>
        </p:nvSpPr>
        <p:spPr>
          <a:xfrm>
            <a:off x="1097280" y="2423160"/>
            <a:ext cx="3291840" cy="292608"/>
          </a:xfrm>
          <a:prstGeom prst="rect">
            <a:avLst/>
          </a:prstGeom>
          <a:noFill/>
          <a:ln/>
        </p:spPr>
        <p:txBody>
          <a:bodyPr wrap="square" lIns="0" tIns="0" rIns="0" bIns="0" rtlCol="0" anchor="t"/>
          <a:lstStyle/>
          <a:p>
            <a:pPr indent="0" marL="0">
              <a:buNone/>
            </a:pPr>
            <a:r>
              <a:rPr lang="en-US" sz="1600" b="1" dirty="0">
                <a:solidFill>
                  <a:schemeClr val="tx1"/>
                </a:solidFill>
              </a:rPr>
              <a:t>Spread across 100 accounts</a:t>
            </a:r>
            <a:endParaRPr lang="en-US" sz="1600" dirty="0"/>
          </a:p>
        </p:txBody>
      </p:sp>
      <p:sp>
        <p:nvSpPr>
          <p:cNvPr id="11" name="Text 7"/>
          <p:cNvSpPr txBox="1"/>
          <p:nvPr/>
        </p:nvSpPr>
        <p:spPr>
          <a:xfrm>
            <a:off x="1097280" y="2734056"/>
            <a:ext cx="3291840" cy="640080"/>
          </a:xfrm>
          <a:prstGeom prst="rect">
            <a:avLst/>
          </a:prstGeom>
          <a:noFill/>
          <a:ln/>
        </p:spPr>
        <p:txBody>
          <a:bodyPr wrap="square" lIns="0" tIns="0" rIns="0" bIns="0" rtlCol="0" anchor="t"/>
          <a:lstStyle/>
          <a:p>
            <a:pPr indent="0" marL="0">
              <a:buNone/>
            </a:pPr>
            <a:r>
              <a:rPr lang="en-US" sz="1400" dirty="0">
                <a:solidFill>
                  <a:schemeClr val="accent6"/>
                </a:solidFill>
              </a:rPr>
              <a:t>Rented or hijacked mule accounts each look ordinary in isolation.</a:t>
            </a:r>
            <a:endParaRPr lang="en-US" sz="1400" dirty="0"/>
          </a:p>
        </p:txBody>
      </p:sp>
      <p:sp>
        <p:nvSpPr>
          <p:cNvPr id="12" name="Shape 8"/>
          <p:cNvSpPr/>
          <p:nvPr/>
        </p:nvSpPr>
        <p:spPr>
          <a:xfrm>
            <a:off x="457200" y="3557016"/>
            <a:ext cx="457200" cy="457200"/>
          </a:xfrm>
          <a:prstGeom prst="ellipse">
            <a:avLst/>
          </a:prstGeom>
          <a:solidFill>
            <a:schemeClr val="accent2"/>
          </a:solidFill>
          <a:ln/>
        </p:spPr>
      </p:sp>
      <p:pic>
        <p:nvPicPr>
          <p:cNvPr id="13" name="Image 2" descr="preencoded.png">    </p:cNvPr>
          <p:cNvPicPr>
            <a:picLocks noChangeAspect="1"/>
          </p:cNvPicPr>
          <p:nvPr/>
        </p:nvPicPr>
        <p:blipFill>
          <a:blip r:embed="rId3"/>
          <a:stretch>
            <a:fillRect/>
          </a:stretch>
        </p:blipFill>
        <p:spPr>
          <a:xfrm>
            <a:off x="566928" y="3666744"/>
            <a:ext cx="237744" cy="237744"/>
          </a:xfrm>
          <a:prstGeom prst="rect">
            <a:avLst/>
          </a:prstGeom>
        </p:spPr>
      </p:pic>
      <p:sp>
        <p:nvSpPr>
          <p:cNvPr id="14" name="Text 9"/>
          <p:cNvSpPr txBox="1"/>
          <p:nvPr/>
        </p:nvSpPr>
        <p:spPr>
          <a:xfrm>
            <a:off x="1097280" y="3538728"/>
            <a:ext cx="3291840" cy="292608"/>
          </a:xfrm>
          <a:prstGeom prst="rect">
            <a:avLst/>
          </a:prstGeom>
          <a:noFill/>
          <a:ln/>
        </p:spPr>
        <p:txBody>
          <a:bodyPr wrap="square" lIns="0" tIns="0" rIns="0" bIns="0" rtlCol="0" anchor="t"/>
          <a:lstStyle/>
          <a:p>
            <a:pPr indent="0" marL="0">
              <a:buNone/>
            </a:pPr>
            <a:r>
              <a:rPr lang="en-US" sz="1600" b="1" dirty="0">
                <a:solidFill>
                  <a:schemeClr val="tx1"/>
                </a:solidFill>
              </a:rPr>
              <a:t>Visible only as a network</a:t>
            </a:r>
            <a:endParaRPr lang="en-US" sz="1600" dirty="0"/>
          </a:p>
        </p:txBody>
      </p:sp>
      <p:sp>
        <p:nvSpPr>
          <p:cNvPr id="15" name="Text 10"/>
          <p:cNvSpPr txBox="1"/>
          <p:nvPr/>
        </p:nvSpPr>
        <p:spPr>
          <a:xfrm>
            <a:off x="1097280" y="3849624"/>
            <a:ext cx="3291840" cy="640080"/>
          </a:xfrm>
          <a:prstGeom prst="rect">
            <a:avLst/>
          </a:prstGeom>
          <a:noFill/>
          <a:ln/>
        </p:spPr>
        <p:txBody>
          <a:bodyPr wrap="square" lIns="0" tIns="0" rIns="0" bIns="0" rtlCol="0" anchor="t"/>
          <a:lstStyle/>
          <a:p>
            <a:pPr indent="0" marL="0">
              <a:buNone/>
            </a:pPr>
            <a:r>
              <a:rPr lang="en-US" sz="1400" dirty="0">
                <a:solidFill>
                  <a:schemeClr val="accent6"/>
                </a:solidFill>
              </a:rPr>
              <a:t>The scheme appears only when you connect who paid whom, when and how much.</a:t>
            </a:r>
            <a:endParaRPr lang="en-US" sz="1400" dirty="0"/>
          </a:p>
        </p:txBody>
      </p:sp>
      <p:sp>
        <p:nvSpPr>
          <p:cNvPr id="16" name="Shape 11"/>
          <p:cNvSpPr/>
          <p:nvPr/>
        </p:nvSpPr>
        <p:spPr>
          <a:xfrm>
            <a:off x="4709160" y="1234440"/>
            <a:ext cx="3977640" cy="3429000"/>
          </a:xfrm>
          <a:prstGeom prst="roundRect">
            <a:avLst>
              <a:gd name="adj" fmla="val 2133"/>
            </a:avLst>
          </a:prstGeom>
          <a:solidFill>
            <a:schemeClr val="bg2"/>
          </a:solidFill>
          <a:ln/>
        </p:spPr>
      </p:sp>
      <p:sp>
        <p:nvSpPr>
          <p:cNvPr id="17" name="Text 12"/>
          <p:cNvSpPr txBox="1"/>
          <p:nvPr/>
        </p:nvSpPr>
        <p:spPr>
          <a:xfrm>
            <a:off x="4892040" y="1353312"/>
            <a:ext cx="1645920" cy="228600"/>
          </a:xfrm>
          <a:prstGeom prst="rect">
            <a:avLst/>
          </a:prstGeom>
          <a:noFill/>
          <a:ln/>
        </p:spPr>
        <p:txBody>
          <a:bodyPr wrap="square" lIns="0" tIns="0" rIns="0" bIns="0" rtlCol="0" anchor="t"/>
          <a:lstStyle/>
          <a:p>
            <a:pPr indent="0" marL="0">
              <a:buNone/>
            </a:pPr>
            <a:r>
              <a:rPr lang="en-US" sz="1100" b="1" dirty="0">
                <a:solidFill>
                  <a:schemeClr val="accent6"/>
                </a:solidFill>
              </a:rPr>
              <a:t>100 mule accounts</a:t>
            </a:r>
            <a:endParaRPr lang="en-US" sz="1100" dirty="0"/>
          </a:p>
        </p:txBody>
      </p:sp>
      <p:sp>
        <p:nvSpPr>
          <p:cNvPr id="18" name="Shape 13"/>
          <p:cNvSpPr/>
          <p:nvPr/>
        </p:nvSpPr>
        <p:spPr>
          <a:xfrm>
            <a:off x="5369747" y="1823061"/>
            <a:ext cx="2138367" cy="763702"/>
          </a:xfrm>
          <a:prstGeom prst="line">
            <a:avLst/>
          </a:prstGeom>
          <a:noFill/>
          <a:ln w="12700">
            <a:solidFill>
              <a:schemeClr val="accent6"/>
            </a:solidFill>
            <a:prstDash val="solid"/>
            <a:tailEnd type="triangle"/>
          </a:ln>
        </p:spPr>
      </p:sp>
      <p:sp>
        <p:nvSpPr>
          <p:cNvPr id="19" name="Shape 14"/>
          <p:cNvSpPr/>
          <p:nvPr/>
        </p:nvSpPr>
        <p:spPr>
          <a:xfrm>
            <a:off x="5157216" y="1682496"/>
            <a:ext cx="201168" cy="201168"/>
          </a:xfrm>
          <a:prstGeom prst="ellipse">
            <a:avLst/>
          </a:prstGeom>
          <a:solidFill>
            <a:schemeClr val="accent3"/>
          </a:solidFill>
          <a:ln w="12700">
            <a:solidFill>
              <a:schemeClr val="bg1"/>
            </a:solidFill>
            <a:prstDash val="solid"/>
          </a:ln>
        </p:spPr>
      </p:sp>
      <p:sp>
        <p:nvSpPr>
          <p:cNvPr id="20" name="Shape 15"/>
          <p:cNvSpPr/>
          <p:nvPr/>
        </p:nvSpPr>
        <p:spPr>
          <a:xfrm>
            <a:off x="5373408" y="2112495"/>
            <a:ext cx="2124566" cy="508378"/>
          </a:xfrm>
          <a:prstGeom prst="line">
            <a:avLst/>
          </a:prstGeom>
          <a:noFill/>
          <a:ln w="12700">
            <a:solidFill>
              <a:schemeClr val="accent6"/>
            </a:solidFill>
            <a:prstDash val="solid"/>
            <a:tailEnd type="triangle"/>
          </a:ln>
        </p:spPr>
      </p:sp>
      <p:sp>
        <p:nvSpPr>
          <p:cNvPr id="21" name="Shape 16"/>
          <p:cNvSpPr/>
          <p:nvPr/>
        </p:nvSpPr>
        <p:spPr>
          <a:xfrm>
            <a:off x="5157216" y="1984248"/>
            <a:ext cx="201168" cy="201168"/>
          </a:xfrm>
          <a:prstGeom prst="ellipse">
            <a:avLst/>
          </a:prstGeom>
          <a:solidFill>
            <a:schemeClr val="accent3"/>
          </a:solidFill>
          <a:ln w="12700">
            <a:solidFill>
              <a:schemeClr val="bg1"/>
            </a:solidFill>
            <a:prstDash val="solid"/>
          </a:ln>
        </p:spPr>
      </p:sp>
      <p:sp>
        <p:nvSpPr>
          <p:cNvPr id="22" name="Shape 17"/>
          <p:cNvSpPr/>
          <p:nvPr/>
        </p:nvSpPr>
        <p:spPr>
          <a:xfrm>
            <a:off x="5375805" y="2400913"/>
            <a:ext cx="2115531" cy="256886"/>
          </a:xfrm>
          <a:prstGeom prst="line">
            <a:avLst/>
          </a:prstGeom>
          <a:noFill/>
          <a:ln w="12700">
            <a:solidFill>
              <a:schemeClr val="accent6"/>
            </a:solidFill>
            <a:prstDash val="solid"/>
            <a:tailEnd type="triangle"/>
          </a:ln>
        </p:spPr>
      </p:sp>
      <p:sp>
        <p:nvSpPr>
          <p:cNvPr id="23" name="Shape 18"/>
          <p:cNvSpPr/>
          <p:nvPr/>
        </p:nvSpPr>
        <p:spPr>
          <a:xfrm>
            <a:off x="5157216" y="2286000"/>
            <a:ext cx="201168" cy="201168"/>
          </a:xfrm>
          <a:prstGeom prst="ellipse">
            <a:avLst/>
          </a:prstGeom>
          <a:solidFill>
            <a:schemeClr val="accent3"/>
          </a:solidFill>
          <a:ln w="12700">
            <a:solidFill>
              <a:schemeClr val="bg1"/>
            </a:solidFill>
            <a:prstDash val="solid"/>
          </a:ln>
        </p:spPr>
      </p:sp>
      <p:sp>
        <p:nvSpPr>
          <p:cNvPr id="24" name="Shape 19"/>
          <p:cNvSpPr/>
          <p:nvPr/>
        </p:nvSpPr>
        <p:spPr>
          <a:xfrm>
            <a:off x="5376671" y="2688761"/>
            <a:ext cx="2112267" cy="7544"/>
          </a:xfrm>
          <a:prstGeom prst="line">
            <a:avLst/>
          </a:prstGeom>
          <a:noFill/>
          <a:ln w="12700">
            <a:solidFill>
              <a:schemeClr val="accent6"/>
            </a:solidFill>
            <a:prstDash val="solid"/>
            <a:tailEnd type="triangle"/>
          </a:ln>
        </p:spPr>
      </p:sp>
      <p:sp>
        <p:nvSpPr>
          <p:cNvPr id="25" name="Shape 20"/>
          <p:cNvSpPr/>
          <p:nvPr/>
        </p:nvSpPr>
        <p:spPr>
          <a:xfrm>
            <a:off x="5157216" y="2587752"/>
            <a:ext cx="201168" cy="201168"/>
          </a:xfrm>
          <a:prstGeom prst="ellipse">
            <a:avLst/>
          </a:prstGeom>
          <a:solidFill>
            <a:schemeClr val="accent3"/>
          </a:solidFill>
          <a:ln w="12700">
            <a:solidFill>
              <a:schemeClr val="bg1"/>
            </a:solidFill>
            <a:prstDash val="solid"/>
          </a:ln>
        </p:spPr>
      </p:sp>
      <p:sp>
        <p:nvSpPr>
          <p:cNvPr id="26" name="Shape 21"/>
          <p:cNvSpPr/>
          <p:nvPr/>
        </p:nvSpPr>
        <p:spPr>
          <a:xfrm flipV="1">
            <a:off x="5375903" y="2734858"/>
            <a:ext cx="2115162" cy="241733"/>
          </a:xfrm>
          <a:prstGeom prst="line">
            <a:avLst/>
          </a:prstGeom>
          <a:noFill/>
          <a:ln w="12700">
            <a:solidFill>
              <a:schemeClr val="accent6"/>
            </a:solidFill>
            <a:prstDash val="solid"/>
            <a:tailEnd type="triangle"/>
          </a:ln>
        </p:spPr>
      </p:sp>
      <p:sp>
        <p:nvSpPr>
          <p:cNvPr id="27" name="Shape 22"/>
          <p:cNvSpPr/>
          <p:nvPr/>
        </p:nvSpPr>
        <p:spPr>
          <a:xfrm>
            <a:off x="5157216" y="2889504"/>
            <a:ext cx="201168" cy="201168"/>
          </a:xfrm>
          <a:prstGeom prst="ellipse">
            <a:avLst/>
          </a:prstGeom>
          <a:solidFill>
            <a:schemeClr val="accent3"/>
          </a:solidFill>
          <a:ln w="12700">
            <a:solidFill>
              <a:schemeClr val="bg1"/>
            </a:solidFill>
            <a:prstDash val="solid"/>
          </a:ln>
        </p:spPr>
      </p:sp>
      <p:sp>
        <p:nvSpPr>
          <p:cNvPr id="28" name="Shape 23"/>
          <p:cNvSpPr/>
          <p:nvPr/>
        </p:nvSpPr>
        <p:spPr>
          <a:xfrm flipV="1">
            <a:off x="5373593" y="2771918"/>
            <a:ext cx="2123870" cy="493041"/>
          </a:xfrm>
          <a:prstGeom prst="line">
            <a:avLst/>
          </a:prstGeom>
          <a:noFill/>
          <a:ln w="12700">
            <a:solidFill>
              <a:schemeClr val="accent6"/>
            </a:solidFill>
            <a:prstDash val="solid"/>
            <a:tailEnd type="triangle"/>
          </a:ln>
        </p:spPr>
      </p:sp>
      <p:sp>
        <p:nvSpPr>
          <p:cNvPr id="29" name="Shape 24"/>
          <p:cNvSpPr/>
          <p:nvPr/>
        </p:nvSpPr>
        <p:spPr>
          <a:xfrm>
            <a:off x="5157216" y="3191256"/>
            <a:ext cx="201168" cy="201168"/>
          </a:xfrm>
          <a:prstGeom prst="ellipse">
            <a:avLst/>
          </a:prstGeom>
          <a:solidFill>
            <a:schemeClr val="accent3"/>
          </a:solidFill>
          <a:ln w="12700">
            <a:solidFill>
              <a:schemeClr val="bg1"/>
            </a:solidFill>
            <a:prstDash val="solid"/>
          </a:ln>
        </p:spPr>
      </p:sp>
      <p:sp>
        <p:nvSpPr>
          <p:cNvPr id="30" name="Shape 25"/>
          <p:cNvSpPr/>
          <p:nvPr/>
        </p:nvSpPr>
        <p:spPr>
          <a:xfrm flipV="1">
            <a:off x="5369998" y="2806226"/>
            <a:ext cx="2137419" cy="748097"/>
          </a:xfrm>
          <a:prstGeom prst="line">
            <a:avLst/>
          </a:prstGeom>
          <a:noFill/>
          <a:ln w="12700">
            <a:solidFill>
              <a:schemeClr val="accent6"/>
            </a:solidFill>
            <a:prstDash val="solid"/>
            <a:tailEnd type="triangle"/>
          </a:ln>
        </p:spPr>
      </p:sp>
      <p:sp>
        <p:nvSpPr>
          <p:cNvPr id="31" name="Shape 26"/>
          <p:cNvSpPr/>
          <p:nvPr/>
        </p:nvSpPr>
        <p:spPr>
          <a:xfrm>
            <a:off x="5157216" y="3493008"/>
            <a:ext cx="201168" cy="201168"/>
          </a:xfrm>
          <a:prstGeom prst="ellipse">
            <a:avLst/>
          </a:prstGeom>
          <a:solidFill>
            <a:schemeClr val="accent3"/>
          </a:solidFill>
          <a:ln w="12700">
            <a:solidFill>
              <a:schemeClr val="bg1"/>
            </a:solidFill>
            <a:prstDash val="solid"/>
          </a:ln>
        </p:spPr>
      </p:sp>
      <p:sp>
        <p:nvSpPr>
          <p:cNvPr id="32" name="Shape 27"/>
          <p:cNvSpPr/>
          <p:nvPr/>
        </p:nvSpPr>
        <p:spPr>
          <a:xfrm>
            <a:off x="7525512" y="2404872"/>
            <a:ext cx="585216" cy="585216"/>
          </a:xfrm>
          <a:prstGeom prst="ellipse">
            <a:avLst/>
          </a:prstGeom>
          <a:solidFill>
            <a:schemeClr val="accent1"/>
          </a:solidFill>
          <a:ln w="12700">
            <a:solidFill>
              <a:schemeClr val="bg1"/>
            </a:solidFill>
            <a:prstDash val="solid"/>
          </a:ln>
        </p:spPr>
      </p:sp>
      <p:sp>
        <p:nvSpPr>
          <p:cNvPr id="33" name="Text 28"/>
          <p:cNvSpPr txBox="1"/>
          <p:nvPr/>
        </p:nvSpPr>
        <p:spPr>
          <a:xfrm>
            <a:off x="7269480" y="3044952"/>
            <a:ext cx="1097280" cy="228600"/>
          </a:xfrm>
          <a:prstGeom prst="rect">
            <a:avLst/>
          </a:prstGeom>
          <a:noFill/>
          <a:ln/>
        </p:spPr>
        <p:txBody>
          <a:bodyPr wrap="square" lIns="0" tIns="0" rIns="0" bIns="0" rtlCol="0" anchor="t"/>
          <a:lstStyle/>
          <a:p>
            <a:pPr algn="ctr" indent="0" marL="0">
              <a:buNone/>
            </a:pPr>
            <a:r>
              <a:rPr lang="en-US" sz="1100" b="1" dirty="0">
                <a:solidFill>
                  <a:schemeClr val="accent6"/>
                </a:solidFill>
              </a:rPr>
              <a:t>1 collector</a:t>
            </a:r>
            <a:endParaRPr lang="en-US" sz="1100" dirty="0"/>
          </a:p>
        </p:txBody>
      </p:sp>
      <p:sp>
        <p:nvSpPr>
          <p:cNvPr id="34" name="Shape 29"/>
          <p:cNvSpPr/>
          <p:nvPr/>
        </p:nvSpPr>
        <p:spPr>
          <a:xfrm>
            <a:off x="7223760" y="3364992"/>
            <a:ext cx="1188720" cy="256032"/>
          </a:xfrm>
          <a:prstGeom prst="roundRect">
            <a:avLst>
              <a:gd name="adj" fmla="val 50000"/>
            </a:avLst>
          </a:prstGeom>
          <a:solidFill>
            <a:schemeClr val="bg1"/>
          </a:solidFill>
          <a:ln/>
        </p:spPr>
      </p:sp>
      <p:sp>
        <p:nvSpPr>
          <p:cNvPr id="35" name="Text 30"/>
          <p:cNvSpPr txBox="1"/>
          <p:nvPr/>
        </p:nvSpPr>
        <p:spPr>
          <a:xfrm>
            <a:off x="7223760" y="3364992"/>
            <a:ext cx="1188720" cy="256032"/>
          </a:xfrm>
          <a:prstGeom prst="rect">
            <a:avLst/>
          </a:prstGeom>
          <a:noFill/>
          <a:ln/>
        </p:spPr>
        <p:txBody>
          <a:bodyPr wrap="square" lIns="0" tIns="0" rIns="0" bIns="0" rtlCol="0" anchor="ctr"/>
          <a:lstStyle/>
          <a:p>
            <a:pPr algn="ctr" indent="0" marL="0">
              <a:buNone/>
            </a:pPr>
            <a:r>
              <a:rPr lang="en-US" sz="1000" b="1" dirty="0">
                <a:solidFill>
                  <a:schemeClr val="tx1"/>
                </a:solidFill>
              </a:rPr>
              <a:t>₹500 × 20 each</a:t>
            </a:r>
            <a:endParaRPr lang="en-US" sz="1000" dirty="0"/>
          </a:p>
        </p:txBody>
      </p:sp>
      <p:sp>
        <p:nvSpPr>
          <p:cNvPr id="36" name="Text 31"/>
          <p:cNvSpPr txBox="1"/>
          <p:nvPr/>
        </p:nvSpPr>
        <p:spPr>
          <a:xfrm>
            <a:off x="4892040" y="4069080"/>
            <a:ext cx="3611880" cy="365760"/>
          </a:xfrm>
          <a:prstGeom prst="rect">
            <a:avLst/>
          </a:prstGeom>
          <a:noFill/>
          <a:ln/>
        </p:spPr>
        <p:txBody>
          <a:bodyPr wrap="square" lIns="0" tIns="0" rIns="0" bIns="0" rtlCol="0" anchor="t"/>
          <a:lstStyle/>
          <a:p>
            <a:pPr algn="ctr" indent="0" marL="0">
              <a:buNone/>
            </a:pPr>
            <a:r>
              <a:rPr lang="en-US" sz="1600" b="1" dirty="0">
                <a:solidFill>
                  <a:schemeClr val="tx1"/>
                </a:solidFill>
              </a:rPr>
              <a:t>100 × 20 × ₹500 = ₹10,00,000</a:t>
            </a:r>
            <a:endParaRPr lang="en-US" sz="16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1 · INDUSTRY CONTEXT</a:t>
            </a:r>
            <a:endParaRPr lang="en-US" sz="1100" dirty="0"/>
          </a:p>
        </p:txBody>
      </p:sp>
      <p:sp>
        <p:nvSpPr>
          <p:cNvPr id="3" name="Text 0"/>
          <p:cNvSpPr/>
          <p:nvPr>
            <p:ph idx="101" type="title" hasCustomPrompt="1"/>
          </p:nvPr>
        </p:nvSpPr>
        <p:spPr>
          <a:xfrm>
            <a:off x="457200" y="530352"/>
            <a:ext cx="8229600" cy="502920"/>
          </a:xfrm>
          <a:prstGeom prst="rect">
            <a:avLst/>
          </a:prstGeom>
          <a:noFill/>
          <a:ln/>
        </p:spPr>
        <p:txBody>
          <a:bodyPr wrap="square" lIns="0" tIns="0" rIns="0" bIns="0" rtlCol="0" anchor="ctr"/>
          <a:lstStyle/>
          <a:p>
            <a:pPr algn="l" indent="0" marL="0">
              <a:buNone/>
            </a:pPr>
            <a:r>
              <a:rPr lang="en-US" sz="2400" b="1" dirty="0">
                <a:solidFill>
                  <a:schemeClr val="tx1"/>
                </a:solidFill>
              </a:rPr>
              <a:t>Mule accounts are a national-scale banking risk</a:t>
            </a:r>
            <a:endParaRPr lang="en-US" sz="2400" dirty="0"/>
          </a:p>
        </p:txBody>
      </p:sp>
      <p:sp>
        <p:nvSpPr>
          <p:cNvPr id="4" name="Shape 2"/>
          <p:cNvSpPr/>
          <p:nvPr/>
        </p:nvSpPr>
        <p:spPr>
          <a:xfrm>
            <a:off x="457200" y="1280160"/>
            <a:ext cx="2606040" cy="2194560"/>
          </a:xfrm>
          <a:prstGeom prst="roundRect">
            <a:avLst>
              <a:gd name="adj" fmla="val 3333"/>
            </a:avLst>
          </a:prstGeom>
          <a:solidFill>
            <a:schemeClr val="bg2"/>
          </a:solidFill>
          <a:ln/>
        </p:spPr>
      </p:sp>
      <p:sp>
        <p:nvSpPr>
          <p:cNvPr id="5" name="Text 3"/>
          <p:cNvSpPr txBox="1"/>
          <p:nvPr/>
        </p:nvSpPr>
        <p:spPr>
          <a:xfrm>
            <a:off x="685800" y="1463040"/>
            <a:ext cx="2194560" cy="64008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19 lakh+</a:t>
            </a:r>
            <a:endParaRPr lang="en-US" sz="4000" dirty="0"/>
          </a:p>
        </p:txBody>
      </p:sp>
      <p:sp>
        <p:nvSpPr>
          <p:cNvPr id="6" name="Text 4"/>
          <p:cNvSpPr txBox="1"/>
          <p:nvPr/>
        </p:nvSpPr>
        <p:spPr>
          <a:xfrm>
            <a:off x="685800" y="2148840"/>
            <a:ext cx="2194560" cy="868680"/>
          </a:xfrm>
          <a:prstGeom prst="rect">
            <a:avLst/>
          </a:prstGeom>
          <a:noFill/>
          <a:ln/>
        </p:spPr>
        <p:txBody>
          <a:bodyPr wrap="square" lIns="0" tIns="0" rIns="0" bIns="0" rtlCol="0" anchor="t"/>
          <a:lstStyle/>
          <a:p>
            <a:pPr indent="0" marL="0">
              <a:buNone/>
            </a:pPr>
            <a:r>
              <a:rPr lang="en-US" sz="1400" dirty="0">
                <a:solidFill>
                  <a:schemeClr val="tx1"/>
                </a:solidFill>
              </a:rPr>
              <a:t>mule accounts flagged across India</a:t>
            </a:r>
            <a:endParaRPr lang="en-US" sz="1400" dirty="0"/>
          </a:p>
        </p:txBody>
      </p:sp>
      <p:sp>
        <p:nvSpPr>
          <p:cNvPr id="7" name="Text 5"/>
          <p:cNvSpPr txBox="1"/>
          <p:nvPr/>
        </p:nvSpPr>
        <p:spPr>
          <a:xfrm>
            <a:off x="685800" y="3090672"/>
            <a:ext cx="2194560" cy="228600"/>
          </a:xfrm>
          <a:prstGeom prst="rect">
            <a:avLst/>
          </a:prstGeom>
          <a:noFill/>
          <a:ln/>
        </p:spPr>
        <p:txBody>
          <a:bodyPr wrap="square" lIns="0" tIns="0" rIns="0" bIns="0" rtlCol="0" anchor="t"/>
          <a:lstStyle/>
          <a:p>
            <a:pPr indent="0" marL="0">
              <a:buNone/>
            </a:pPr>
            <a:r>
              <a:rPr lang="en-US" sz="1000" dirty="0">
                <a:solidFill>
                  <a:schemeClr val="accent6"/>
                </a:solidFill>
              </a:rPr>
              <a:t>MHA, February 2025</a:t>
            </a:r>
            <a:endParaRPr lang="en-US" sz="1000" dirty="0"/>
          </a:p>
        </p:txBody>
      </p:sp>
      <p:sp>
        <p:nvSpPr>
          <p:cNvPr id="8" name="Shape 6"/>
          <p:cNvSpPr/>
          <p:nvPr/>
        </p:nvSpPr>
        <p:spPr>
          <a:xfrm>
            <a:off x="3268980" y="1280160"/>
            <a:ext cx="2606040" cy="2194560"/>
          </a:xfrm>
          <a:prstGeom prst="roundRect">
            <a:avLst>
              <a:gd name="adj" fmla="val 3333"/>
            </a:avLst>
          </a:prstGeom>
          <a:solidFill>
            <a:schemeClr val="bg2"/>
          </a:solidFill>
          <a:ln/>
        </p:spPr>
      </p:sp>
      <p:sp>
        <p:nvSpPr>
          <p:cNvPr id="9" name="Text 7"/>
          <p:cNvSpPr txBox="1"/>
          <p:nvPr/>
        </p:nvSpPr>
        <p:spPr>
          <a:xfrm>
            <a:off x="3497580" y="1463040"/>
            <a:ext cx="2194560" cy="640080"/>
          </a:xfrm>
          <a:prstGeom prst="rect">
            <a:avLst/>
          </a:prstGeom>
          <a:noFill/>
          <a:ln/>
        </p:spPr>
        <p:txBody>
          <a:bodyPr wrap="square" lIns="0" tIns="0" rIns="0" bIns="0" rtlCol="0" anchor="t"/>
          <a:lstStyle/>
          <a:p>
            <a:pPr indent="0" marL="0">
              <a:buNone/>
            </a:pPr>
            <a:r>
              <a:rPr lang="en-US" sz="4000" b="1" dirty="0">
                <a:solidFill>
                  <a:schemeClr val="accent5"/>
                </a:solidFill>
                <a:latin typeface="Arial" pitchFamily="34" charset="0"/>
                <a:ea typeface="Arial" pitchFamily="34" charset="-122"/>
                <a:cs typeface="Arial" pitchFamily="34" charset="-120"/>
              </a:rPr>
              <a:t>228 bn</a:t>
            </a:r>
            <a:endParaRPr lang="en-US" sz="4000" dirty="0"/>
          </a:p>
        </p:txBody>
      </p:sp>
      <p:sp>
        <p:nvSpPr>
          <p:cNvPr id="10" name="Text 8"/>
          <p:cNvSpPr txBox="1"/>
          <p:nvPr/>
        </p:nvSpPr>
        <p:spPr>
          <a:xfrm>
            <a:off x="3497580" y="2148840"/>
            <a:ext cx="2194560" cy="868680"/>
          </a:xfrm>
          <a:prstGeom prst="rect">
            <a:avLst/>
          </a:prstGeom>
          <a:noFill/>
          <a:ln/>
        </p:spPr>
        <p:txBody>
          <a:bodyPr wrap="square" lIns="0" tIns="0" rIns="0" bIns="0" rtlCol="0" anchor="t"/>
          <a:lstStyle/>
          <a:p>
            <a:pPr indent="0" marL="0">
              <a:buNone/>
            </a:pPr>
            <a:r>
              <a:rPr lang="en-US" sz="1400" dirty="0">
                <a:solidFill>
                  <a:schemeClr val="tx1"/>
                </a:solidFill>
              </a:rPr>
              <a:t>UPI transactions in 2025: the volume that monitoring has to cover</a:t>
            </a:r>
            <a:endParaRPr lang="en-US" sz="1400" dirty="0"/>
          </a:p>
        </p:txBody>
      </p:sp>
      <p:sp>
        <p:nvSpPr>
          <p:cNvPr id="11" name="Text 9"/>
          <p:cNvSpPr txBox="1"/>
          <p:nvPr/>
        </p:nvSpPr>
        <p:spPr>
          <a:xfrm>
            <a:off x="3497580" y="3090672"/>
            <a:ext cx="2194560" cy="228600"/>
          </a:xfrm>
          <a:prstGeom prst="rect">
            <a:avLst/>
          </a:prstGeom>
          <a:noFill/>
          <a:ln/>
        </p:spPr>
        <p:txBody>
          <a:bodyPr wrap="square" lIns="0" tIns="0" rIns="0" bIns="0" rtlCol="0" anchor="t"/>
          <a:lstStyle/>
          <a:p>
            <a:pPr indent="0" marL="0">
              <a:buNone/>
            </a:pPr>
            <a:r>
              <a:rPr lang="en-US" sz="1000" dirty="0">
                <a:solidFill>
                  <a:schemeClr val="accent6"/>
                </a:solidFill>
              </a:rPr>
              <a:t>NPCI data, 2025</a:t>
            </a:r>
            <a:endParaRPr lang="en-US" sz="1000" dirty="0"/>
          </a:p>
        </p:txBody>
      </p:sp>
      <p:sp>
        <p:nvSpPr>
          <p:cNvPr id="12" name="Shape 10"/>
          <p:cNvSpPr/>
          <p:nvPr/>
        </p:nvSpPr>
        <p:spPr>
          <a:xfrm>
            <a:off x="6080760" y="1280160"/>
            <a:ext cx="2606040" cy="2194560"/>
          </a:xfrm>
          <a:prstGeom prst="roundRect">
            <a:avLst>
              <a:gd name="adj" fmla="val 3333"/>
            </a:avLst>
          </a:prstGeom>
          <a:solidFill>
            <a:schemeClr val="bg2"/>
          </a:solidFill>
          <a:ln/>
        </p:spPr>
      </p:sp>
      <p:sp>
        <p:nvSpPr>
          <p:cNvPr id="13" name="Text 11"/>
          <p:cNvSpPr txBox="1"/>
          <p:nvPr/>
        </p:nvSpPr>
        <p:spPr>
          <a:xfrm>
            <a:off x="6309360" y="1463040"/>
            <a:ext cx="2194560" cy="64008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7 days</a:t>
            </a:r>
            <a:endParaRPr lang="en-US" sz="4000" dirty="0"/>
          </a:p>
        </p:txBody>
      </p:sp>
      <p:sp>
        <p:nvSpPr>
          <p:cNvPr id="14" name="Text 12"/>
          <p:cNvSpPr txBox="1"/>
          <p:nvPr/>
        </p:nvSpPr>
        <p:spPr>
          <a:xfrm>
            <a:off x="6309360" y="2148840"/>
            <a:ext cx="2194560" cy="868680"/>
          </a:xfrm>
          <a:prstGeom prst="rect">
            <a:avLst/>
          </a:prstGeom>
          <a:noFill/>
          <a:ln/>
        </p:spPr>
        <p:txBody>
          <a:bodyPr wrap="square" lIns="0" tIns="0" rIns="0" bIns="0" rtlCol="0" anchor="t"/>
          <a:lstStyle/>
          <a:p>
            <a:pPr indent="0" marL="0">
              <a:buNone/>
            </a:pPr>
            <a:r>
              <a:rPr lang="en-US" sz="1400" dirty="0">
                <a:solidFill>
                  <a:schemeClr val="tx1"/>
                </a:solidFill>
              </a:rPr>
              <a:t>to file an STR with FIU-IND once suspicion is established</a:t>
            </a:r>
            <a:endParaRPr lang="en-US" sz="1400" dirty="0"/>
          </a:p>
        </p:txBody>
      </p:sp>
      <p:sp>
        <p:nvSpPr>
          <p:cNvPr id="15" name="Text 13"/>
          <p:cNvSpPr txBox="1"/>
          <p:nvPr/>
        </p:nvSpPr>
        <p:spPr>
          <a:xfrm>
            <a:off x="6309360" y="3090672"/>
            <a:ext cx="2194560" cy="228600"/>
          </a:xfrm>
          <a:prstGeom prst="rect">
            <a:avLst/>
          </a:prstGeom>
          <a:noFill/>
          <a:ln/>
        </p:spPr>
        <p:txBody>
          <a:bodyPr wrap="square" lIns="0" tIns="0" rIns="0" bIns="0" rtlCol="0" anchor="t"/>
          <a:lstStyle/>
          <a:p>
            <a:pPr indent="0" marL="0">
              <a:buNone/>
            </a:pPr>
            <a:r>
              <a:rPr lang="en-US" sz="1000" dirty="0">
                <a:solidFill>
                  <a:schemeClr val="accent6"/>
                </a:solidFill>
              </a:rPr>
              <a:t>PML Rules (working days)</a:t>
            </a:r>
            <a:endParaRPr lang="en-US" sz="1000" dirty="0"/>
          </a:p>
        </p:txBody>
      </p:sp>
      <p:sp>
        <p:nvSpPr>
          <p:cNvPr id="16" name="Shape 14"/>
          <p:cNvSpPr/>
          <p:nvPr/>
        </p:nvSpPr>
        <p:spPr>
          <a:xfrm>
            <a:off x="457200" y="3767328"/>
            <a:ext cx="457200" cy="457200"/>
          </a:xfrm>
          <a:prstGeom prst="ellipse">
            <a:avLst/>
          </a:prstGeom>
          <a:solidFill>
            <a:schemeClr val="tx2"/>
          </a:solidFill>
          <a:ln/>
        </p:spPr>
      </p:sp>
      <p:pic>
        <p:nvPicPr>
          <p:cNvPr id="17" name="Image 0" descr="preencoded.png">    </p:cNvPr>
          <p:cNvPicPr>
            <a:picLocks noChangeAspect="1"/>
          </p:cNvPicPr>
          <p:nvPr/>
        </p:nvPicPr>
        <p:blipFill>
          <a:blip r:embed="rId1"/>
          <a:stretch>
            <a:fillRect/>
          </a:stretch>
        </p:blipFill>
        <p:spPr>
          <a:xfrm>
            <a:off x="566928" y="3877056"/>
            <a:ext cx="237744" cy="237744"/>
          </a:xfrm>
          <a:prstGeom prst="rect">
            <a:avLst/>
          </a:prstGeom>
        </p:spPr>
      </p:pic>
      <p:sp>
        <p:nvSpPr>
          <p:cNvPr id="18" name="Text 15"/>
          <p:cNvSpPr txBox="1"/>
          <p:nvPr/>
        </p:nvSpPr>
        <p:spPr>
          <a:xfrm>
            <a:off x="1097280" y="3703320"/>
            <a:ext cx="7589520" cy="685800"/>
          </a:xfrm>
          <a:prstGeom prst="rect">
            <a:avLst/>
          </a:prstGeom>
          <a:noFill/>
          <a:ln/>
        </p:spPr>
        <p:txBody>
          <a:bodyPr wrap="square" lIns="0" tIns="0" rIns="0" bIns="0" rtlCol="0" anchor="ctr"/>
          <a:lstStyle/>
          <a:p>
            <a:pPr indent="0" marL="0">
              <a:buNone/>
            </a:pPr>
            <a:r>
              <a:rPr lang="en-US" sz="1400" b="1" dirty="0">
                <a:solidFill>
                  <a:schemeClr val="tx1"/>
                </a:solidFill>
              </a:rPr>
              <a:t>Regulatory frame: </a:t>
            </a:r>
            <a:pPr indent="0" marL="0">
              <a:buNone/>
            </a:pPr>
            <a:r>
              <a:rPr lang="en-US" sz="1400" dirty="0">
                <a:solidFill>
                  <a:schemeClr val="tx1"/>
                </a:solidFill>
              </a:rPr>
              <a:t>PMLA 2002, RBI KYC Master Direction and FIU-IND reporting. RBI's innovation hub has launched MuleHunter.AI, so the regulator already treats mule detection as a priority.</a:t>
            </a:r>
            <a:endParaRPr lang="en-US" sz="14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1 · TARGET USERS</a:t>
            </a:r>
            <a:endParaRPr lang="en-US" sz="1100" dirty="0"/>
          </a:p>
        </p:txBody>
      </p:sp>
      <p:sp>
        <p:nvSpPr>
          <p:cNvPr id="3" name="Text 0"/>
          <p:cNvSpPr/>
          <p:nvPr>
            <p:ph idx="101" type="title" hasCustomPrompt="1"/>
          </p:nvPr>
        </p:nvSpPr>
        <p:spPr>
          <a:xfrm>
            <a:off x="457200" y="530352"/>
            <a:ext cx="8229600" cy="502920"/>
          </a:xfrm>
          <a:prstGeom prst="rect">
            <a:avLst/>
          </a:prstGeom>
          <a:noFill/>
          <a:ln/>
        </p:spPr>
        <p:txBody>
          <a:bodyPr wrap="square" lIns="0" tIns="0" rIns="0" bIns="0" rtlCol="0" anchor="ctr"/>
          <a:lstStyle/>
          <a:p>
            <a:pPr algn="l" indent="0" marL="0">
              <a:buNone/>
            </a:pPr>
            <a:r>
              <a:rPr lang="en-US" sz="2400" b="1" dirty="0">
                <a:solidFill>
                  <a:schemeClr val="tx1"/>
                </a:solidFill>
              </a:rPr>
              <a:t>Built for the teams who investigate, decide and file</a:t>
            </a:r>
            <a:endParaRPr lang="en-US" sz="2400" dirty="0"/>
          </a:p>
        </p:txBody>
      </p:sp>
      <p:sp>
        <p:nvSpPr>
          <p:cNvPr id="4" name="Shape 2"/>
          <p:cNvSpPr/>
          <p:nvPr/>
        </p:nvSpPr>
        <p:spPr>
          <a:xfrm>
            <a:off x="457200" y="1280160"/>
            <a:ext cx="2560320" cy="3337560"/>
          </a:xfrm>
          <a:prstGeom prst="roundRect">
            <a:avLst>
              <a:gd name="adj" fmla="val 2857"/>
            </a:avLst>
          </a:prstGeom>
          <a:solidFill>
            <a:schemeClr val="bg2"/>
          </a:solidFill>
          <a:ln/>
        </p:spPr>
      </p:sp>
      <p:sp>
        <p:nvSpPr>
          <p:cNvPr id="5" name="Shape 3"/>
          <p:cNvSpPr/>
          <p:nvPr/>
        </p:nvSpPr>
        <p:spPr>
          <a:xfrm>
            <a:off x="685800" y="1481328"/>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17474" y="1613002"/>
            <a:ext cx="285293" cy="285293"/>
          </a:xfrm>
          <a:prstGeom prst="rect">
            <a:avLst/>
          </a:prstGeom>
        </p:spPr>
      </p:pic>
      <p:sp>
        <p:nvSpPr>
          <p:cNvPr id="7" name="Text 4"/>
          <p:cNvSpPr txBox="1"/>
          <p:nvPr/>
        </p:nvSpPr>
        <p:spPr>
          <a:xfrm>
            <a:off x="685800" y="2176272"/>
            <a:ext cx="2148840" cy="292608"/>
          </a:xfrm>
          <a:prstGeom prst="rect">
            <a:avLst/>
          </a:prstGeom>
          <a:noFill/>
          <a:ln/>
        </p:spPr>
        <p:txBody>
          <a:bodyPr wrap="square" lIns="0" tIns="0" rIns="0" bIns="0" rtlCol="0" anchor="t"/>
          <a:lstStyle/>
          <a:p>
            <a:pPr indent="0" marL="0">
              <a:buNone/>
            </a:pPr>
            <a:r>
              <a:rPr lang="en-US" sz="1600" b="1" dirty="0">
                <a:solidFill>
                  <a:schemeClr val="tx1"/>
                </a:solidFill>
              </a:rPr>
              <a:t>Fraud / AML investigator</a:t>
            </a:r>
            <a:endParaRPr lang="en-US" sz="1600" dirty="0"/>
          </a:p>
        </p:txBody>
      </p:sp>
      <p:sp>
        <p:nvSpPr>
          <p:cNvPr id="8" name="Text 5"/>
          <p:cNvSpPr txBox="1"/>
          <p:nvPr/>
        </p:nvSpPr>
        <p:spPr>
          <a:xfrm>
            <a:off x="685800" y="2487168"/>
            <a:ext cx="2148840" cy="502920"/>
          </a:xfrm>
          <a:prstGeom prst="rect">
            <a:avLst/>
          </a:prstGeom>
          <a:noFill/>
          <a:ln/>
        </p:spPr>
        <p:txBody>
          <a:bodyPr wrap="square" lIns="0" tIns="0" rIns="0" bIns="0" rtlCol="0" anchor="t"/>
          <a:lstStyle/>
          <a:p>
            <a:pPr indent="0" marL="0">
              <a:buNone/>
            </a:pPr>
            <a:r>
              <a:rPr lang="en-US" sz="1300" dirty="0">
                <a:solidFill>
                  <a:schemeClr val="accent6"/>
                </a:solidFill>
              </a:rPr>
              <a:t>Triages alerts and traces money trails</a:t>
            </a:r>
            <a:endParaRPr lang="en-US" sz="1300" dirty="0"/>
          </a:p>
        </p:txBody>
      </p:sp>
      <p:sp>
        <p:nvSpPr>
          <p:cNvPr id="9" name="Text 6"/>
          <p:cNvSpPr txBox="1"/>
          <p:nvPr/>
        </p:nvSpPr>
        <p:spPr>
          <a:xfrm>
            <a:off x="685800" y="3108960"/>
            <a:ext cx="2148840" cy="201168"/>
          </a:xfrm>
          <a:prstGeom prst="rect">
            <a:avLst/>
          </a:prstGeom>
          <a:noFill/>
          <a:ln/>
        </p:spPr>
        <p:txBody>
          <a:bodyPr wrap="square" lIns="0" tIns="0" rIns="0" bIns="0" rtlCol="0" anchor="t"/>
          <a:lstStyle/>
          <a:p>
            <a:pPr indent="0" marL="0">
              <a:buNone/>
            </a:pPr>
            <a:r>
              <a:rPr lang="en-US" sz="1000" b="1" spc="100" kern="0" dirty="0">
                <a:solidFill>
                  <a:schemeClr val="accent1"/>
                </a:solidFill>
              </a:rPr>
              <a:t>THEY ASK</a:t>
            </a:r>
            <a:endParaRPr lang="en-US" sz="1000" dirty="0"/>
          </a:p>
        </p:txBody>
      </p:sp>
      <p:sp>
        <p:nvSpPr>
          <p:cNvPr id="10" name="Text 7"/>
          <p:cNvSpPr txBox="1"/>
          <p:nvPr/>
        </p:nvSpPr>
        <p:spPr>
          <a:xfrm>
            <a:off x="685800" y="3337560"/>
            <a:ext cx="2148840" cy="1097280"/>
          </a:xfrm>
          <a:prstGeom prst="rect">
            <a:avLst/>
          </a:prstGeom>
          <a:noFill/>
          <a:ln/>
        </p:spPr>
        <p:txBody>
          <a:bodyPr wrap="square" lIns="0" tIns="0" rIns="0" bIns="0" rtlCol="0" anchor="t"/>
          <a:lstStyle/>
          <a:p>
            <a:pPr indent="0" marL="0">
              <a:buNone/>
            </a:pPr>
            <a:r>
              <a:rPr lang="en-US" sz="1400" i="1" dirty="0">
                <a:solidFill>
                  <a:schemeClr val="tx1"/>
                </a:solidFill>
              </a:rPr>
              <a:t>“Where did the money from this account go in the last 48 hours?”</a:t>
            </a:r>
            <a:endParaRPr lang="en-US" sz="1400" dirty="0"/>
          </a:p>
        </p:txBody>
      </p:sp>
      <p:sp>
        <p:nvSpPr>
          <p:cNvPr id="11" name="Shape 8"/>
          <p:cNvSpPr/>
          <p:nvPr/>
        </p:nvSpPr>
        <p:spPr>
          <a:xfrm>
            <a:off x="3291840" y="1280160"/>
            <a:ext cx="2560320" cy="3337560"/>
          </a:xfrm>
          <a:prstGeom prst="roundRect">
            <a:avLst>
              <a:gd name="adj" fmla="val 2857"/>
            </a:avLst>
          </a:prstGeom>
          <a:solidFill>
            <a:schemeClr val="bg2"/>
          </a:solidFill>
          <a:ln/>
        </p:spPr>
      </p:sp>
      <p:sp>
        <p:nvSpPr>
          <p:cNvPr id="12" name="Shape 9"/>
          <p:cNvSpPr/>
          <p:nvPr/>
        </p:nvSpPr>
        <p:spPr>
          <a:xfrm>
            <a:off x="3520440" y="1481328"/>
            <a:ext cx="548640" cy="548640"/>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3652114" y="1613002"/>
            <a:ext cx="285293" cy="285293"/>
          </a:xfrm>
          <a:prstGeom prst="rect">
            <a:avLst/>
          </a:prstGeom>
        </p:spPr>
      </p:pic>
      <p:sp>
        <p:nvSpPr>
          <p:cNvPr id="14" name="Text 10"/>
          <p:cNvSpPr txBox="1"/>
          <p:nvPr/>
        </p:nvSpPr>
        <p:spPr>
          <a:xfrm>
            <a:off x="3520440" y="2176272"/>
            <a:ext cx="2148840" cy="292608"/>
          </a:xfrm>
          <a:prstGeom prst="rect">
            <a:avLst/>
          </a:prstGeom>
          <a:noFill/>
          <a:ln/>
        </p:spPr>
        <p:txBody>
          <a:bodyPr wrap="square" lIns="0" tIns="0" rIns="0" bIns="0" rtlCol="0" anchor="t"/>
          <a:lstStyle/>
          <a:p>
            <a:pPr indent="0" marL="0">
              <a:buNone/>
            </a:pPr>
            <a:r>
              <a:rPr lang="en-US" sz="1600" b="1" dirty="0">
                <a:solidFill>
                  <a:schemeClr val="tx1"/>
                </a:solidFill>
              </a:rPr>
              <a:t>Compliance officer</a:t>
            </a:r>
            <a:endParaRPr lang="en-US" sz="1600" dirty="0"/>
          </a:p>
        </p:txBody>
      </p:sp>
      <p:sp>
        <p:nvSpPr>
          <p:cNvPr id="15" name="Text 11"/>
          <p:cNvSpPr txBox="1"/>
          <p:nvPr/>
        </p:nvSpPr>
        <p:spPr>
          <a:xfrm>
            <a:off x="3520440" y="2487168"/>
            <a:ext cx="2148840" cy="502920"/>
          </a:xfrm>
          <a:prstGeom prst="rect">
            <a:avLst/>
          </a:prstGeom>
          <a:noFill/>
          <a:ln/>
        </p:spPr>
        <p:txBody>
          <a:bodyPr wrap="square" lIns="0" tIns="0" rIns="0" bIns="0" rtlCol="0" anchor="t"/>
          <a:lstStyle/>
          <a:p>
            <a:pPr indent="0" marL="0">
              <a:buNone/>
            </a:pPr>
            <a:r>
              <a:rPr lang="en-US" sz="1300" dirty="0">
                <a:solidFill>
                  <a:schemeClr val="accent6"/>
                </a:solidFill>
              </a:rPr>
              <a:t>Principal Officer who decides on and files STRs</a:t>
            </a:r>
            <a:endParaRPr lang="en-US" sz="1300" dirty="0"/>
          </a:p>
        </p:txBody>
      </p:sp>
      <p:sp>
        <p:nvSpPr>
          <p:cNvPr id="16" name="Text 12"/>
          <p:cNvSpPr txBox="1"/>
          <p:nvPr/>
        </p:nvSpPr>
        <p:spPr>
          <a:xfrm>
            <a:off x="3520440" y="3108960"/>
            <a:ext cx="214884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THEY ASK</a:t>
            </a:r>
            <a:endParaRPr lang="en-US" sz="1000" dirty="0"/>
          </a:p>
        </p:txBody>
      </p:sp>
      <p:sp>
        <p:nvSpPr>
          <p:cNvPr id="17" name="Text 13"/>
          <p:cNvSpPr txBox="1"/>
          <p:nvPr/>
        </p:nvSpPr>
        <p:spPr>
          <a:xfrm>
            <a:off x="3520440" y="3337560"/>
            <a:ext cx="2148840" cy="1097280"/>
          </a:xfrm>
          <a:prstGeom prst="rect">
            <a:avLst/>
          </a:prstGeom>
          <a:noFill/>
          <a:ln/>
        </p:spPr>
        <p:txBody>
          <a:bodyPr wrap="square" lIns="0" tIns="0" rIns="0" bIns="0" rtlCol="0" anchor="t"/>
          <a:lstStyle/>
          <a:p>
            <a:pPr indent="0" marL="0">
              <a:buNone/>
            </a:pPr>
            <a:r>
              <a:rPr lang="en-US" sz="1400" i="1" dirty="0">
                <a:solidFill>
                  <a:schemeClr val="tx1"/>
                </a:solidFill>
              </a:rPr>
              <a:t>“Does this breach our structuring policy? Draft the STR.”</a:t>
            </a:r>
            <a:endParaRPr lang="en-US" sz="1400" dirty="0"/>
          </a:p>
        </p:txBody>
      </p:sp>
      <p:sp>
        <p:nvSpPr>
          <p:cNvPr id="18" name="Shape 14"/>
          <p:cNvSpPr/>
          <p:nvPr/>
        </p:nvSpPr>
        <p:spPr>
          <a:xfrm>
            <a:off x="6126480" y="1280160"/>
            <a:ext cx="2560320" cy="3337560"/>
          </a:xfrm>
          <a:prstGeom prst="roundRect">
            <a:avLst>
              <a:gd name="adj" fmla="val 2857"/>
            </a:avLst>
          </a:prstGeom>
          <a:solidFill>
            <a:schemeClr val="bg2"/>
          </a:solidFill>
          <a:ln/>
        </p:spPr>
      </p:sp>
      <p:sp>
        <p:nvSpPr>
          <p:cNvPr id="19" name="Shape 15"/>
          <p:cNvSpPr/>
          <p:nvPr/>
        </p:nvSpPr>
        <p:spPr>
          <a:xfrm>
            <a:off x="6355080" y="1481328"/>
            <a:ext cx="548640" cy="548640"/>
          </a:xfrm>
          <a:prstGeom prst="ellipse">
            <a:avLst/>
          </a:prstGeom>
          <a:solidFill>
            <a:schemeClr val="accent4"/>
          </a:solidFill>
          <a:ln/>
        </p:spPr>
      </p:sp>
      <p:pic>
        <p:nvPicPr>
          <p:cNvPr id="20" name="Image 2" descr="preencoded.png">    </p:cNvPr>
          <p:cNvPicPr>
            <a:picLocks noChangeAspect="1"/>
          </p:cNvPicPr>
          <p:nvPr/>
        </p:nvPicPr>
        <p:blipFill>
          <a:blip r:embed="rId3"/>
          <a:stretch>
            <a:fillRect/>
          </a:stretch>
        </p:blipFill>
        <p:spPr>
          <a:xfrm>
            <a:off x="6486754" y="1613002"/>
            <a:ext cx="285293" cy="285293"/>
          </a:xfrm>
          <a:prstGeom prst="rect">
            <a:avLst/>
          </a:prstGeom>
        </p:spPr>
      </p:pic>
      <p:sp>
        <p:nvSpPr>
          <p:cNvPr id="21" name="Text 16"/>
          <p:cNvSpPr txBox="1"/>
          <p:nvPr/>
        </p:nvSpPr>
        <p:spPr>
          <a:xfrm>
            <a:off x="6355080" y="2176272"/>
            <a:ext cx="2148840" cy="292608"/>
          </a:xfrm>
          <a:prstGeom prst="rect">
            <a:avLst/>
          </a:prstGeom>
          <a:noFill/>
          <a:ln/>
        </p:spPr>
        <p:txBody>
          <a:bodyPr wrap="square" lIns="0" tIns="0" rIns="0" bIns="0" rtlCol="0" anchor="t"/>
          <a:lstStyle/>
          <a:p>
            <a:pPr indent="0" marL="0">
              <a:buNone/>
            </a:pPr>
            <a:r>
              <a:rPr lang="en-US" sz="1600" b="1" dirty="0">
                <a:solidFill>
                  <a:schemeClr val="tx1"/>
                </a:solidFill>
              </a:rPr>
              <a:t>Risk &amp; business heads</a:t>
            </a:r>
            <a:endParaRPr lang="en-US" sz="1600" dirty="0"/>
          </a:p>
        </p:txBody>
      </p:sp>
      <p:sp>
        <p:nvSpPr>
          <p:cNvPr id="22" name="Text 17"/>
          <p:cNvSpPr txBox="1"/>
          <p:nvPr/>
        </p:nvSpPr>
        <p:spPr>
          <a:xfrm>
            <a:off x="6355080" y="2487168"/>
            <a:ext cx="2148840" cy="502920"/>
          </a:xfrm>
          <a:prstGeom prst="rect">
            <a:avLst/>
          </a:prstGeom>
          <a:noFill/>
          <a:ln/>
        </p:spPr>
        <p:txBody>
          <a:bodyPr wrap="square" lIns="0" tIns="0" rIns="0" bIns="0" rtlCol="0" anchor="t"/>
          <a:lstStyle/>
          <a:p>
            <a:pPr indent="0" marL="0">
              <a:buNone/>
            </a:pPr>
            <a:r>
              <a:rPr lang="en-US" sz="1300" dirty="0">
                <a:solidFill>
                  <a:schemeClr val="accent6"/>
                </a:solidFill>
              </a:rPr>
              <a:t>Own fraud exposure and controls</a:t>
            </a:r>
            <a:endParaRPr lang="en-US" sz="1300" dirty="0"/>
          </a:p>
        </p:txBody>
      </p:sp>
      <p:sp>
        <p:nvSpPr>
          <p:cNvPr id="23" name="Text 18"/>
          <p:cNvSpPr txBox="1"/>
          <p:nvPr/>
        </p:nvSpPr>
        <p:spPr>
          <a:xfrm>
            <a:off x="6355080" y="3108960"/>
            <a:ext cx="214884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THEY ASK</a:t>
            </a:r>
            <a:endParaRPr lang="en-US" sz="1000" dirty="0"/>
          </a:p>
        </p:txBody>
      </p:sp>
      <p:sp>
        <p:nvSpPr>
          <p:cNvPr id="24" name="Text 19"/>
          <p:cNvSpPr txBox="1"/>
          <p:nvPr/>
        </p:nvSpPr>
        <p:spPr>
          <a:xfrm>
            <a:off x="6355080" y="3337560"/>
            <a:ext cx="2148840" cy="1097280"/>
          </a:xfrm>
          <a:prstGeom prst="rect">
            <a:avLst/>
          </a:prstGeom>
          <a:noFill/>
          <a:ln/>
        </p:spPr>
        <p:txBody>
          <a:bodyPr wrap="square" lIns="0" tIns="0" rIns="0" bIns="0" rtlCol="0" anchor="t"/>
          <a:lstStyle/>
          <a:p>
            <a:pPr indent="0" marL="0">
              <a:buNone/>
            </a:pPr>
            <a:r>
              <a:rPr lang="en-US" sz="1400" i="1" dirty="0">
                <a:solidFill>
                  <a:schemeClr val="tx1"/>
                </a:solidFill>
              </a:rPr>
              <a:t>“How much money moved through mule-like accounts this month?”</a:t>
            </a:r>
            <a:endParaRPr lang="en-US" sz="14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1 · PAIN POINT → IMPROVEMENT</a:t>
            </a:r>
            <a:endParaRPr lang="en-US" sz="1100" dirty="0"/>
          </a:p>
        </p:txBody>
      </p:sp>
      <p:sp>
        <p:nvSpPr>
          <p:cNvPr id="3" name="Text 0"/>
          <p:cNvSpPr/>
          <p:nvPr>
            <p:ph idx="101" type="title" hasCustomPrompt="1"/>
          </p:nvPr>
        </p:nvSpPr>
        <p:spPr>
          <a:xfrm>
            <a:off x="457200" y="530352"/>
            <a:ext cx="8229600" cy="502920"/>
          </a:xfrm>
          <a:prstGeom prst="rect">
            <a:avLst/>
          </a:prstGeom>
          <a:noFill/>
          <a:ln/>
        </p:spPr>
        <p:txBody>
          <a:bodyPr wrap="square" lIns="0" tIns="0" rIns="0" bIns="0" rtlCol="0" anchor="ctr"/>
          <a:lstStyle/>
          <a:p>
            <a:pPr algn="l" indent="0" marL="0">
              <a:buNone/>
            </a:pPr>
            <a:r>
              <a:rPr lang="en-US" sz="2400" b="1" dirty="0">
                <a:solidFill>
                  <a:schemeClr val="tx1"/>
                </a:solidFill>
              </a:rPr>
              <a:t>Today the pattern is found by hand, if at all</a:t>
            </a:r>
            <a:endParaRPr lang="en-US" sz="2400" dirty="0"/>
          </a:p>
        </p:txBody>
      </p:sp>
      <p:sp>
        <p:nvSpPr>
          <p:cNvPr id="4" name="Text 2"/>
          <p:cNvSpPr txBox="1"/>
          <p:nvPr/>
        </p:nvSpPr>
        <p:spPr>
          <a:xfrm>
            <a:off x="457200" y="1188720"/>
            <a:ext cx="3794760" cy="237744"/>
          </a:xfrm>
          <a:prstGeom prst="rect">
            <a:avLst/>
          </a:prstGeom>
          <a:noFill/>
          <a:ln/>
        </p:spPr>
        <p:txBody>
          <a:bodyPr wrap="square" lIns="0" tIns="0" rIns="0" bIns="0" rtlCol="0" anchor="t"/>
          <a:lstStyle/>
          <a:p>
            <a:pPr indent="0" marL="0">
              <a:buNone/>
            </a:pPr>
            <a:r>
              <a:rPr lang="en-US" sz="1100" b="1" spc="100" kern="0" dirty="0">
                <a:solidFill>
                  <a:schemeClr val="accent6"/>
                </a:solidFill>
              </a:rPr>
              <a:t>TODAY</a:t>
            </a:r>
            <a:endParaRPr lang="en-US" sz="1100" dirty="0"/>
          </a:p>
        </p:txBody>
      </p:sp>
      <p:sp>
        <p:nvSpPr>
          <p:cNvPr id="5" name="Text 3"/>
          <p:cNvSpPr txBox="1"/>
          <p:nvPr/>
        </p:nvSpPr>
        <p:spPr>
          <a:xfrm>
            <a:off x="4800600" y="1188720"/>
            <a:ext cx="3886200" cy="237744"/>
          </a:xfrm>
          <a:prstGeom prst="rect">
            <a:avLst/>
          </a:prstGeom>
          <a:noFill/>
          <a:ln/>
        </p:spPr>
        <p:txBody>
          <a:bodyPr wrap="square" lIns="0" tIns="0" rIns="0" bIns="0" rtlCol="0" anchor="t"/>
          <a:lstStyle/>
          <a:p>
            <a:pPr indent="0" marL="0">
              <a:buNone/>
            </a:pPr>
            <a:r>
              <a:rPr lang="en-US" sz="1100" b="1" spc="100" kern="0" dirty="0">
                <a:solidFill>
                  <a:schemeClr val="accent2"/>
                </a:solidFill>
              </a:rPr>
              <a:t>WITH MULETRACE</a:t>
            </a:r>
            <a:endParaRPr lang="en-US" sz="1100" dirty="0"/>
          </a:p>
        </p:txBody>
      </p:sp>
      <p:sp>
        <p:nvSpPr>
          <p:cNvPr id="6" name="Shape 4"/>
          <p:cNvSpPr/>
          <p:nvPr/>
        </p:nvSpPr>
        <p:spPr>
          <a:xfrm>
            <a:off x="457200" y="1517904"/>
            <a:ext cx="3794760" cy="548640"/>
          </a:xfrm>
          <a:prstGeom prst="roundRect">
            <a:avLst>
              <a:gd name="adj" fmla="val 13333"/>
            </a:avLst>
          </a:prstGeom>
          <a:solidFill>
            <a:schemeClr val="bg2"/>
          </a:solidFill>
          <a:ln/>
        </p:spPr>
      </p:sp>
      <p:sp>
        <p:nvSpPr>
          <p:cNvPr id="7" name="Text 5"/>
          <p:cNvSpPr txBox="1"/>
          <p:nvPr/>
        </p:nvSpPr>
        <p:spPr>
          <a:xfrm>
            <a:off x="621792" y="1517904"/>
            <a:ext cx="3520440" cy="548640"/>
          </a:xfrm>
          <a:prstGeom prst="rect">
            <a:avLst/>
          </a:prstGeom>
          <a:noFill/>
          <a:ln/>
        </p:spPr>
        <p:txBody>
          <a:bodyPr wrap="square" lIns="0" tIns="0" rIns="0" bIns="0" rtlCol="0" anchor="ctr"/>
          <a:lstStyle/>
          <a:p>
            <a:pPr indent="0" marL="0">
              <a:buNone/>
            </a:pPr>
            <a:r>
              <a:rPr lang="en-US" sz="1400" dirty="0">
                <a:solidFill>
                  <a:schemeClr val="accent6"/>
                </a:solidFill>
              </a:rPr>
              <a:t>Rules score each transaction alone, so ₹500 transfers pass</a:t>
            </a:r>
            <a:endParaRPr lang="en-US" sz="1400" dirty="0"/>
          </a:p>
        </p:txBody>
      </p:sp>
      <p:pic>
        <p:nvPicPr>
          <p:cNvPr id="8" name="Image 0" descr="preencoded.png">    </p:cNvPr>
          <p:cNvPicPr>
            <a:picLocks noChangeAspect="1"/>
          </p:cNvPicPr>
          <p:nvPr/>
        </p:nvPicPr>
        <p:blipFill>
          <a:blip r:embed="rId1"/>
          <a:stretch>
            <a:fillRect/>
          </a:stretch>
        </p:blipFill>
        <p:spPr>
          <a:xfrm>
            <a:off x="4416552" y="1682496"/>
            <a:ext cx="219456" cy="219456"/>
          </a:xfrm>
          <a:prstGeom prst="rect">
            <a:avLst/>
          </a:prstGeom>
        </p:spPr>
      </p:pic>
      <p:sp>
        <p:nvSpPr>
          <p:cNvPr id="9" name="Shape 6"/>
          <p:cNvSpPr/>
          <p:nvPr/>
        </p:nvSpPr>
        <p:spPr>
          <a:xfrm>
            <a:off x="4800600" y="1517904"/>
            <a:ext cx="3886200" cy="548640"/>
          </a:xfrm>
          <a:prstGeom prst="roundRect">
            <a:avLst>
              <a:gd name="adj" fmla="val 13333"/>
            </a:avLst>
          </a:prstGeom>
          <a:solidFill>
            <a:schemeClr val="accent2">
              <a:alpha val="14000"/>
            </a:schemeClr>
          </a:solidFill>
          <a:ln/>
        </p:spPr>
      </p:sp>
      <p:sp>
        <p:nvSpPr>
          <p:cNvPr id="10" name="Text 7"/>
          <p:cNvSpPr txBox="1"/>
          <p:nvPr/>
        </p:nvSpPr>
        <p:spPr>
          <a:xfrm>
            <a:off x="4965192" y="1517904"/>
            <a:ext cx="3611880" cy="548640"/>
          </a:xfrm>
          <a:prstGeom prst="rect">
            <a:avLst/>
          </a:prstGeom>
          <a:noFill/>
          <a:ln/>
        </p:spPr>
        <p:txBody>
          <a:bodyPr wrap="square" lIns="0" tIns="0" rIns="0" bIns="0" rtlCol="0" anchor="ctr"/>
          <a:lstStyle/>
          <a:p>
            <a:pPr indent="0" marL="0">
              <a:buNone/>
            </a:pPr>
            <a:r>
              <a:rPr lang="en-US" sz="1400" dirty="0">
                <a:solidFill>
                  <a:schemeClr val="tx1"/>
                </a:solidFill>
              </a:rPr>
              <a:t>Graph analysis scores the whole account network</a:t>
            </a:r>
            <a:endParaRPr lang="en-US" sz="1400" dirty="0"/>
          </a:p>
        </p:txBody>
      </p:sp>
      <p:sp>
        <p:nvSpPr>
          <p:cNvPr id="11" name="Shape 8"/>
          <p:cNvSpPr/>
          <p:nvPr/>
        </p:nvSpPr>
        <p:spPr>
          <a:xfrm>
            <a:off x="457200" y="2157984"/>
            <a:ext cx="3794760" cy="548640"/>
          </a:xfrm>
          <a:prstGeom prst="roundRect">
            <a:avLst>
              <a:gd name="adj" fmla="val 13333"/>
            </a:avLst>
          </a:prstGeom>
          <a:solidFill>
            <a:schemeClr val="bg2"/>
          </a:solidFill>
          <a:ln/>
        </p:spPr>
      </p:sp>
      <p:sp>
        <p:nvSpPr>
          <p:cNvPr id="12" name="Text 9"/>
          <p:cNvSpPr txBox="1"/>
          <p:nvPr/>
        </p:nvSpPr>
        <p:spPr>
          <a:xfrm>
            <a:off x="621792" y="2157984"/>
            <a:ext cx="3520440" cy="548640"/>
          </a:xfrm>
          <a:prstGeom prst="rect">
            <a:avLst/>
          </a:prstGeom>
          <a:noFill/>
          <a:ln/>
        </p:spPr>
        <p:txBody>
          <a:bodyPr wrap="square" lIns="0" tIns="0" rIns="0" bIns="0" rtlCol="0" anchor="ctr"/>
          <a:lstStyle/>
          <a:p>
            <a:pPr indent="0" marL="0">
              <a:buNone/>
            </a:pPr>
            <a:r>
              <a:rPr lang="en-US" sz="1400" dirty="0">
                <a:solidFill>
                  <a:schemeClr val="accent6"/>
                </a:solidFill>
              </a:rPr>
              <a:t>Analysts trace hops across screens and spreadsheets for days</a:t>
            </a:r>
            <a:endParaRPr lang="en-US" sz="1400" dirty="0"/>
          </a:p>
        </p:txBody>
      </p:sp>
      <p:pic>
        <p:nvPicPr>
          <p:cNvPr id="13" name="Image 1" descr="preencoded.png">    </p:cNvPr>
          <p:cNvPicPr>
            <a:picLocks noChangeAspect="1"/>
          </p:cNvPicPr>
          <p:nvPr/>
        </p:nvPicPr>
        <p:blipFill>
          <a:blip r:embed="rId2"/>
          <a:stretch>
            <a:fillRect/>
          </a:stretch>
        </p:blipFill>
        <p:spPr>
          <a:xfrm>
            <a:off x="4416552" y="2322576"/>
            <a:ext cx="219456" cy="219456"/>
          </a:xfrm>
          <a:prstGeom prst="rect">
            <a:avLst/>
          </a:prstGeom>
        </p:spPr>
      </p:pic>
      <p:sp>
        <p:nvSpPr>
          <p:cNvPr id="14" name="Shape 10"/>
          <p:cNvSpPr/>
          <p:nvPr/>
        </p:nvSpPr>
        <p:spPr>
          <a:xfrm>
            <a:off x="4800600" y="2157984"/>
            <a:ext cx="3886200" cy="548640"/>
          </a:xfrm>
          <a:prstGeom prst="roundRect">
            <a:avLst>
              <a:gd name="adj" fmla="val 13333"/>
            </a:avLst>
          </a:prstGeom>
          <a:solidFill>
            <a:schemeClr val="accent2">
              <a:alpha val="14000"/>
            </a:schemeClr>
          </a:solidFill>
          <a:ln/>
        </p:spPr>
      </p:sp>
      <p:sp>
        <p:nvSpPr>
          <p:cNvPr id="15" name="Text 11"/>
          <p:cNvSpPr txBox="1"/>
          <p:nvPr/>
        </p:nvSpPr>
        <p:spPr>
          <a:xfrm>
            <a:off x="4965192" y="2157984"/>
            <a:ext cx="3611880" cy="548640"/>
          </a:xfrm>
          <a:prstGeom prst="rect">
            <a:avLst/>
          </a:prstGeom>
          <a:noFill/>
          <a:ln/>
        </p:spPr>
        <p:txBody>
          <a:bodyPr wrap="square" lIns="0" tIns="0" rIns="0" bIns="0" rtlCol="0" anchor="ctr"/>
          <a:lstStyle/>
          <a:p>
            <a:pPr indent="0" marL="0">
              <a:buNone/>
            </a:pPr>
            <a:r>
              <a:rPr lang="en-US" sz="1400" dirty="0">
                <a:solidFill>
                  <a:schemeClr val="tx1"/>
                </a:solidFill>
              </a:rPr>
              <a:t>Money trail drawn automatically as an interactive network</a:t>
            </a:r>
            <a:endParaRPr lang="en-US" sz="1400" dirty="0"/>
          </a:p>
        </p:txBody>
      </p:sp>
      <p:sp>
        <p:nvSpPr>
          <p:cNvPr id="16" name="Shape 12"/>
          <p:cNvSpPr/>
          <p:nvPr/>
        </p:nvSpPr>
        <p:spPr>
          <a:xfrm>
            <a:off x="457200" y="2798064"/>
            <a:ext cx="3794760" cy="548640"/>
          </a:xfrm>
          <a:prstGeom prst="roundRect">
            <a:avLst>
              <a:gd name="adj" fmla="val 13333"/>
            </a:avLst>
          </a:prstGeom>
          <a:solidFill>
            <a:schemeClr val="bg2"/>
          </a:solidFill>
          <a:ln/>
        </p:spPr>
      </p:sp>
      <p:sp>
        <p:nvSpPr>
          <p:cNvPr id="17" name="Text 13"/>
          <p:cNvSpPr txBox="1"/>
          <p:nvPr/>
        </p:nvSpPr>
        <p:spPr>
          <a:xfrm>
            <a:off x="621792" y="2798064"/>
            <a:ext cx="3520440" cy="548640"/>
          </a:xfrm>
          <a:prstGeom prst="rect">
            <a:avLst/>
          </a:prstGeom>
          <a:noFill/>
          <a:ln/>
        </p:spPr>
        <p:txBody>
          <a:bodyPr wrap="square" lIns="0" tIns="0" rIns="0" bIns="0" rtlCol="0" anchor="ctr"/>
          <a:lstStyle/>
          <a:p>
            <a:pPr indent="0" marL="0">
              <a:buNone/>
            </a:pPr>
            <a:r>
              <a:rPr lang="en-US" sz="1400" dirty="0">
                <a:solidFill>
                  <a:schemeClr val="accent6"/>
                </a:solidFill>
              </a:rPr>
              <a:t>Policies and circulars searched by hand in PDFs</a:t>
            </a:r>
            <a:endParaRPr lang="en-US" sz="1400" dirty="0"/>
          </a:p>
        </p:txBody>
      </p:sp>
      <p:pic>
        <p:nvPicPr>
          <p:cNvPr id="18" name="Image 2" descr="preencoded.png">    </p:cNvPr>
          <p:cNvPicPr>
            <a:picLocks noChangeAspect="1"/>
          </p:cNvPicPr>
          <p:nvPr/>
        </p:nvPicPr>
        <p:blipFill>
          <a:blip r:embed="rId3"/>
          <a:stretch>
            <a:fillRect/>
          </a:stretch>
        </p:blipFill>
        <p:spPr>
          <a:xfrm>
            <a:off x="4416552" y="2962656"/>
            <a:ext cx="219456" cy="219456"/>
          </a:xfrm>
          <a:prstGeom prst="rect">
            <a:avLst/>
          </a:prstGeom>
        </p:spPr>
      </p:pic>
      <p:sp>
        <p:nvSpPr>
          <p:cNvPr id="19" name="Shape 14"/>
          <p:cNvSpPr/>
          <p:nvPr/>
        </p:nvSpPr>
        <p:spPr>
          <a:xfrm>
            <a:off x="4800600" y="2798064"/>
            <a:ext cx="3886200" cy="548640"/>
          </a:xfrm>
          <a:prstGeom prst="roundRect">
            <a:avLst>
              <a:gd name="adj" fmla="val 13333"/>
            </a:avLst>
          </a:prstGeom>
          <a:solidFill>
            <a:schemeClr val="accent2">
              <a:alpha val="14000"/>
            </a:schemeClr>
          </a:solidFill>
          <a:ln/>
        </p:spPr>
      </p:sp>
      <p:sp>
        <p:nvSpPr>
          <p:cNvPr id="20" name="Text 15"/>
          <p:cNvSpPr txBox="1"/>
          <p:nvPr/>
        </p:nvSpPr>
        <p:spPr>
          <a:xfrm>
            <a:off x="4965192" y="2798064"/>
            <a:ext cx="3611880" cy="548640"/>
          </a:xfrm>
          <a:prstGeom prst="rect">
            <a:avLst/>
          </a:prstGeom>
          <a:noFill/>
          <a:ln/>
        </p:spPr>
        <p:txBody>
          <a:bodyPr wrap="square" lIns="0" tIns="0" rIns="0" bIns="0" rtlCol="0" anchor="ctr"/>
          <a:lstStyle/>
          <a:p>
            <a:pPr indent="0" marL="0">
              <a:buNone/>
            </a:pPr>
            <a:r>
              <a:rPr lang="en-US" sz="1400" dirty="0">
                <a:solidFill>
                  <a:schemeClr val="tx1"/>
                </a:solidFill>
              </a:rPr>
              <a:t>Every answer cites the policy clause and the source rows</a:t>
            </a:r>
            <a:endParaRPr lang="en-US" sz="1400" dirty="0"/>
          </a:p>
        </p:txBody>
      </p:sp>
      <p:sp>
        <p:nvSpPr>
          <p:cNvPr id="21" name="Shape 16"/>
          <p:cNvSpPr/>
          <p:nvPr/>
        </p:nvSpPr>
        <p:spPr>
          <a:xfrm>
            <a:off x="457200" y="3438144"/>
            <a:ext cx="3794760" cy="548640"/>
          </a:xfrm>
          <a:prstGeom prst="roundRect">
            <a:avLst>
              <a:gd name="adj" fmla="val 13333"/>
            </a:avLst>
          </a:prstGeom>
          <a:solidFill>
            <a:schemeClr val="bg2"/>
          </a:solidFill>
          <a:ln/>
        </p:spPr>
      </p:sp>
      <p:sp>
        <p:nvSpPr>
          <p:cNvPr id="22" name="Text 17"/>
          <p:cNvSpPr txBox="1"/>
          <p:nvPr/>
        </p:nvSpPr>
        <p:spPr>
          <a:xfrm>
            <a:off x="621792" y="3438144"/>
            <a:ext cx="3520440" cy="548640"/>
          </a:xfrm>
          <a:prstGeom prst="rect">
            <a:avLst/>
          </a:prstGeom>
          <a:noFill/>
          <a:ln/>
        </p:spPr>
        <p:txBody>
          <a:bodyPr wrap="square" lIns="0" tIns="0" rIns="0" bIns="0" rtlCol="0" anchor="ctr"/>
          <a:lstStyle/>
          <a:p>
            <a:pPr indent="0" marL="0">
              <a:buNone/>
            </a:pPr>
            <a:r>
              <a:rPr lang="en-US" sz="1400" dirty="0">
                <a:solidFill>
                  <a:schemeClr val="accent6"/>
                </a:solidFill>
              </a:rPr>
              <a:t>Every new question needs SQL from a data team</a:t>
            </a:r>
            <a:endParaRPr lang="en-US" sz="1400" dirty="0"/>
          </a:p>
        </p:txBody>
      </p:sp>
      <p:pic>
        <p:nvPicPr>
          <p:cNvPr id="23" name="Image 3" descr="preencoded.png">    </p:cNvPr>
          <p:cNvPicPr>
            <a:picLocks noChangeAspect="1"/>
          </p:cNvPicPr>
          <p:nvPr/>
        </p:nvPicPr>
        <p:blipFill>
          <a:blip r:embed="rId4"/>
          <a:stretch>
            <a:fillRect/>
          </a:stretch>
        </p:blipFill>
        <p:spPr>
          <a:xfrm>
            <a:off x="4416552" y="3602736"/>
            <a:ext cx="219456" cy="219456"/>
          </a:xfrm>
          <a:prstGeom prst="rect">
            <a:avLst/>
          </a:prstGeom>
        </p:spPr>
      </p:pic>
      <p:sp>
        <p:nvSpPr>
          <p:cNvPr id="24" name="Shape 18"/>
          <p:cNvSpPr/>
          <p:nvPr/>
        </p:nvSpPr>
        <p:spPr>
          <a:xfrm>
            <a:off x="4800600" y="3438144"/>
            <a:ext cx="3886200" cy="548640"/>
          </a:xfrm>
          <a:prstGeom prst="roundRect">
            <a:avLst>
              <a:gd name="adj" fmla="val 13333"/>
            </a:avLst>
          </a:prstGeom>
          <a:solidFill>
            <a:schemeClr val="accent2">
              <a:alpha val="14000"/>
            </a:schemeClr>
          </a:solidFill>
          <a:ln/>
        </p:spPr>
      </p:sp>
      <p:sp>
        <p:nvSpPr>
          <p:cNvPr id="25" name="Text 19"/>
          <p:cNvSpPr txBox="1"/>
          <p:nvPr/>
        </p:nvSpPr>
        <p:spPr>
          <a:xfrm>
            <a:off x="4965192" y="3438144"/>
            <a:ext cx="3611880" cy="548640"/>
          </a:xfrm>
          <a:prstGeom prst="rect">
            <a:avLst/>
          </a:prstGeom>
          <a:noFill/>
          <a:ln/>
        </p:spPr>
        <p:txBody>
          <a:bodyPr wrap="square" lIns="0" tIns="0" rIns="0" bIns="0" rtlCol="0" anchor="ctr"/>
          <a:lstStyle/>
          <a:p>
            <a:pPr indent="0" marL="0">
              <a:buNone/>
            </a:pPr>
            <a:r>
              <a:rPr lang="en-US" sz="1400" dirty="0">
                <a:solidFill>
                  <a:schemeClr val="tx1"/>
                </a:solidFill>
              </a:rPr>
              <a:t>Ask in plain English; answers respect role permissions</a:t>
            </a:r>
            <a:endParaRPr lang="en-US" sz="1400" dirty="0"/>
          </a:p>
        </p:txBody>
      </p:sp>
      <p:sp>
        <p:nvSpPr>
          <p:cNvPr id="26" name="Shape 20"/>
          <p:cNvSpPr/>
          <p:nvPr/>
        </p:nvSpPr>
        <p:spPr>
          <a:xfrm>
            <a:off x="457200" y="4078224"/>
            <a:ext cx="3794760" cy="548640"/>
          </a:xfrm>
          <a:prstGeom prst="roundRect">
            <a:avLst>
              <a:gd name="adj" fmla="val 13333"/>
            </a:avLst>
          </a:prstGeom>
          <a:solidFill>
            <a:schemeClr val="bg2"/>
          </a:solidFill>
          <a:ln/>
        </p:spPr>
      </p:sp>
      <p:sp>
        <p:nvSpPr>
          <p:cNvPr id="27" name="Text 21"/>
          <p:cNvSpPr txBox="1"/>
          <p:nvPr/>
        </p:nvSpPr>
        <p:spPr>
          <a:xfrm>
            <a:off x="621792" y="4078224"/>
            <a:ext cx="3520440" cy="548640"/>
          </a:xfrm>
          <a:prstGeom prst="rect">
            <a:avLst/>
          </a:prstGeom>
          <a:noFill/>
          <a:ln/>
        </p:spPr>
        <p:txBody>
          <a:bodyPr wrap="square" lIns="0" tIns="0" rIns="0" bIns="0" rtlCol="0" anchor="ctr"/>
          <a:lstStyle/>
          <a:p>
            <a:pPr indent="0" marL="0">
              <a:buNone/>
            </a:pPr>
            <a:r>
              <a:rPr lang="en-US" sz="1400" dirty="0">
                <a:solidFill>
                  <a:schemeClr val="accent6"/>
                </a:solidFill>
              </a:rPr>
              <a:t>STR narratives written from scratch</a:t>
            </a:r>
            <a:endParaRPr lang="en-US" sz="1400" dirty="0"/>
          </a:p>
        </p:txBody>
      </p:sp>
      <p:pic>
        <p:nvPicPr>
          <p:cNvPr id="28" name="Image 4" descr="preencoded.png">    </p:cNvPr>
          <p:cNvPicPr>
            <a:picLocks noChangeAspect="1"/>
          </p:cNvPicPr>
          <p:nvPr/>
        </p:nvPicPr>
        <p:blipFill>
          <a:blip r:embed="rId5"/>
          <a:stretch>
            <a:fillRect/>
          </a:stretch>
        </p:blipFill>
        <p:spPr>
          <a:xfrm>
            <a:off x="4416552" y="4242816"/>
            <a:ext cx="219456" cy="219456"/>
          </a:xfrm>
          <a:prstGeom prst="rect">
            <a:avLst/>
          </a:prstGeom>
        </p:spPr>
      </p:pic>
      <p:sp>
        <p:nvSpPr>
          <p:cNvPr id="29" name="Shape 22"/>
          <p:cNvSpPr/>
          <p:nvPr/>
        </p:nvSpPr>
        <p:spPr>
          <a:xfrm>
            <a:off x="4800600" y="4078224"/>
            <a:ext cx="3886200" cy="548640"/>
          </a:xfrm>
          <a:prstGeom prst="roundRect">
            <a:avLst>
              <a:gd name="adj" fmla="val 13333"/>
            </a:avLst>
          </a:prstGeom>
          <a:solidFill>
            <a:schemeClr val="accent2">
              <a:alpha val="14000"/>
            </a:schemeClr>
          </a:solidFill>
          <a:ln/>
        </p:spPr>
      </p:sp>
      <p:sp>
        <p:nvSpPr>
          <p:cNvPr id="30" name="Text 23"/>
          <p:cNvSpPr txBox="1"/>
          <p:nvPr/>
        </p:nvSpPr>
        <p:spPr>
          <a:xfrm>
            <a:off x="4965192" y="4078224"/>
            <a:ext cx="3611880" cy="548640"/>
          </a:xfrm>
          <a:prstGeom prst="rect">
            <a:avLst/>
          </a:prstGeom>
          <a:noFill/>
          <a:ln/>
        </p:spPr>
        <p:txBody>
          <a:bodyPr wrap="square" lIns="0" tIns="0" rIns="0" bIns="0" rtlCol="0" anchor="ctr"/>
          <a:lstStyle/>
          <a:p>
            <a:pPr indent="0" marL="0">
              <a:buNone/>
            </a:pPr>
            <a:r>
              <a:rPr lang="en-US" sz="1400" dirty="0">
                <a:solidFill>
                  <a:schemeClr val="tx1"/>
                </a:solidFill>
              </a:rPr>
              <a:t>STR draft pre-filled with evidence, ready for review</a:t>
            </a:r>
            <a:endParaRPr lang="en-US" sz="14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SOLUTION</a:t>
            </a:r>
            <a:endParaRPr lang="en-US" sz="1100" dirty="0"/>
          </a:p>
        </p:txBody>
      </p:sp>
      <p:sp>
        <p:nvSpPr>
          <p:cNvPr id="3" name="Text 0"/>
          <p:cNvSpPr/>
          <p:nvPr>
            <p:ph idx="101" type="title" hasCustomPrompt="1"/>
          </p:nvPr>
        </p:nvSpPr>
        <p:spPr>
          <a:xfrm>
            <a:off x="457200" y="530352"/>
            <a:ext cx="8229600" cy="502920"/>
          </a:xfrm>
          <a:prstGeom prst="rect">
            <a:avLst/>
          </a:prstGeom>
          <a:noFill/>
          <a:ln/>
        </p:spPr>
        <p:txBody>
          <a:bodyPr wrap="square" lIns="0" tIns="0" rIns="0" bIns="0" rtlCol="0" anchor="ctr"/>
          <a:lstStyle/>
          <a:p>
            <a:pPr algn="l" indent="0" marL="0">
              <a:buNone/>
            </a:pPr>
            <a:r>
              <a:rPr lang="en-US" sz="2400" b="1" dirty="0">
                <a:solidFill>
                  <a:schemeClr val="tx1"/>
                </a:solidFill>
              </a:rPr>
              <a:t>Four laundering typologies, detected as graph patterns</a:t>
            </a:r>
            <a:endParaRPr lang="en-US" sz="2400" dirty="0"/>
          </a:p>
        </p:txBody>
      </p:sp>
      <p:sp>
        <p:nvSpPr>
          <p:cNvPr id="4" name="Shape 2"/>
          <p:cNvSpPr/>
          <p:nvPr/>
        </p:nvSpPr>
        <p:spPr>
          <a:xfrm>
            <a:off x="457200" y="1280160"/>
            <a:ext cx="1874520" cy="3337560"/>
          </a:xfrm>
          <a:prstGeom prst="roundRect">
            <a:avLst>
              <a:gd name="adj" fmla="val 3902"/>
            </a:avLst>
          </a:prstGeom>
          <a:solidFill>
            <a:schemeClr val="bg2"/>
          </a:solidFill>
          <a:ln/>
        </p:spPr>
      </p:sp>
      <p:sp>
        <p:nvSpPr>
          <p:cNvPr id="5" name="Shape 3"/>
          <p:cNvSpPr/>
          <p:nvPr/>
        </p:nvSpPr>
        <p:spPr>
          <a:xfrm>
            <a:off x="921806" y="1579455"/>
            <a:ext cx="745878" cy="400564"/>
          </a:xfrm>
          <a:prstGeom prst="line">
            <a:avLst/>
          </a:prstGeom>
          <a:noFill/>
          <a:ln w="12700">
            <a:solidFill>
              <a:schemeClr val="accent6"/>
            </a:solidFill>
            <a:prstDash val="solid"/>
            <a:tailEnd type="triangle"/>
          </a:ln>
        </p:spPr>
      </p:sp>
      <p:sp>
        <p:nvSpPr>
          <p:cNvPr id="6" name="Shape 4"/>
          <p:cNvSpPr/>
          <p:nvPr/>
        </p:nvSpPr>
        <p:spPr>
          <a:xfrm>
            <a:off x="768096" y="1463040"/>
            <a:ext cx="146304" cy="146304"/>
          </a:xfrm>
          <a:prstGeom prst="ellipse">
            <a:avLst/>
          </a:prstGeom>
          <a:solidFill>
            <a:schemeClr val="accent3"/>
          </a:solidFill>
          <a:ln w="12700">
            <a:solidFill>
              <a:schemeClr val="bg1"/>
            </a:solidFill>
            <a:prstDash val="solid"/>
          </a:ln>
        </p:spPr>
      </p:sp>
      <p:sp>
        <p:nvSpPr>
          <p:cNvPr id="7" name="Shape 5"/>
          <p:cNvSpPr/>
          <p:nvPr/>
        </p:nvSpPr>
        <p:spPr>
          <a:xfrm>
            <a:off x="929560" y="1825081"/>
            <a:ext cx="722617" cy="194036"/>
          </a:xfrm>
          <a:prstGeom prst="line">
            <a:avLst/>
          </a:prstGeom>
          <a:noFill/>
          <a:ln w="12700">
            <a:solidFill>
              <a:schemeClr val="accent6"/>
            </a:solidFill>
            <a:prstDash val="solid"/>
            <a:tailEnd type="triangle"/>
          </a:ln>
        </p:spPr>
      </p:sp>
      <p:sp>
        <p:nvSpPr>
          <p:cNvPr id="8" name="Shape 6"/>
          <p:cNvSpPr/>
          <p:nvPr/>
        </p:nvSpPr>
        <p:spPr>
          <a:xfrm>
            <a:off x="768096" y="1728216"/>
            <a:ext cx="146304" cy="146304"/>
          </a:xfrm>
          <a:prstGeom prst="ellipse">
            <a:avLst/>
          </a:prstGeom>
          <a:solidFill>
            <a:schemeClr val="accent3"/>
          </a:solidFill>
          <a:ln w="12700">
            <a:solidFill>
              <a:schemeClr val="bg1"/>
            </a:solidFill>
            <a:prstDash val="solid"/>
          </a:ln>
        </p:spPr>
      </p:sp>
      <p:sp>
        <p:nvSpPr>
          <p:cNvPr id="9" name="Shape 7"/>
          <p:cNvSpPr/>
          <p:nvPr/>
        </p:nvSpPr>
        <p:spPr>
          <a:xfrm>
            <a:off x="932688" y="2066544"/>
            <a:ext cx="713232" cy="914"/>
          </a:xfrm>
          <a:prstGeom prst="line">
            <a:avLst/>
          </a:prstGeom>
          <a:noFill/>
          <a:ln w="12700">
            <a:solidFill>
              <a:schemeClr val="accent6"/>
            </a:solidFill>
            <a:prstDash val="solid"/>
            <a:tailEnd type="triangle"/>
          </a:ln>
        </p:spPr>
      </p:sp>
      <p:sp>
        <p:nvSpPr>
          <p:cNvPr id="10" name="Shape 8"/>
          <p:cNvSpPr/>
          <p:nvPr/>
        </p:nvSpPr>
        <p:spPr>
          <a:xfrm>
            <a:off x="768096" y="1993392"/>
            <a:ext cx="146304" cy="146304"/>
          </a:xfrm>
          <a:prstGeom prst="ellipse">
            <a:avLst/>
          </a:prstGeom>
          <a:solidFill>
            <a:schemeClr val="accent3"/>
          </a:solidFill>
          <a:ln w="12700">
            <a:solidFill>
              <a:schemeClr val="bg1"/>
            </a:solidFill>
            <a:prstDash val="solid"/>
          </a:ln>
        </p:spPr>
      </p:sp>
      <p:sp>
        <p:nvSpPr>
          <p:cNvPr id="11" name="Shape 9"/>
          <p:cNvSpPr/>
          <p:nvPr/>
        </p:nvSpPr>
        <p:spPr>
          <a:xfrm flipV="1">
            <a:off x="929560" y="2113971"/>
            <a:ext cx="722617" cy="194036"/>
          </a:xfrm>
          <a:prstGeom prst="line">
            <a:avLst/>
          </a:prstGeom>
          <a:noFill/>
          <a:ln w="12700">
            <a:solidFill>
              <a:schemeClr val="accent6"/>
            </a:solidFill>
            <a:prstDash val="solid"/>
            <a:tailEnd type="triangle"/>
          </a:ln>
        </p:spPr>
      </p:sp>
      <p:sp>
        <p:nvSpPr>
          <p:cNvPr id="12" name="Shape 10"/>
          <p:cNvSpPr/>
          <p:nvPr/>
        </p:nvSpPr>
        <p:spPr>
          <a:xfrm>
            <a:off x="768096" y="2258568"/>
            <a:ext cx="146304" cy="146304"/>
          </a:xfrm>
          <a:prstGeom prst="ellipse">
            <a:avLst/>
          </a:prstGeom>
          <a:solidFill>
            <a:schemeClr val="accent3"/>
          </a:solidFill>
          <a:ln w="12700">
            <a:solidFill>
              <a:schemeClr val="bg1"/>
            </a:solidFill>
            <a:prstDash val="solid"/>
          </a:ln>
        </p:spPr>
      </p:sp>
      <p:sp>
        <p:nvSpPr>
          <p:cNvPr id="13" name="Shape 11"/>
          <p:cNvSpPr/>
          <p:nvPr/>
        </p:nvSpPr>
        <p:spPr>
          <a:xfrm flipV="1">
            <a:off x="921806" y="2153069"/>
            <a:ext cx="745878" cy="400564"/>
          </a:xfrm>
          <a:prstGeom prst="line">
            <a:avLst/>
          </a:prstGeom>
          <a:noFill/>
          <a:ln w="12700">
            <a:solidFill>
              <a:schemeClr val="accent6"/>
            </a:solidFill>
            <a:prstDash val="solid"/>
            <a:tailEnd type="triangle"/>
          </a:ln>
        </p:spPr>
      </p:sp>
      <p:sp>
        <p:nvSpPr>
          <p:cNvPr id="14" name="Shape 12"/>
          <p:cNvSpPr/>
          <p:nvPr/>
        </p:nvSpPr>
        <p:spPr>
          <a:xfrm>
            <a:off x="768096" y="2523744"/>
            <a:ext cx="146304" cy="146304"/>
          </a:xfrm>
          <a:prstGeom prst="ellipse">
            <a:avLst/>
          </a:prstGeom>
          <a:solidFill>
            <a:schemeClr val="accent3"/>
          </a:solidFill>
          <a:ln w="12700">
            <a:solidFill>
              <a:schemeClr val="bg1"/>
            </a:solidFill>
            <a:prstDash val="solid"/>
          </a:ln>
        </p:spPr>
      </p:sp>
      <p:sp>
        <p:nvSpPr>
          <p:cNvPr id="15" name="Shape 13"/>
          <p:cNvSpPr/>
          <p:nvPr/>
        </p:nvSpPr>
        <p:spPr>
          <a:xfrm>
            <a:off x="1673352" y="1911096"/>
            <a:ext cx="310896" cy="310896"/>
          </a:xfrm>
          <a:prstGeom prst="ellipse">
            <a:avLst/>
          </a:prstGeom>
          <a:solidFill>
            <a:schemeClr val="accent3"/>
          </a:solidFill>
          <a:ln w="12700">
            <a:solidFill>
              <a:schemeClr val="bg1"/>
            </a:solidFill>
            <a:prstDash val="solid"/>
          </a:ln>
        </p:spPr>
      </p:sp>
      <p:sp>
        <p:nvSpPr>
          <p:cNvPr id="16" name="Text 14"/>
          <p:cNvSpPr txBox="1"/>
          <p:nvPr/>
        </p:nvSpPr>
        <p:spPr>
          <a:xfrm>
            <a:off x="621792" y="2743200"/>
            <a:ext cx="1545336" cy="292608"/>
          </a:xfrm>
          <a:prstGeom prst="rect">
            <a:avLst/>
          </a:prstGeom>
          <a:noFill/>
          <a:ln/>
        </p:spPr>
        <p:txBody>
          <a:bodyPr wrap="square" lIns="0" tIns="0" rIns="0" bIns="0" rtlCol="0" anchor="t"/>
          <a:lstStyle/>
          <a:p>
            <a:pPr indent="0" marL="0">
              <a:buNone/>
            </a:pPr>
            <a:r>
              <a:rPr lang="en-US" sz="1400" b="1" dirty="0">
                <a:solidFill>
                  <a:schemeClr val="tx1"/>
                </a:solidFill>
              </a:rPr>
              <a:t>Structuring</a:t>
            </a:r>
            <a:endParaRPr lang="en-US" sz="1400" dirty="0"/>
          </a:p>
        </p:txBody>
      </p:sp>
      <p:sp>
        <p:nvSpPr>
          <p:cNvPr id="17" name="Text 15"/>
          <p:cNvSpPr txBox="1"/>
          <p:nvPr/>
        </p:nvSpPr>
        <p:spPr>
          <a:xfrm>
            <a:off x="621792" y="3063240"/>
            <a:ext cx="1545336" cy="868680"/>
          </a:xfrm>
          <a:prstGeom prst="rect">
            <a:avLst/>
          </a:prstGeom>
          <a:noFill/>
          <a:ln/>
        </p:spPr>
        <p:txBody>
          <a:bodyPr wrap="square" lIns="0" tIns="0" rIns="0" bIns="0" rtlCol="0" anchor="t"/>
          <a:lstStyle/>
          <a:p>
            <a:pPr indent="0" marL="0">
              <a:buNone/>
            </a:pPr>
            <a:r>
              <a:rPr lang="en-US" sz="1200" dirty="0">
                <a:solidFill>
                  <a:schemeClr val="accent6"/>
                </a:solidFill>
              </a:rPr>
              <a:t>Smurfing: many accounts send repeated small amounts to one collector.</a:t>
            </a:r>
            <a:endParaRPr lang="en-US" sz="1200" dirty="0"/>
          </a:p>
        </p:txBody>
      </p:sp>
      <p:sp>
        <p:nvSpPr>
          <p:cNvPr id="18" name="Shape 16"/>
          <p:cNvSpPr/>
          <p:nvPr/>
        </p:nvSpPr>
        <p:spPr>
          <a:xfrm>
            <a:off x="585216" y="4005072"/>
            <a:ext cx="1618488" cy="475488"/>
          </a:xfrm>
          <a:prstGeom prst="roundRect">
            <a:avLst>
              <a:gd name="adj" fmla="val 11538"/>
            </a:avLst>
          </a:prstGeom>
          <a:solidFill>
            <a:schemeClr val="accent3">
              <a:alpha val="18000"/>
            </a:schemeClr>
          </a:solidFill>
          <a:ln/>
        </p:spPr>
      </p:sp>
      <p:sp>
        <p:nvSpPr>
          <p:cNvPr id="19" name="Text 17"/>
          <p:cNvSpPr txBox="1"/>
          <p:nvPr/>
        </p:nvSpPr>
        <p:spPr>
          <a:xfrm>
            <a:off x="658368" y="4005072"/>
            <a:ext cx="1472184" cy="475488"/>
          </a:xfrm>
          <a:prstGeom prst="rect">
            <a:avLst/>
          </a:prstGeom>
          <a:noFill/>
          <a:ln/>
        </p:spPr>
        <p:txBody>
          <a:bodyPr wrap="square" lIns="0" tIns="0" rIns="0" bIns="0" rtlCol="0" anchor="ctr"/>
          <a:lstStyle/>
          <a:p>
            <a:pPr indent="0" marL="0">
              <a:buNone/>
            </a:pPr>
            <a:r>
              <a:rPr lang="en-US" sz="1000" b="1" dirty="0">
                <a:solidFill>
                  <a:schemeClr val="tx1"/>
                </a:solidFill>
              </a:rPr>
              <a:t>≥10 senders · ≥5 same-amount transfers each</a:t>
            </a:r>
            <a:endParaRPr lang="en-US" sz="1000" dirty="0"/>
          </a:p>
        </p:txBody>
      </p:sp>
      <p:sp>
        <p:nvSpPr>
          <p:cNvPr id="20" name="Shape 18"/>
          <p:cNvSpPr/>
          <p:nvPr/>
        </p:nvSpPr>
        <p:spPr>
          <a:xfrm>
            <a:off x="2578608" y="1280160"/>
            <a:ext cx="1874520" cy="3337560"/>
          </a:xfrm>
          <a:prstGeom prst="roundRect">
            <a:avLst>
              <a:gd name="adj" fmla="val 3902"/>
            </a:avLst>
          </a:prstGeom>
          <a:solidFill>
            <a:schemeClr val="bg2"/>
          </a:solidFill>
          <a:ln/>
        </p:spPr>
      </p:sp>
      <p:sp>
        <p:nvSpPr>
          <p:cNvPr id="21" name="Shape 19"/>
          <p:cNvSpPr/>
          <p:nvPr/>
        </p:nvSpPr>
        <p:spPr>
          <a:xfrm flipV="1">
            <a:off x="2988957" y="1645334"/>
            <a:ext cx="453323" cy="334366"/>
          </a:xfrm>
          <a:prstGeom prst="line">
            <a:avLst/>
          </a:prstGeom>
          <a:noFill/>
          <a:ln w="12700">
            <a:solidFill>
              <a:schemeClr val="accent6"/>
            </a:solidFill>
            <a:prstDash val="solid"/>
            <a:tailEnd type="triangle"/>
          </a:ln>
        </p:spPr>
      </p:sp>
      <p:sp>
        <p:nvSpPr>
          <p:cNvPr id="22" name="Shape 20"/>
          <p:cNvSpPr/>
          <p:nvPr/>
        </p:nvSpPr>
        <p:spPr>
          <a:xfrm>
            <a:off x="3589456" y="1645334"/>
            <a:ext cx="453323" cy="334366"/>
          </a:xfrm>
          <a:prstGeom prst="line">
            <a:avLst/>
          </a:prstGeom>
          <a:noFill/>
          <a:ln w="12700">
            <a:solidFill>
              <a:schemeClr val="accent6"/>
            </a:solidFill>
            <a:prstDash val="solid"/>
            <a:tailEnd type="triangle"/>
          </a:ln>
        </p:spPr>
      </p:sp>
      <p:sp>
        <p:nvSpPr>
          <p:cNvPr id="23" name="Shape 21"/>
          <p:cNvSpPr/>
          <p:nvPr/>
        </p:nvSpPr>
        <p:spPr>
          <a:xfrm>
            <a:off x="3442716" y="1517904"/>
            <a:ext cx="146304" cy="146304"/>
          </a:xfrm>
          <a:prstGeom prst="ellipse">
            <a:avLst/>
          </a:prstGeom>
          <a:solidFill>
            <a:schemeClr val="accent1"/>
          </a:solidFill>
          <a:ln w="12700">
            <a:solidFill>
              <a:schemeClr val="bg1"/>
            </a:solidFill>
            <a:prstDash val="solid"/>
          </a:ln>
        </p:spPr>
      </p:sp>
      <p:sp>
        <p:nvSpPr>
          <p:cNvPr id="24" name="Shape 22"/>
          <p:cNvSpPr/>
          <p:nvPr/>
        </p:nvSpPr>
        <p:spPr>
          <a:xfrm flipV="1">
            <a:off x="3013443" y="1932531"/>
            <a:ext cx="413532" cy="99717"/>
          </a:xfrm>
          <a:prstGeom prst="line">
            <a:avLst/>
          </a:prstGeom>
          <a:noFill/>
          <a:ln w="12700">
            <a:solidFill>
              <a:schemeClr val="accent6"/>
            </a:solidFill>
            <a:prstDash val="solid"/>
            <a:tailEnd type="triangle"/>
          </a:ln>
        </p:spPr>
      </p:sp>
      <p:sp>
        <p:nvSpPr>
          <p:cNvPr id="25" name="Shape 23"/>
          <p:cNvSpPr/>
          <p:nvPr/>
        </p:nvSpPr>
        <p:spPr>
          <a:xfrm>
            <a:off x="3604760" y="1932531"/>
            <a:ext cx="413532" cy="99717"/>
          </a:xfrm>
          <a:prstGeom prst="line">
            <a:avLst/>
          </a:prstGeom>
          <a:noFill/>
          <a:ln w="12700">
            <a:solidFill>
              <a:schemeClr val="accent6"/>
            </a:solidFill>
            <a:prstDash val="solid"/>
            <a:tailEnd type="triangle"/>
          </a:ln>
        </p:spPr>
      </p:sp>
      <p:sp>
        <p:nvSpPr>
          <p:cNvPr id="26" name="Shape 24"/>
          <p:cNvSpPr/>
          <p:nvPr/>
        </p:nvSpPr>
        <p:spPr>
          <a:xfrm>
            <a:off x="3442716" y="1837944"/>
            <a:ext cx="146304" cy="146304"/>
          </a:xfrm>
          <a:prstGeom prst="ellipse">
            <a:avLst/>
          </a:prstGeom>
          <a:solidFill>
            <a:schemeClr val="accent1"/>
          </a:solidFill>
          <a:ln w="12700">
            <a:solidFill>
              <a:schemeClr val="bg1"/>
            </a:solidFill>
            <a:prstDash val="solid"/>
          </a:ln>
        </p:spPr>
      </p:sp>
      <p:sp>
        <p:nvSpPr>
          <p:cNvPr id="27" name="Shape 25"/>
          <p:cNvSpPr/>
          <p:nvPr/>
        </p:nvSpPr>
        <p:spPr>
          <a:xfrm>
            <a:off x="3012973" y="2102737"/>
            <a:ext cx="414298" cy="105778"/>
          </a:xfrm>
          <a:prstGeom prst="line">
            <a:avLst/>
          </a:prstGeom>
          <a:noFill/>
          <a:ln w="12700">
            <a:solidFill>
              <a:schemeClr val="accent6"/>
            </a:solidFill>
            <a:prstDash val="solid"/>
            <a:tailEnd type="triangle"/>
          </a:ln>
        </p:spPr>
      </p:sp>
      <p:sp>
        <p:nvSpPr>
          <p:cNvPr id="28" name="Shape 26"/>
          <p:cNvSpPr/>
          <p:nvPr/>
        </p:nvSpPr>
        <p:spPr>
          <a:xfrm flipV="1">
            <a:off x="3604466" y="2102737"/>
            <a:ext cx="414298" cy="105778"/>
          </a:xfrm>
          <a:prstGeom prst="line">
            <a:avLst/>
          </a:prstGeom>
          <a:noFill/>
          <a:ln w="12700">
            <a:solidFill>
              <a:schemeClr val="accent6"/>
            </a:solidFill>
            <a:prstDash val="solid"/>
            <a:tailEnd type="triangle"/>
          </a:ln>
        </p:spPr>
      </p:sp>
      <p:sp>
        <p:nvSpPr>
          <p:cNvPr id="29" name="Shape 27"/>
          <p:cNvSpPr/>
          <p:nvPr/>
        </p:nvSpPr>
        <p:spPr>
          <a:xfrm>
            <a:off x="3442716" y="2157984"/>
            <a:ext cx="146304" cy="146304"/>
          </a:xfrm>
          <a:prstGeom prst="ellipse">
            <a:avLst/>
          </a:prstGeom>
          <a:solidFill>
            <a:schemeClr val="accent1"/>
          </a:solidFill>
          <a:ln w="12700">
            <a:solidFill>
              <a:schemeClr val="bg1"/>
            </a:solidFill>
            <a:prstDash val="solid"/>
          </a:ln>
        </p:spPr>
      </p:sp>
      <p:sp>
        <p:nvSpPr>
          <p:cNvPr id="30" name="Shape 28"/>
          <p:cNvSpPr/>
          <p:nvPr/>
        </p:nvSpPr>
        <p:spPr>
          <a:xfrm>
            <a:off x="2988160" y="2154459"/>
            <a:ext cx="454619" cy="341770"/>
          </a:xfrm>
          <a:prstGeom prst="line">
            <a:avLst/>
          </a:prstGeom>
          <a:noFill/>
          <a:ln w="12700">
            <a:solidFill>
              <a:schemeClr val="accent6"/>
            </a:solidFill>
            <a:prstDash val="solid"/>
            <a:tailEnd type="triangle"/>
          </a:ln>
        </p:spPr>
      </p:sp>
      <p:sp>
        <p:nvSpPr>
          <p:cNvPr id="31" name="Shape 29"/>
          <p:cNvSpPr/>
          <p:nvPr/>
        </p:nvSpPr>
        <p:spPr>
          <a:xfrm flipV="1">
            <a:off x="3588958" y="2154459"/>
            <a:ext cx="454619" cy="341770"/>
          </a:xfrm>
          <a:prstGeom prst="line">
            <a:avLst/>
          </a:prstGeom>
          <a:noFill/>
          <a:ln w="12700">
            <a:solidFill>
              <a:schemeClr val="accent6"/>
            </a:solidFill>
            <a:prstDash val="solid"/>
            <a:tailEnd type="triangle"/>
          </a:ln>
        </p:spPr>
      </p:sp>
      <p:sp>
        <p:nvSpPr>
          <p:cNvPr id="32" name="Shape 30"/>
          <p:cNvSpPr/>
          <p:nvPr/>
        </p:nvSpPr>
        <p:spPr>
          <a:xfrm>
            <a:off x="3442716" y="2478024"/>
            <a:ext cx="146304" cy="146304"/>
          </a:xfrm>
          <a:prstGeom prst="ellipse">
            <a:avLst/>
          </a:prstGeom>
          <a:solidFill>
            <a:schemeClr val="accent1"/>
          </a:solidFill>
          <a:ln w="12700">
            <a:solidFill>
              <a:schemeClr val="bg1"/>
            </a:solidFill>
            <a:prstDash val="solid"/>
          </a:ln>
        </p:spPr>
      </p:sp>
      <p:sp>
        <p:nvSpPr>
          <p:cNvPr id="33" name="Shape 31"/>
          <p:cNvSpPr/>
          <p:nvPr/>
        </p:nvSpPr>
        <p:spPr>
          <a:xfrm>
            <a:off x="2743200" y="1938528"/>
            <a:ext cx="256032" cy="256032"/>
          </a:xfrm>
          <a:prstGeom prst="ellipse">
            <a:avLst/>
          </a:prstGeom>
          <a:solidFill>
            <a:schemeClr val="accent1"/>
          </a:solidFill>
          <a:ln w="12700">
            <a:solidFill>
              <a:schemeClr val="bg1"/>
            </a:solidFill>
            <a:prstDash val="solid"/>
          </a:ln>
        </p:spPr>
      </p:sp>
      <p:sp>
        <p:nvSpPr>
          <p:cNvPr id="34" name="Shape 32"/>
          <p:cNvSpPr/>
          <p:nvPr/>
        </p:nvSpPr>
        <p:spPr>
          <a:xfrm>
            <a:off x="4032504" y="1938528"/>
            <a:ext cx="256032" cy="256032"/>
          </a:xfrm>
          <a:prstGeom prst="ellipse">
            <a:avLst/>
          </a:prstGeom>
          <a:solidFill>
            <a:schemeClr val="accent1"/>
          </a:solidFill>
          <a:ln w="12700">
            <a:solidFill>
              <a:schemeClr val="bg1"/>
            </a:solidFill>
            <a:prstDash val="solid"/>
          </a:ln>
        </p:spPr>
      </p:sp>
      <p:sp>
        <p:nvSpPr>
          <p:cNvPr id="35" name="Text 33"/>
          <p:cNvSpPr txBox="1"/>
          <p:nvPr/>
        </p:nvSpPr>
        <p:spPr>
          <a:xfrm>
            <a:off x="2743200" y="2743200"/>
            <a:ext cx="1545336" cy="292608"/>
          </a:xfrm>
          <a:prstGeom prst="rect">
            <a:avLst/>
          </a:prstGeom>
          <a:noFill/>
          <a:ln/>
        </p:spPr>
        <p:txBody>
          <a:bodyPr wrap="square" lIns="0" tIns="0" rIns="0" bIns="0" rtlCol="0" anchor="t"/>
          <a:lstStyle/>
          <a:p>
            <a:pPr indent="0" marL="0">
              <a:buNone/>
            </a:pPr>
            <a:r>
              <a:rPr lang="en-US" sz="1400" b="1" dirty="0">
                <a:solidFill>
                  <a:schemeClr val="tx1"/>
                </a:solidFill>
              </a:rPr>
              <a:t>Fan-out → fan-in</a:t>
            </a:r>
            <a:endParaRPr lang="en-US" sz="1400" dirty="0"/>
          </a:p>
        </p:txBody>
      </p:sp>
      <p:sp>
        <p:nvSpPr>
          <p:cNvPr id="36" name="Text 34"/>
          <p:cNvSpPr txBox="1"/>
          <p:nvPr/>
        </p:nvSpPr>
        <p:spPr>
          <a:xfrm>
            <a:off x="2743200" y="3063240"/>
            <a:ext cx="1545336" cy="868680"/>
          </a:xfrm>
          <a:prstGeom prst="rect">
            <a:avLst/>
          </a:prstGeom>
          <a:noFill/>
          <a:ln/>
        </p:spPr>
        <p:txBody>
          <a:bodyPr wrap="square" lIns="0" tIns="0" rIns="0" bIns="0" rtlCol="0" anchor="t"/>
          <a:lstStyle/>
          <a:p>
            <a:pPr indent="0" marL="0">
              <a:buNone/>
            </a:pPr>
            <a:r>
              <a:rPr lang="en-US" sz="1200" dirty="0">
                <a:solidFill>
                  <a:schemeClr val="accent6"/>
                </a:solidFill>
              </a:rPr>
              <a:t>Funds split across mules just under limits, then regrouped within hours.</a:t>
            </a:r>
            <a:endParaRPr lang="en-US" sz="1200" dirty="0"/>
          </a:p>
        </p:txBody>
      </p:sp>
      <p:sp>
        <p:nvSpPr>
          <p:cNvPr id="37" name="Shape 35"/>
          <p:cNvSpPr/>
          <p:nvPr/>
        </p:nvSpPr>
        <p:spPr>
          <a:xfrm>
            <a:off x="2706624" y="4005072"/>
            <a:ext cx="1618488" cy="475488"/>
          </a:xfrm>
          <a:prstGeom prst="roundRect">
            <a:avLst>
              <a:gd name="adj" fmla="val 11538"/>
            </a:avLst>
          </a:prstGeom>
          <a:solidFill>
            <a:schemeClr val="accent1">
              <a:alpha val="18000"/>
            </a:schemeClr>
          </a:solidFill>
          <a:ln/>
        </p:spPr>
      </p:sp>
      <p:sp>
        <p:nvSpPr>
          <p:cNvPr id="38" name="Text 36"/>
          <p:cNvSpPr txBox="1"/>
          <p:nvPr/>
        </p:nvSpPr>
        <p:spPr>
          <a:xfrm>
            <a:off x="2779776" y="4005072"/>
            <a:ext cx="1472184" cy="475488"/>
          </a:xfrm>
          <a:prstGeom prst="rect">
            <a:avLst/>
          </a:prstGeom>
          <a:noFill/>
          <a:ln/>
        </p:spPr>
        <p:txBody>
          <a:bodyPr wrap="square" lIns="0" tIns="0" rIns="0" bIns="0" rtlCol="0" anchor="ctr"/>
          <a:lstStyle/>
          <a:p>
            <a:pPr indent="0" marL="0">
              <a:buNone/>
            </a:pPr>
            <a:r>
              <a:rPr lang="en-US" sz="1000" b="1" dirty="0">
                <a:solidFill>
                  <a:schemeClr val="tx1"/>
                </a:solidFill>
              </a:rPr>
              <a:t>≥8 mules forward ≥70% within 72 h</a:t>
            </a:r>
            <a:endParaRPr lang="en-US" sz="1000" dirty="0"/>
          </a:p>
        </p:txBody>
      </p:sp>
      <p:sp>
        <p:nvSpPr>
          <p:cNvPr id="39" name="Shape 37"/>
          <p:cNvSpPr/>
          <p:nvPr/>
        </p:nvSpPr>
        <p:spPr>
          <a:xfrm>
            <a:off x="4700016" y="1280160"/>
            <a:ext cx="1874520" cy="3337560"/>
          </a:xfrm>
          <a:prstGeom prst="roundRect">
            <a:avLst>
              <a:gd name="adj" fmla="val 3902"/>
            </a:avLst>
          </a:prstGeom>
          <a:solidFill>
            <a:schemeClr val="bg2"/>
          </a:solidFill>
          <a:ln/>
        </p:spPr>
      </p:sp>
      <p:sp>
        <p:nvSpPr>
          <p:cNvPr id="40" name="Shape 38"/>
          <p:cNvSpPr/>
          <p:nvPr/>
        </p:nvSpPr>
        <p:spPr>
          <a:xfrm>
            <a:off x="5005868" y="1933120"/>
            <a:ext cx="211255" cy="266848"/>
          </a:xfrm>
          <a:prstGeom prst="line">
            <a:avLst/>
          </a:prstGeom>
          <a:noFill/>
          <a:ln w="12700">
            <a:solidFill>
              <a:schemeClr val="accent6"/>
            </a:solidFill>
            <a:prstDash val="solid"/>
            <a:tailEnd type="triangle"/>
          </a:ln>
        </p:spPr>
      </p:sp>
      <p:sp>
        <p:nvSpPr>
          <p:cNvPr id="41" name="Shape 39"/>
          <p:cNvSpPr/>
          <p:nvPr/>
        </p:nvSpPr>
        <p:spPr>
          <a:xfrm flipV="1">
            <a:off x="5353340" y="1933120"/>
            <a:ext cx="211255" cy="266848"/>
          </a:xfrm>
          <a:prstGeom prst="line">
            <a:avLst/>
          </a:prstGeom>
          <a:noFill/>
          <a:ln w="12700">
            <a:solidFill>
              <a:schemeClr val="accent6"/>
            </a:solidFill>
            <a:prstDash val="solid"/>
            <a:tailEnd type="triangle"/>
          </a:ln>
        </p:spPr>
      </p:sp>
      <p:sp>
        <p:nvSpPr>
          <p:cNvPr id="42" name="Shape 40"/>
          <p:cNvSpPr/>
          <p:nvPr/>
        </p:nvSpPr>
        <p:spPr>
          <a:xfrm>
            <a:off x="5700812" y="1933120"/>
            <a:ext cx="211255" cy="266848"/>
          </a:xfrm>
          <a:prstGeom prst="line">
            <a:avLst/>
          </a:prstGeom>
          <a:noFill/>
          <a:ln w="12700">
            <a:solidFill>
              <a:schemeClr val="accent6"/>
            </a:solidFill>
            <a:prstDash val="solid"/>
            <a:tailEnd type="triangle"/>
          </a:ln>
        </p:spPr>
      </p:sp>
      <p:sp>
        <p:nvSpPr>
          <p:cNvPr id="43" name="Shape 41"/>
          <p:cNvSpPr/>
          <p:nvPr/>
        </p:nvSpPr>
        <p:spPr>
          <a:xfrm flipV="1">
            <a:off x="6048284" y="1933120"/>
            <a:ext cx="211255" cy="266848"/>
          </a:xfrm>
          <a:prstGeom prst="line">
            <a:avLst/>
          </a:prstGeom>
          <a:noFill/>
          <a:ln w="12700">
            <a:solidFill>
              <a:schemeClr val="accent6"/>
            </a:solidFill>
            <a:prstDash val="solid"/>
            <a:tailEnd type="triangle"/>
          </a:ln>
        </p:spPr>
      </p:sp>
      <p:sp>
        <p:nvSpPr>
          <p:cNvPr id="44" name="Shape 42"/>
          <p:cNvSpPr/>
          <p:nvPr/>
        </p:nvSpPr>
        <p:spPr>
          <a:xfrm>
            <a:off x="4846320" y="1755648"/>
            <a:ext cx="182880" cy="182880"/>
          </a:xfrm>
          <a:prstGeom prst="ellipse">
            <a:avLst/>
          </a:prstGeom>
          <a:solidFill>
            <a:schemeClr val="accent4"/>
          </a:solidFill>
          <a:ln w="12700">
            <a:solidFill>
              <a:schemeClr val="bg1"/>
            </a:solidFill>
            <a:prstDash val="solid"/>
          </a:ln>
        </p:spPr>
      </p:sp>
      <p:sp>
        <p:nvSpPr>
          <p:cNvPr id="45" name="Shape 43"/>
          <p:cNvSpPr/>
          <p:nvPr/>
        </p:nvSpPr>
        <p:spPr>
          <a:xfrm>
            <a:off x="5193792" y="2194560"/>
            <a:ext cx="182880" cy="182880"/>
          </a:xfrm>
          <a:prstGeom prst="ellipse">
            <a:avLst/>
          </a:prstGeom>
          <a:solidFill>
            <a:schemeClr val="accent4"/>
          </a:solidFill>
          <a:ln w="12700">
            <a:solidFill>
              <a:schemeClr val="bg1"/>
            </a:solidFill>
            <a:prstDash val="solid"/>
          </a:ln>
        </p:spPr>
      </p:sp>
      <p:sp>
        <p:nvSpPr>
          <p:cNvPr id="46" name="Shape 44"/>
          <p:cNvSpPr/>
          <p:nvPr/>
        </p:nvSpPr>
        <p:spPr>
          <a:xfrm>
            <a:off x="5541264" y="1755648"/>
            <a:ext cx="182880" cy="182880"/>
          </a:xfrm>
          <a:prstGeom prst="ellipse">
            <a:avLst/>
          </a:prstGeom>
          <a:solidFill>
            <a:schemeClr val="accent4"/>
          </a:solidFill>
          <a:ln w="12700">
            <a:solidFill>
              <a:schemeClr val="bg1"/>
            </a:solidFill>
            <a:prstDash val="solid"/>
          </a:ln>
        </p:spPr>
      </p:sp>
      <p:sp>
        <p:nvSpPr>
          <p:cNvPr id="47" name="Shape 45"/>
          <p:cNvSpPr/>
          <p:nvPr/>
        </p:nvSpPr>
        <p:spPr>
          <a:xfrm>
            <a:off x="5888736" y="2194560"/>
            <a:ext cx="182880" cy="182880"/>
          </a:xfrm>
          <a:prstGeom prst="ellipse">
            <a:avLst/>
          </a:prstGeom>
          <a:solidFill>
            <a:schemeClr val="accent4"/>
          </a:solidFill>
          <a:ln w="12700">
            <a:solidFill>
              <a:schemeClr val="bg1"/>
            </a:solidFill>
            <a:prstDash val="solid"/>
          </a:ln>
        </p:spPr>
      </p:sp>
      <p:sp>
        <p:nvSpPr>
          <p:cNvPr id="48" name="Shape 46"/>
          <p:cNvSpPr/>
          <p:nvPr/>
        </p:nvSpPr>
        <p:spPr>
          <a:xfrm>
            <a:off x="6236208" y="1755648"/>
            <a:ext cx="182880" cy="182880"/>
          </a:xfrm>
          <a:prstGeom prst="ellipse">
            <a:avLst/>
          </a:prstGeom>
          <a:solidFill>
            <a:schemeClr val="accent4"/>
          </a:solidFill>
          <a:ln w="12700">
            <a:solidFill>
              <a:schemeClr val="bg1"/>
            </a:solidFill>
            <a:prstDash val="solid"/>
          </a:ln>
        </p:spPr>
      </p:sp>
      <p:sp>
        <p:nvSpPr>
          <p:cNvPr id="49" name="Text 47"/>
          <p:cNvSpPr txBox="1"/>
          <p:nvPr/>
        </p:nvSpPr>
        <p:spPr>
          <a:xfrm>
            <a:off x="4864608" y="2743200"/>
            <a:ext cx="1545336" cy="292608"/>
          </a:xfrm>
          <a:prstGeom prst="rect">
            <a:avLst/>
          </a:prstGeom>
          <a:noFill/>
          <a:ln/>
        </p:spPr>
        <p:txBody>
          <a:bodyPr wrap="square" lIns="0" tIns="0" rIns="0" bIns="0" rtlCol="0" anchor="t"/>
          <a:lstStyle/>
          <a:p>
            <a:pPr indent="0" marL="0">
              <a:buNone/>
            </a:pPr>
            <a:r>
              <a:rPr lang="en-US" sz="1400" b="1" dirty="0">
                <a:solidFill>
                  <a:schemeClr val="tx1"/>
                </a:solidFill>
              </a:rPr>
              <a:t>Layering chain</a:t>
            </a:r>
            <a:endParaRPr lang="en-US" sz="1400" dirty="0"/>
          </a:p>
        </p:txBody>
      </p:sp>
      <p:sp>
        <p:nvSpPr>
          <p:cNvPr id="50" name="Text 48"/>
          <p:cNvSpPr txBox="1"/>
          <p:nvPr/>
        </p:nvSpPr>
        <p:spPr>
          <a:xfrm>
            <a:off x="4864608" y="3063240"/>
            <a:ext cx="1545336" cy="868680"/>
          </a:xfrm>
          <a:prstGeom prst="rect">
            <a:avLst/>
          </a:prstGeom>
          <a:noFill/>
          <a:ln/>
        </p:spPr>
        <p:txBody>
          <a:bodyPr wrap="square" lIns="0" tIns="0" rIns="0" bIns="0" rtlCol="0" anchor="t"/>
          <a:lstStyle/>
          <a:p>
            <a:pPr indent="0" marL="0">
              <a:buNone/>
            </a:pPr>
            <a:r>
              <a:rPr lang="en-US" sz="1200" dirty="0">
                <a:solidFill>
                  <a:schemeClr val="accent6"/>
                </a:solidFill>
              </a:rPr>
              <a:t>A large sum hops through 4+ accounts fast, keeping most of its value.</a:t>
            </a:r>
            <a:endParaRPr lang="en-US" sz="1200" dirty="0"/>
          </a:p>
        </p:txBody>
      </p:sp>
      <p:sp>
        <p:nvSpPr>
          <p:cNvPr id="51" name="Shape 49"/>
          <p:cNvSpPr/>
          <p:nvPr/>
        </p:nvSpPr>
        <p:spPr>
          <a:xfrm>
            <a:off x="4828032" y="4005072"/>
            <a:ext cx="1618488" cy="475488"/>
          </a:xfrm>
          <a:prstGeom prst="roundRect">
            <a:avLst>
              <a:gd name="adj" fmla="val 11538"/>
            </a:avLst>
          </a:prstGeom>
          <a:solidFill>
            <a:schemeClr val="accent4">
              <a:alpha val="18000"/>
            </a:schemeClr>
          </a:solidFill>
          <a:ln/>
        </p:spPr>
      </p:sp>
      <p:sp>
        <p:nvSpPr>
          <p:cNvPr id="52" name="Text 50"/>
          <p:cNvSpPr txBox="1"/>
          <p:nvPr/>
        </p:nvSpPr>
        <p:spPr>
          <a:xfrm>
            <a:off x="4901184" y="4005072"/>
            <a:ext cx="1472184" cy="475488"/>
          </a:xfrm>
          <a:prstGeom prst="rect">
            <a:avLst/>
          </a:prstGeom>
          <a:noFill/>
          <a:ln/>
        </p:spPr>
        <p:txBody>
          <a:bodyPr wrap="square" lIns="0" tIns="0" rIns="0" bIns="0" rtlCol="0" anchor="ctr"/>
          <a:lstStyle/>
          <a:p>
            <a:pPr indent="0" marL="0">
              <a:buNone/>
            </a:pPr>
            <a:r>
              <a:rPr lang="en-US" sz="1000" b="1" dirty="0">
                <a:solidFill>
                  <a:schemeClr val="tx1"/>
                </a:solidFill>
              </a:rPr>
              <a:t>Each hop ≤24 h later, keeps ≥85%</a:t>
            </a:r>
            <a:endParaRPr lang="en-US" sz="1000" dirty="0"/>
          </a:p>
        </p:txBody>
      </p:sp>
      <p:sp>
        <p:nvSpPr>
          <p:cNvPr id="53" name="Shape 51"/>
          <p:cNvSpPr/>
          <p:nvPr/>
        </p:nvSpPr>
        <p:spPr>
          <a:xfrm>
            <a:off x="6821424" y="1280160"/>
            <a:ext cx="1874520" cy="3337560"/>
          </a:xfrm>
          <a:prstGeom prst="roundRect">
            <a:avLst>
              <a:gd name="adj" fmla="val 3902"/>
            </a:avLst>
          </a:prstGeom>
          <a:solidFill>
            <a:schemeClr val="bg2"/>
          </a:solidFill>
          <a:ln/>
        </p:spPr>
      </p:sp>
      <p:sp>
        <p:nvSpPr>
          <p:cNvPr id="54" name="Shape 52"/>
          <p:cNvSpPr/>
          <p:nvPr/>
        </p:nvSpPr>
        <p:spPr>
          <a:xfrm>
            <a:off x="7842739" y="1711687"/>
            <a:ext cx="270802" cy="270802"/>
          </a:xfrm>
          <a:prstGeom prst="line">
            <a:avLst/>
          </a:prstGeom>
          <a:noFill/>
          <a:ln w="12700">
            <a:solidFill>
              <a:schemeClr val="accent6"/>
            </a:solidFill>
            <a:prstDash val="solid"/>
            <a:tailEnd type="triangle"/>
          </a:ln>
        </p:spPr>
      </p:sp>
      <p:sp>
        <p:nvSpPr>
          <p:cNvPr id="55" name="Shape 53"/>
          <p:cNvSpPr/>
          <p:nvPr/>
        </p:nvSpPr>
        <p:spPr>
          <a:xfrm flipH="1">
            <a:off x="7842739" y="2150599"/>
            <a:ext cx="270802" cy="270802"/>
          </a:xfrm>
          <a:prstGeom prst="line">
            <a:avLst/>
          </a:prstGeom>
          <a:noFill/>
          <a:ln w="12700">
            <a:solidFill>
              <a:schemeClr val="accent6"/>
            </a:solidFill>
            <a:prstDash val="solid"/>
            <a:tailEnd type="triangle"/>
          </a:ln>
        </p:spPr>
      </p:sp>
      <p:sp>
        <p:nvSpPr>
          <p:cNvPr id="56" name="Shape 54"/>
          <p:cNvSpPr/>
          <p:nvPr/>
        </p:nvSpPr>
        <p:spPr>
          <a:xfrm flipH="1" flipV="1">
            <a:off x="7403827" y="2150599"/>
            <a:ext cx="270802" cy="270802"/>
          </a:xfrm>
          <a:prstGeom prst="line">
            <a:avLst/>
          </a:prstGeom>
          <a:noFill/>
          <a:ln w="12700">
            <a:solidFill>
              <a:schemeClr val="accent6"/>
            </a:solidFill>
            <a:prstDash val="solid"/>
            <a:tailEnd type="triangle"/>
          </a:ln>
        </p:spPr>
      </p:sp>
      <p:sp>
        <p:nvSpPr>
          <p:cNvPr id="57" name="Shape 55"/>
          <p:cNvSpPr/>
          <p:nvPr/>
        </p:nvSpPr>
        <p:spPr>
          <a:xfrm flipV="1">
            <a:off x="7403827" y="1711687"/>
            <a:ext cx="270802" cy="270802"/>
          </a:xfrm>
          <a:prstGeom prst="line">
            <a:avLst/>
          </a:prstGeom>
          <a:noFill/>
          <a:ln w="12700">
            <a:solidFill>
              <a:schemeClr val="accent6"/>
            </a:solidFill>
            <a:prstDash val="solid"/>
            <a:tailEnd type="triangle"/>
          </a:ln>
        </p:spPr>
      </p:sp>
      <p:sp>
        <p:nvSpPr>
          <p:cNvPr id="58" name="Shape 56"/>
          <p:cNvSpPr/>
          <p:nvPr/>
        </p:nvSpPr>
        <p:spPr>
          <a:xfrm>
            <a:off x="7667244" y="1536192"/>
            <a:ext cx="182880" cy="182880"/>
          </a:xfrm>
          <a:prstGeom prst="ellipse">
            <a:avLst/>
          </a:prstGeom>
          <a:solidFill>
            <a:schemeClr val="accent2"/>
          </a:solidFill>
          <a:ln w="12700">
            <a:solidFill>
              <a:schemeClr val="bg1"/>
            </a:solidFill>
            <a:prstDash val="solid"/>
          </a:ln>
        </p:spPr>
      </p:sp>
      <p:sp>
        <p:nvSpPr>
          <p:cNvPr id="59" name="Shape 57"/>
          <p:cNvSpPr/>
          <p:nvPr/>
        </p:nvSpPr>
        <p:spPr>
          <a:xfrm>
            <a:off x="8106156" y="1975104"/>
            <a:ext cx="182880" cy="182880"/>
          </a:xfrm>
          <a:prstGeom prst="ellipse">
            <a:avLst/>
          </a:prstGeom>
          <a:solidFill>
            <a:schemeClr val="accent2"/>
          </a:solidFill>
          <a:ln w="12700">
            <a:solidFill>
              <a:schemeClr val="bg1"/>
            </a:solidFill>
            <a:prstDash val="solid"/>
          </a:ln>
        </p:spPr>
      </p:sp>
      <p:sp>
        <p:nvSpPr>
          <p:cNvPr id="60" name="Shape 58"/>
          <p:cNvSpPr/>
          <p:nvPr/>
        </p:nvSpPr>
        <p:spPr>
          <a:xfrm>
            <a:off x="7667244" y="2414016"/>
            <a:ext cx="182880" cy="182880"/>
          </a:xfrm>
          <a:prstGeom prst="ellipse">
            <a:avLst/>
          </a:prstGeom>
          <a:solidFill>
            <a:schemeClr val="accent2"/>
          </a:solidFill>
          <a:ln w="12700">
            <a:solidFill>
              <a:schemeClr val="bg1"/>
            </a:solidFill>
            <a:prstDash val="solid"/>
          </a:ln>
        </p:spPr>
      </p:sp>
      <p:sp>
        <p:nvSpPr>
          <p:cNvPr id="61" name="Shape 59"/>
          <p:cNvSpPr/>
          <p:nvPr/>
        </p:nvSpPr>
        <p:spPr>
          <a:xfrm>
            <a:off x="7228332" y="1975104"/>
            <a:ext cx="182880" cy="182880"/>
          </a:xfrm>
          <a:prstGeom prst="ellipse">
            <a:avLst/>
          </a:prstGeom>
          <a:solidFill>
            <a:schemeClr val="accent2"/>
          </a:solidFill>
          <a:ln w="12700">
            <a:solidFill>
              <a:schemeClr val="bg1"/>
            </a:solidFill>
            <a:prstDash val="solid"/>
          </a:ln>
        </p:spPr>
      </p:sp>
      <p:sp>
        <p:nvSpPr>
          <p:cNvPr id="62" name="Text 60"/>
          <p:cNvSpPr txBox="1"/>
          <p:nvPr/>
        </p:nvSpPr>
        <p:spPr>
          <a:xfrm>
            <a:off x="6986016" y="2743200"/>
            <a:ext cx="1545336" cy="292608"/>
          </a:xfrm>
          <a:prstGeom prst="rect">
            <a:avLst/>
          </a:prstGeom>
          <a:noFill/>
          <a:ln/>
        </p:spPr>
        <p:txBody>
          <a:bodyPr wrap="square" lIns="0" tIns="0" rIns="0" bIns="0" rtlCol="0" anchor="t"/>
          <a:lstStyle/>
          <a:p>
            <a:pPr indent="0" marL="0">
              <a:buNone/>
            </a:pPr>
            <a:r>
              <a:rPr lang="en-US" sz="1400" b="1" dirty="0">
                <a:solidFill>
                  <a:schemeClr val="tx1"/>
                </a:solidFill>
              </a:rPr>
              <a:t>Round-trip cycle</a:t>
            </a:r>
            <a:endParaRPr lang="en-US" sz="1400" dirty="0"/>
          </a:p>
        </p:txBody>
      </p:sp>
      <p:sp>
        <p:nvSpPr>
          <p:cNvPr id="63" name="Text 61"/>
          <p:cNvSpPr txBox="1"/>
          <p:nvPr/>
        </p:nvSpPr>
        <p:spPr>
          <a:xfrm>
            <a:off x="6986016" y="3063240"/>
            <a:ext cx="1545336" cy="868680"/>
          </a:xfrm>
          <a:prstGeom prst="rect">
            <a:avLst/>
          </a:prstGeom>
          <a:noFill/>
          <a:ln/>
        </p:spPr>
        <p:txBody>
          <a:bodyPr wrap="square" lIns="0" tIns="0" rIns="0" bIns="0" rtlCol="0" anchor="t"/>
          <a:lstStyle/>
          <a:p>
            <a:pPr indent="0" marL="0">
              <a:buNone/>
            </a:pPr>
            <a:r>
              <a:rPr lang="en-US" sz="1200" dirty="0">
                <a:solidFill>
                  <a:schemeClr val="accent6"/>
                </a:solidFill>
              </a:rPr>
              <a:t>Money returns to where it started, faking turnover or hiding its origin.</a:t>
            </a:r>
            <a:endParaRPr lang="en-US" sz="1200" dirty="0"/>
          </a:p>
        </p:txBody>
      </p:sp>
      <p:sp>
        <p:nvSpPr>
          <p:cNvPr id="64" name="Shape 62"/>
          <p:cNvSpPr/>
          <p:nvPr/>
        </p:nvSpPr>
        <p:spPr>
          <a:xfrm>
            <a:off x="6949440" y="4005072"/>
            <a:ext cx="1618488" cy="475488"/>
          </a:xfrm>
          <a:prstGeom prst="roundRect">
            <a:avLst>
              <a:gd name="adj" fmla="val 11538"/>
            </a:avLst>
          </a:prstGeom>
          <a:solidFill>
            <a:schemeClr val="accent2">
              <a:alpha val="18000"/>
            </a:schemeClr>
          </a:solidFill>
          <a:ln/>
        </p:spPr>
      </p:sp>
      <p:sp>
        <p:nvSpPr>
          <p:cNvPr id="65" name="Text 63"/>
          <p:cNvSpPr txBox="1"/>
          <p:nvPr/>
        </p:nvSpPr>
        <p:spPr>
          <a:xfrm>
            <a:off x="7022592" y="4005072"/>
            <a:ext cx="1472184" cy="475488"/>
          </a:xfrm>
          <a:prstGeom prst="rect">
            <a:avLst/>
          </a:prstGeom>
          <a:noFill/>
          <a:ln/>
        </p:spPr>
        <p:txBody>
          <a:bodyPr wrap="square" lIns="0" tIns="0" rIns="0" bIns="0" rtlCol="0" anchor="ctr"/>
          <a:lstStyle/>
          <a:p>
            <a:pPr indent="0" marL="0">
              <a:buNone/>
            </a:pPr>
            <a:r>
              <a:rPr lang="en-US" sz="1000" b="1" dirty="0">
                <a:solidFill>
                  <a:schemeClr val="tx1"/>
                </a:solidFill>
              </a:rPr>
              <a:t>Loop closes within 7 days, ≥80% kept</a:t>
            </a:r>
            <a:endParaRPr lang="en-US" sz="10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2 · ARCHITECTURE</a:t>
            </a:r>
            <a:endParaRPr lang="en-US" sz="1100" dirty="0"/>
          </a:p>
        </p:txBody>
      </p:sp>
      <p:sp>
        <p:nvSpPr>
          <p:cNvPr id="3" name="Text 0"/>
          <p:cNvSpPr/>
          <p:nvPr>
            <p:ph idx="101" type="title" hasCustomPrompt="1"/>
          </p:nvPr>
        </p:nvSpPr>
        <p:spPr>
          <a:xfrm>
            <a:off x="457200" y="530352"/>
            <a:ext cx="8229600" cy="502920"/>
          </a:xfrm>
          <a:prstGeom prst="rect">
            <a:avLst/>
          </a:prstGeom>
          <a:noFill/>
          <a:ln/>
        </p:spPr>
        <p:txBody>
          <a:bodyPr wrap="square" lIns="0" tIns="0" rIns="0" bIns="0" rtlCol="0" anchor="ctr"/>
          <a:lstStyle/>
          <a:p>
            <a:pPr algn="l" indent="0" marL="0">
              <a:buNone/>
            </a:pPr>
            <a:r>
              <a:rPr lang="en-US" sz="2400" b="1" dirty="0">
                <a:solidFill>
                  <a:schemeClr val="tx1"/>
                </a:solidFill>
              </a:rPr>
              <a:t>Everything runs inside Snowflake's governed boundary</a:t>
            </a:r>
            <a:endParaRPr lang="en-US" sz="2400" dirty="0"/>
          </a:p>
        </p:txBody>
      </p:sp>
      <p:sp>
        <p:nvSpPr>
          <p:cNvPr id="4" name="Text 2"/>
          <p:cNvSpPr txBox="1"/>
          <p:nvPr/>
        </p:nvSpPr>
        <p:spPr>
          <a:xfrm>
            <a:off x="457200" y="1161288"/>
            <a:ext cx="1417320" cy="237744"/>
          </a:xfrm>
          <a:prstGeom prst="rect">
            <a:avLst/>
          </a:prstGeom>
          <a:noFill/>
          <a:ln/>
        </p:spPr>
        <p:txBody>
          <a:bodyPr wrap="square" lIns="0" tIns="0" rIns="0" bIns="0" rtlCol="0" anchor="t"/>
          <a:lstStyle/>
          <a:p>
            <a:pPr indent="0" marL="0">
              <a:buNone/>
            </a:pPr>
            <a:r>
              <a:rPr lang="en-US" sz="1100" b="1" dirty="0">
                <a:solidFill>
                  <a:schemeClr val="accent6"/>
                </a:solidFill>
              </a:rPr>
              <a:t>1  Sources</a:t>
            </a:r>
            <a:endParaRPr lang="en-US" sz="1100" dirty="0"/>
          </a:p>
        </p:txBody>
      </p:sp>
      <p:sp>
        <p:nvSpPr>
          <p:cNvPr id="5" name="Text 3"/>
          <p:cNvSpPr txBox="1"/>
          <p:nvPr/>
        </p:nvSpPr>
        <p:spPr>
          <a:xfrm>
            <a:off x="2121408" y="1161288"/>
            <a:ext cx="1417320" cy="237744"/>
          </a:xfrm>
          <a:prstGeom prst="rect">
            <a:avLst/>
          </a:prstGeom>
          <a:noFill/>
          <a:ln/>
        </p:spPr>
        <p:txBody>
          <a:bodyPr wrap="square" lIns="0" tIns="0" rIns="0" bIns="0" rtlCol="0" anchor="t"/>
          <a:lstStyle/>
          <a:p>
            <a:pPr indent="0" marL="0">
              <a:buNone/>
            </a:pPr>
            <a:r>
              <a:rPr lang="en-US" sz="1100" b="1" dirty="0">
                <a:solidFill>
                  <a:schemeClr val="accent6"/>
                </a:solidFill>
              </a:rPr>
              <a:t>2  Ingest</a:t>
            </a:r>
            <a:endParaRPr lang="en-US" sz="1100" dirty="0"/>
          </a:p>
        </p:txBody>
      </p:sp>
      <p:sp>
        <p:nvSpPr>
          <p:cNvPr id="6" name="Text 4"/>
          <p:cNvSpPr txBox="1"/>
          <p:nvPr/>
        </p:nvSpPr>
        <p:spPr>
          <a:xfrm>
            <a:off x="3785616" y="1161288"/>
            <a:ext cx="1417320" cy="237744"/>
          </a:xfrm>
          <a:prstGeom prst="rect">
            <a:avLst/>
          </a:prstGeom>
          <a:noFill/>
          <a:ln/>
        </p:spPr>
        <p:txBody>
          <a:bodyPr wrap="square" lIns="0" tIns="0" rIns="0" bIns="0" rtlCol="0" anchor="t"/>
          <a:lstStyle/>
          <a:p>
            <a:pPr indent="0" marL="0">
              <a:buNone/>
            </a:pPr>
            <a:r>
              <a:rPr lang="en-US" sz="1100" b="1" dirty="0">
                <a:solidFill>
                  <a:schemeClr val="accent6"/>
                </a:solidFill>
              </a:rPr>
              <a:t>3  Prepare &amp; detect</a:t>
            </a:r>
            <a:endParaRPr lang="en-US" sz="1100" dirty="0"/>
          </a:p>
        </p:txBody>
      </p:sp>
      <p:sp>
        <p:nvSpPr>
          <p:cNvPr id="7" name="Text 5"/>
          <p:cNvSpPr txBox="1"/>
          <p:nvPr/>
        </p:nvSpPr>
        <p:spPr>
          <a:xfrm>
            <a:off x="5449824" y="1161288"/>
            <a:ext cx="1417320" cy="237744"/>
          </a:xfrm>
          <a:prstGeom prst="rect">
            <a:avLst/>
          </a:prstGeom>
          <a:noFill/>
          <a:ln/>
        </p:spPr>
        <p:txBody>
          <a:bodyPr wrap="square" lIns="0" tIns="0" rIns="0" bIns="0" rtlCol="0" anchor="t"/>
          <a:lstStyle/>
          <a:p>
            <a:pPr indent="0" marL="0">
              <a:buNone/>
            </a:pPr>
            <a:r>
              <a:rPr lang="en-US" sz="1100" b="1" dirty="0">
                <a:solidFill>
                  <a:schemeClr val="accent6"/>
                </a:solidFill>
              </a:rPr>
              <a:t>4  Reason</a:t>
            </a:r>
            <a:endParaRPr lang="en-US" sz="1100" dirty="0"/>
          </a:p>
        </p:txBody>
      </p:sp>
      <p:sp>
        <p:nvSpPr>
          <p:cNvPr id="8" name="Text 6"/>
          <p:cNvSpPr txBox="1"/>
          <p:nvPr/>
        </p:nvSpPr>
        <p:spPr>
          <a:xfrm>
            <a:off x="7114032" y="1161288"/>
            <a:ext cx="1417320" cy="237744"/>
          </a:xfrm>
          <a:prstGeom prst="rect">
            <a:avLst/>
          </a:prstGeom>
          <a:noFill/>
          <a:ln/>
        </p:spPr>
        <p:txBody>
          <a:bodyPr wrap="square" lIns="0" tIns="0" rIns="0" bIns="0" rtlCol="0" anchor="t"/>
          <a:lstStyle/>
          <a:p>
            <a:pPr indent="0" marL="0">
              <a:buNone/>
            </a:pPr>
            <a:r>
              <a:rPr lang="en-US" sz="1100" b="1" dirty="0">
                <a:solidFill>
                  <a:schemeClr val="accent6"/>
                </a:solidFill>
              </a:rPr>
              <a:t>5  Act</a:t>
            </a:r>
            <a:endParaRPr lang="en-US" sz="1100" dirty="0"/>
          </a:p>
        </p:txBody>
      </p:sp>
      <p:sp>
        <p:nvSpPr>
          <p:cNvPr id="9" name="Shape 7"/>
          <p:cNvSpPr/>
          <p:nvPr/>
        </p:nvSpPr>
        <p:spPr>
          <a:xfrm>
            <a:off x="2011680" y="1463040"/>
            <a:ext cx="6675120" cy="2807208"/>
          </a:xfrm>
          <a:prstGeom prst="roundRect">
            <a:avLst>
              <a:gd name="adj" fmla="val 1954"/>
            </a:avLst>
          </a:prstGeom>
          <a:ln w="15875">
            <a:solidFill>
              <a:schemeClr val="accent5"/>
            </a:solidFill>
            <a:prstDash val="dash"/>
          </a:ln>
        </p:spPr>
      </p:sp>
      <p:sp>
        <p:nvSpPr>
          <p:cNvPr id="10" name="Shape 8"/>
          <p:cNvSpPr/>
          <p:nvPr/>
        </p:nvSpPr>
        <p:spPr>
          <a:xfrm>
            <a:off x="457200" y="1572768"/>
            <a:ext cx="1417320" cy="960120"/>
          </a:xfrm>
          <a:prstGeom prst="roundRect">
            <a:avLst>
              <a:gd name="adj" fmla="val 7619"/>
            </a:avLst>
          </a:prstGeom>
          <a:solidFill>
            <a:schemeClr val="accent5">
              <a:alpha val="18000"/>
            </a:schemeClr>
          </a:solidFill>
          <a:ln/>
        </p:spPr>
      </p:sp>
      <p:sp>
        <p:nvSpPr>
          <p:cNvPr id="11" name="Text 9"/>
          <p:cNvSpPr txBox="1"/>
          <p:nvPr/>
        </p:nvSpPr>
        <p:spPr>
          <a:xfrm>
            <a:off x="530352" y="1627632"/>
            <a:ext cx="1271016" cy="850392"/>
          </a:xfrm>
          <a:prstGeom prst="rect">
            <a:avLst/>
          </a:prstGeom>
          <a:noFill/>
          <a:ln/>
        </p:spPr>
        <p:txBody>
          <a:bodyPr wrap="square" lIns="0" tIns="0" rIns="0" bIns="0" rtlCol="0" anchor="t"/>
          <a:lstStyle/>
          <a:p>
            <a:pPr indent="0" marL="0">
              <a:buNone/>
            </a:pPr>
            <a:r>
              <a:rPr lang="en-US" sz="1000" b="1" dirty="0">
                <a:solidFill>
                  <a:schemeClr val="tx1"/>
                </a:solidFill>
              </a:rPr>
              <a:t>STRUCTURED</a:t>
            </a:r>
            <a:endParaRPr lang="en-US" sz="1400" dirty="0"/>
          </a:p>
          <a:p>
            <a:pPr indent="0" marL="0">
              <a:buNone/>
            </a:pPr>
            <a:r>
              <a:rPr lang="en-US" sz="1000" dirty="0">
                <a:solidFill>
                  <a:schemeClr val="tx1"/>
                </a:solidFill>
              </a:rPr>
              <a:t>Core banking &amp; UPI transactions; accounts &amp; KYC</a:t>
            </a:r>
            <a:endParaRPr lang="en-US" sz="1400" dirty="0"/>
          </a:p>
        </p:txBody>
      </p:sp>
      <p:sp>
        <p:nvSpPr>
          <p:cNvPr id="12" name="Shape 10"/>
          <p:cNvSpPr/>
          <p:nvPr/>
        </p:nvSpPr>
        <p:spPr>
          <a:xfrm>
            <a:off x="457200" y="2651760"/>
            <a:ext cx="1417320" cy="960120"/>
          </a:xfrm>
          <a:prstGeom prst="roundRect">
            <a:avLst>
              <a:gd name="adj" fmla="val 7619"/>
            </a:avLst>
          </a:prstGeom>
          <a:solidFill>
            <a:schemeClr val="accent4">
              <a:alpha val="16000"/>
            </a:schemeClr>
          </a:solidFill>
          <a:ln/>
        </p:spPr>
      </p:sp>
      <p:sp>
        <p:nvSpPr>
          <p:cNvPr id="13" name="Text 11"/>
          <p:cNvSpPr txBox="1"/>
          <p:nvPr/>
        </p:nvSpPr>
        <p:spPr>
          <a:xfrm>
            <a:off x="530352" y="2706624"/>
            <a:ext cx="1271016" cy="850392"/>
          </a:xfrm>
          <a:prstGeom prst="rect">
            <a:avLst/>
          </a:prstGeom>
          <a:noFill/>
          <a:ln/>
        </p:spPr>
        <p:txBody>
          <a:bodyPr wrap="square" lIns="0" tIns="0" rIns="0" bIns="0" rtlCol="0" anchor="t"/>
          <a:lstStyle/>
          <a:p>
            <a:pPr indent="0" marL="0">
              <a:buNone/>
            </a:pPr>
            <a:r>
              <a:rPr lang="en-US" sz="1000" b="1" dirty="0">
                <a:solidFill>
                  <a:schemeClr val="tx1"/>
                </a:solidFill>
              </a:rPr>
              <a:t>UNSTRUCTURED</a:t>
            </a:r>
            <a:endParaRPr lang="en-US" sz="1400" dirty="0"/>
          </a:p>
          <a:p>
            <a:pPr indent="0" marL="0">
              <a:buNone/>
            </a:pPr>
            <a:r>
              <a:rPr lang="en-US" sz="1000" dirty="0">
                <a:solidFill>
                  <a:schemeClr val="tx1"/>
                </a:solidFill>
              </a:rPr>
              <a:t>AML policy, RBI circulars, FIU-IND STR formats, case notes (PDF)</a:t>
            </a:r>
            <a:endParaRPr lang="en-US" sz="1400" dirty="0"/>
          </a:p>
        </p:txBody>
      </p:sp>
      <p:sp>
        <p:nvSpPr>
          <p:cNvPr id="14" name="Shape 12"/>
          <p:cNvSpPr/>
          <p:nvPr/>
        </p:nvSpPr>
        <p:spPr>
          <a:xfrm>
            <a:off x="2121408" y="1572768"/>
            <a:ext cx="1417320" cy="960120"/>
          </a:xfrm>
          <a:prstGeom prst="roundRect">
            <a:avLst>
              <a:gd name="adj" fmla="val 7619"/>
            </a:avLst>
          </a:prstGeom>
          <a:solidFill>
            <a:schemeClr val="accent5">
              <a:alpha val="18000"/>
            </a:schemeClr>
          </a:solidFill>
          <a:ln/>
        </p:spPr>
      </p:sp>
      <p:sp>
        <p:nvSpPr>
          <p:cNvPr id="15" name="Text 13"/>
          <p:cNvSpPr txBox="1"/>
          <p:nvPr/>
        </p:nvSpPr>
        <p:spPr>
          <a:xfrm>
            <a:off x="2194560" y="1627632"/>
            <a:ext cx="1271016" cy="850392"/>
          </a:xfrm>
          <a:prstGeom prst="rect">
            <a:avLst/>
          </a:prstGeom>
          <a:noFill/>
          <a:ln/>
        </p:spPr>
        <p:txBody>
          <a:bodyPr wrap="square" lIns="0" tIns="0" rIns="0" bIns="0" rtlCol="0" anchor="t"/>
          <a:lstStyle/>
          <a:p>
            <a:pPr indent="0" marL="0">
              <a:buNone/>
            </a:pPr>
            <a:r>
              <a:rPr lang="en-US" sz="1000" b="1" dirty="0">
                <a:solidFill>
                  <a:schemeClr val="tx1"/>
                </a:solidFill>
              </a:rPr>
              <a:t>Openflow</a:t>
            </a:r>
            <a:endParaRPr lang="en-US" sz="1400" dirty="0"/>
          </a:p>
          <a:p>
            <a:pPr indent="0" marL="0">
              <a:buNone/>
            </a:pPr>
            <a:r>
              <a:rPr lang="en-US" sz="1000" dirty="0">
                <a:solidFill>
                  <a:schemeClr val="tx1"/>
                </a:solidFill>
              </a:rPr>
              <a:t>Connectors land RAW.TRANSACTIONS and RAW.ACCOUNTS</a:t>
            </a:r>
            <a:endParaRPr lang="en-US" sz="1400" dirty="0"/>
          </a:p>
        </p:txBody>
      </p:sp>
      <p:sp>
        <p:nvSpPr>
          <p:cNvPr id="16" name="Shape 14"/>
          <p:cNvSpPr/>
          <p:nvPr/>
        </p:nvSpPr>
        <p:spPr>
          <a:xfrm>
            <a:off x="2121408" y="2651760"/>
            <a:ext cx="1417320" cy="960120"/>
          </a:xfrm>
          <a:prstGeom prst="roundRect">
            <a:avLst>
              <a:gd name="adj" fmla="val 7619"/>
            </a:avLst>
          </a:prstGeom>
          <a:solidFill>
            <a:schemeClr val="accent4">
              <a:alpha val="16000"/>
            </a:schemeClr>
          </a:solidFill>
          <a:ln/>
        </p:spPr>
      </p:sp>
      <p:sp>
        <p:nvSpPr>
          <p:cNvPr id="17" name="Text 15"/>
          <p:cNvSpPr txBox="1"/>
          <p:nvPr/>
        </p:nvSpPr>
        <p:spPr>
          <a:xfrm>
            <a:off x="2194560" y="2706624"/>
            <a:ext cx="1271016" cy="850392"/>
          </a:xfrm>
          <a:prstGeom prst="rect">
            <a:avLst/>
          </a:prstGeom>
          <a:noFill/>
          <a:ln/>
        </p:spPr>
        <p:txBody>
          <a:bodyPr wrap="square" lIns="0" tIns="0" rIns="0" bIns="0" rtlCol="0" anchor="t"/>
          <a:lstStyle/>
          <a:p>
            <a:pPr indent="0" marL="0">
              <a:buNone/>
            </a:pPr>
            <a:r>
              <a:rPr lang="en-US" sz="1000" b="1" dirty="0">
                <a:solidFill>
                  <a:schemeClr val="tx1"/>
                </a:solidFill>
              </a:rPr>
              <a:t>Stage + AI_PARSE_DOCUMENT</a:t>
            </a:r>
            <a:endParaRPr lang="en-US" sz="1400" dirty="0"/>
          </a:p>
          <a:p>
            <a:pPr indent="0" marL="0">
              <a:buNone/>
            </a:pPr>
            <a:r>
              <a:rPr lang="en-US" sz="1000" dirty="0">
                <a:solidFill>
                  <a:schemeClr val="tx1"/>
                </a:solidFill>
              </a:rPr>
              <a:t>PDFs parsed into POLICY_CHUNKS</a:t>
            </a:r>
            <a:endParaRPr lang="en-US" sz="1400" dirty="0"/>
          </a:p>
        </p:txBody>
      </p:sp>
      <p:sp>
        <p:nvSpPr>
          <p:cNvPr id="18" name="Shape 16"/>
          <p:cNvSpPr/>
          <p:nvPr/>
        </p:nvSpPr>
        <p:spPr>
          <a:xfrm>
            <a:off x="3785616" y="1572768"/>
            <a:ext cx="1417320" cy="960120"/>
          </a:xfrm>
          <a:prstGeom prst="roundRect">
            <a:avLst>
              <a:gd name="adj" fmla="val 7619"/>
            </a:avLst>
          </a:prstGeom>
          <a:solidFill>
            <a:schemeClr val="accent5">
              <a:alpha val="18000"/>
            </a:schemeClr>
          </a:solidFill>
          <a:ln/>
        </p:spPr>
      </p:sp>
      <p:sp>
        <p:nvSpPr>
          <p:cNvPr id="19" name="Text 17"/>
          <p:cNvSpPr txBox="1"/>
          <p:nvPr/>
        </p:nvSpPr>
        <p:spPr>
          <a:xfrm>
            <a:off x="3858768" y="1627632"/>
            <a:ext cx="1271016" cy="850392"/>
          </a:xfrm>
          <a:prstGeom prst="rect">
            <a:avLst/>
          </a:prstGeom>
          <a:noFill/>
          <a:ln/>
        </p:spPr>
        <p:txBody>
          <a:bodyPr wrap="square" lIns="0" tIns="0" rIns="0" bIns="0" rtlCol="0" anchor="t"/>
          <a:lstStyle/>
          <a:p>
            <a:pPr indent="0" marL="0">
              <a:buNone/>
            </a:pPr>
            <a:r>
              <a:rPr lang="en-US" sz="1000" b="1" dirty="0">
                <a:solidFill>
                  <a:schemeClr val="tx1"/>
                </a:solidFill>
              </a:rPr>
              <a:t>Dynamic Tables + Snowpark</a:t>
            </a:r>
            <a:endParaRPr lang="en-US" sz="1400" dirty="0"/>
          </a:p>
          <a:p>
            <a:pPr indent="0" marL="0">
              <a:buNone/>
            </a:pPr>
            <a:r>
              <a:rPr lang="en-US" sz="1000" dirty="0">
                <a:solidFill>
                  <a:schemeClr val="tx1"/>
                </a:solidFill>
              </a:rPr>
              <a:t>Flow features, then graph detector writes ALERTS + risk scores</a:t>
            </a:r>
            <a:endParaRPr lang="en-US" sz="1400" dirty="0"/>
          </a:p>
        </p:txBody>
      </p:sp>
      <p:sp>
        <p:nvSpPr>
          <p:cNvPr id="20" name="Shape 18"/>
          <p:cNvSpPr/>
          <p:nvPr/>
        </p:nvSpPr>
        <p:spPr>
          <a:xfrm>
            <a:off x="3785616" y="2651760"/>
            <a:ext cx="1417320" cy="960120"/>
          </a:xfrm>
          <a:prstGeom prst="roundRect">
            <a:avLst>
              <a:gd name="adj" fmla="val 7619"/>
            </a:avLst>
          </a:prstGeom>
          <a:solidFill>
            <a:schemeClr val="accent4">
              <a:alpha val="16000"/>
            </a:schemeClr>
          </a:solidFill>
          <a:ln/>
        </p:spPr>
      </p:sp>
      <p:sp>
        <p:nvSpPr>
          <p:cNvPr id="21" name="Text 19"/>
          <p:cNvSpPr txBox="1"/>
          <p:nvPr/>
        </p:nvSpPr>
        <p:spPr>
          <a:xfrm>
            <a:off x="3858768" y="2706624"/>
            <a:ext cx="1271016" cy="850392"/>
          </a:xfrm>
          <a:prstGeom prst="rect">
            <a:avLst/>
          </a:prstGeom>
          <a:noFill/>
          <a:ln/>
        </p:spPr>
        <p:txBody>
          <a:bodyPr wrap="square" lIns="0" tIns="0" rIns="0" bIns="0" rtlCol="0" anchor="t"/>
          <a:lstStyle/>
          <a:p>
            <a:pPr indent="0" marL="0">
              <a:buNone/>
            </a:pPr>
            <a:r>
              <a:rPr lang="en-US" sz="1000" b="1" dirty="0">
                <a:solidFill>
                  <a:schemeClr val="tx1"/>
                </a:solidFill>
              </a:rPr>
              <a:t>Cortex Search</a:t>
            </a:r>
            <a:endParaRPr lang="en-US" sz="1400" dirty="0"/>
          </a:p>
          <a:p>
            <a:pPr indent="0" marL="0">
              <a:buNone/>
            </a:pPr>
            <a:r>
              <a:rPr lang="en-US" sz="1000" dirty="0">
                <a:solidFill>
                  <a:schemeClr val="tx1"/>
                </a:solidFill>
              </a:rPr>
              <a:t>Search service over POLICY_CHUNKS</a:t>
            </a:r>
            <a:endParaRPr lang="en-US" sz="1400" dirty="0"/>
          </a:p>
        </p:txBody>
      </p:sp>
      <p:sp>
        <p:nvSpPr>
          <p:cNvPr id="22" name="Shape 20"/>
          <p:cNvSpPr/>
          <p:nvPr/>
        </p:nvSpPr>
        <p:spPr>
          <a:xfrm>
            <a:off x="5449824" y="1572768"/>
            <a:ext cx="1417320" cy="2039112"/>
          </a:xfrm>
          <a:prstGeom prst="roundRect">
            <a:avLst>
              <a:gd name="adj" fmla="val 5161"/>
            </a:avLst>
          </a:prstGeom>
          <a:solidFill>
            <a:schemeClr val="tx2"/>
          </a:solidFill>
          <a:ln/>
        </p:spPr>
      </p:sp>
      <p:sp>
        <p:nvSpPr>
          <p:cNvPr id="23" name="Text 21"/>
          <p:cNvSpPr txBox="1"/>
          <p:nvPr/>
        </p:nvSpPr>
        <p:spPr>
          <a:xfrm>
            <a:off x="5522976" y="1627632"/>
            <a:ext cx="1271016" cy="1929384"/>
          </a:xfrm>
          <a:prstGeom prst="rect">
            <a:avLst/>
          </a:prstGeom>
          <a:noFill/>
          <a:ln/>
        </p:spPr>
        <p:txBody>
          <a:bodyPr wrap="square" lIns="0" tIns="0" rIns="0" bIns="0" rtlCol="0" anchor="t"/>
          <a:lstStyle/>
          <a:p>
            <a:pPr indent="0" marL="0">
              <a:buNone/>
            </a:pPr>
            <a:r>
              <a:rPr lang="en-US" sz="1000" b="1" dirty="0">
                <a:solidFill>
                  <a:schemeClr val="accent5"/>
                </a:solidFill>
              </a:rPr>
              <a:t>Cortex Agent</a:t>
            </a:r>
            <a:endParaRPr lang="en-US" sz="1400" dirty="0"/>
          </a:p>
          <a:p>
            <a:pPr indent="0" marL="0">
              <a:buNone/>
            </a:pPr>
            <a:r>
              <a:rPr lang="en-US" sz="1000" dirty="0">
                <a:solidFill>
                  <a:schemeClr val="bg1"/>
                </a:solidFill>
              </a:rPr>
              <a:t>• Cortex Analyst on a semantic view (SQL over txns &amp; alerts)</a:t>
            </a:r>
            <a:endParaRPr lang="en-US" sz="1400" dirty="0"/>
          </a:p>
          <a:p>
            <a:pPr indent="0" marL="0">
              <a:buNone/>
            </a:pPr>
            <a:r>
              <a:rPr lang="en-US" sz="1000" dirty="0">
                <a:solidFill>
                  <a:schemeClr val="bg1"/>
                </a:solidFill>
              </a:rPr>
              <a:t>• Cortex Search for policy evidence</a:t>
            </a:r>
            <a:endParaRPr lang="en-US" sz="1400" dirty="0"/>
          </a:p>
          <a:p>
            <a:pPr indent="0" marL="0">
              <a:buNone/>
            </a:pPr>
            <a:r>
              <a:rPr lang="en-US" sz="1000" dirty="0">
                <a:solidFill>
                  <a:schemeClr val="bg1"/>
                </a:solidFill>
              </a:rPr>
              <a:t>• AI_COMPLETE to explain and draft STRs</a:t>
            </a:r>
            <a:endParaRPr lang="en-US" sz="1400" dirty="0"/>
          </a:p>
        </p:txBody>
      </p:sp>
      <p:sp>
        <p:nvSpPr>
          <p:cNvPr id="24" name="Shape 22"/>
          <p:cNvSpPr/>
          <p:nvPr/>
        </p:nvSpPr>
        <p:spPr>
          <a:xfrm>
            <a:off x="7114032" y="1572768"/>
            <a:ext cx="1417320" cy="2039112"/>
          </a:xfrm>
          <a:prstGeom prst="roundRect">
            <a:avLst>
              <a:gd name="adj" fmla="val 5161"/>
            </a:avLst>
          </a:prstGeom>
          <a:solidFill>
            <a:schemeClr val="accent2">
              <a:alpha val="16000"/>
            </a:schemeClr>
          </a:solidFill>
          <a:ln/>
        </p:spPr>
      </p:sp>
      <p:sp>
        <p:nvSpPr>
          <p:cNvPr id="25" name="Text 23"/>
          <p:cNvSpPr txBox="1"/>
          <p:nvPr/>
        </p:nvSpPr>
        <p:spPr>
          <a:xfrm>
            <a:off x="7187184" y="1627632"/>
            <a:ext cx="1271016" cy="1929384"/>
          </a:xfrm>
          <a:prstGeom prst="rect">
            <a:avLst/>
          </a:prstGeom>
          <a:noFill/>
          <a:ln/>
        </p:spPr>
        <p:txBody>
          <a:bodyPr wrap="square" lIns="0" tIns="0" rIns="0" bIns="0" rtlCol="0" anchor="t"/>
          <a:lstStyle/>
          <a:p>
            <a:pPr indent="0" marL="0">
              <a:buNone/>
            </a:pPr>
            <a:r>
              <a:rPr lang="en-US" sz="1000" b="1" dirty="0">
                <a:solidFill>
                  <a:schemeClr val="tx1"/>
                </a:solidFill>
              </a:rPr>
              <a:t>MuleTrace app</a:t>
            </a:r>
            <a:endParaRPr lang="en-US" sz="1400" dirty="0"/>
          </a:p>
          <a:p>
            <a:pPr indent="0" marL="0">
              <a:buNone/>
            </a:pPr>
            <a:r>
              <a:rPr lang="en-US" sz="1000" dirty="0">
                <a:solidFill>
                  <a:schemeClr val="tx1"/>
                </a:solidFill>
              </a:rPr>
              <a:t>Svelte + FastAPI on SPCS</a:t>
            </a:r>
            <a:endParaRPr lang="en-US" sz="1400" dirty="0"/>
          </a:p>
          <a:p>
            <a:pPr indent="0" marL="0">
              <a:buNone/>
            </a:pPr>
            <a:r>
              <a:rPr lang="en-US" sz="1000" dirty="0">
                <a:solidFill>
                  <a:schemeClr val="tx1"/>
                </a:solidFill>
              </a:rPr>
              <a:t>• Alert queue</a:t>
            </a:r>
            <a:endParaRPr lang="en-US" sz="1400" dirty="0"/>
          </a:p>
          <a:p>
            <a:pPr indent="0" marL="0">
              <a:buNone/>
            </a:pPr>
            <a:r>
              <a:rPr lang="en-US" sz="1000" dirty="0">
                <a:solidFill>
                  <a:schemeClr val="tx1"/>
                </a:solidFill>
              </a:rPr>
              <a:t>• Network graph</a:t>
            </a:r>
            <a:endParaRPr lang="en-US" sz="1400" dirty="0"/>
          </a:p>
          <a:p>
            <a:pPr indent="0" marL="0">
              <a:buNone/>
            </a:pPr>
            <a:r>
              <a:rPr lang="en-US" sz="1000" dirty="0">
                <a:solidFill>
                  <a:schemeClr val="tx1"/>
                </a:solidFill>
              </a:rPr>
              <a:t>• Chat copilot</a:t>
            </a:r>
            <a:endParaRPr lang="en-US" sz="1400" dirty="0"/>
          </a:p>
          <a:p>
            <a:pPr indent="0" marL="0">
              <a:buNone/>
            </a:pPr>
            <a:r>
              <a:rPr lang="en-US" sz="1000" dirty="0">
                <a:solidFill>
                  <a:schemeClr val="tx1"/>
                </a:solidFill>
              </a:rPr>
              <a:t>• STR draft export</a:t>
            </a:r>
            <a:endParaRPr lang="en-US" sz="1400" dirty="0"/>
          </a:p>
        </p:txBody>
      </p:sp>
      <p:sp>
        <p:nvSpPr>
          <p:cNvPr id="26" name="Shape 24"/>
          <p:cNvSpPr/>
          <p:nvPr/>
        </p:nvSpPr>
        <p:spPr>
          <a:xfrm>
            <a:off x="1892808" y="2052828"/>
            <a:ext cx="210312" cy="914"/>
          </a:xfrm>
          <a:prstGeom prst="line">
            <a:avLst/>
          </a:prstGeom>
          <a:noFill/>
          <a:ln w="15875">
            <a:solidFill>
              <a:schemeClr val="accent6"/>
            </a:solidFill>
            <a:prstDash val="solid"/>
            <a:tailEnd type="triangle"/>
          </a:ln>
        </p:spPr>
      </p:sp>
      <p:sp>
        <p:nvSpPr>
          <p:cNvPr id="27" name="Shape 25"/>
          <p:cNvSpPr/>
          <p:nvPr/>
        </p:nvSpPr>
        <p:spPr>
          <a:xfrm>
            <a:off x="3557016" y="2052828"/>
            <a:ext cx="210312" cy="914"/>
          </a:xfrm>
          <a:prstGeom prst="line">
            <a:avLst/>
          </a:prstGeom>
          <a:noFill/>
          <a:ln w="15875">
            <a:solidFill>
              <a:schemeClr val="accent6"/>
            </a:solidFill>
            <a:prstDash val="solid"/>
            <a:tailEnd type="triangle"/>
          </a:ln>
        </p:spPr>
      </p:sp>
      <p:sp>
        <p:nvSpPr>
          <p:cNvPr id="28" name="Shape 26"/>
          <p:cNvSpPr/>
          <p:nvPr/>
        </p:nvSpPr>
        <p:spPr>
          <a:xfrm>
            <a:off x="5221224" y="2052828"/>
            <a:ext cx="210312" cy="914"/>
          </a:xfrm>
          <a:prstGeom prst="line">
            <a:avLst/>
          </a:prstGeom>
          <a:noFill/>
          <a:ln w="15875">
            <a:solidFill>
              <a:schemeClr val="accent6"/>
            </a:solidFill>
            <a:prstDash val="solid"/>
            <a:tailEnd type="triangle"/>
          </a:ln>
        </p:spPr>
      </p:sp>
      <p:sp>
        <p:nvSpPr>
          <p:cNvPr id="29" name="Shape 27"/>
          <p:cNvSpPr/>
          <p:nvPr/>
        </p:nvSpPr>
        <p:spPr>
          <a:xfrm>
            <a:off x="1892808" y="3131820"/>
            <a:ext cx="210312" cy="914"/>
          </a:xfrm>
          <a:prstGeom prst="line">
            <a:avLst/>
          </a:prstGeom>
          <a:noFill/>
          <a:ln w="15875">
            <a:solidFill>
              <a:schemeClr val="accent6"/>
            </a:solidFill>
            <a:prstDash val="solid"/>
            <a:tailEnd type="triangle"/>
          </a:ln>
        </p:spPr>
      </p:sp>
      <p:sp>
        <p:nvSpPr>
          <p:cNvPr id="30" name="Shape 28"/>
          <p:cNvSpPr/>
          <p:nvPr/>
        </p:nvSpPr>
        <p:spPr>
          <a:xfrm>
            <a:off x="3557016" y="3131820"/>
            <a:ext cx="210312" cy="914"/>
          </a:xfrm>
          <a:prstGeom prst="line">
            <a:avLst/>
          </a:prstGeom>
          <a:noFill/>
          <a:ln w="15875">
            <a:solidFill>
              <a:schemeClr val="accent6"/>
            </a:solidFill>
            <a:prstDash val="solid"/>
            <a:tailEnd type="triangle"/>
          </a:ln>
        </p:spPr>
      </p:sp>
      <p:sp>
        <p:nvSpPr>
          <p:cNvPr id="31" name="Shape 29"/>
          <p:cNvSpPr/>
          <p:nvPr/>
        </p:nvSpPr>
        <p:spPr>
          <a:xfrm>
            <a:off x="5221224" y="3131820"/>
            <a:ext cx="210312" cy="914"/>
          </a:xfrm>
          <a:prstGeom prst="line">
            <a:avLst/>
          </a:prstGeom>
          <a:noFill/>
          <a:ln w="15875">
            <a:solidFill>
              <a:schemeClr val="accent6"/>
            </a:solidFill>
            <a:prstDash val="solid"/>
            <a:tailEnd type="triangle"/>
          </a:ln>
        </p:spPr>
      </p:sp>
      <p:sp>
        <p:nvSpPr>
          <p:cNvPr id="32" name="Shape 30"/>
          <p:cNvSpPr/>
          <p:nvPr/>
        </p:nvSpPr>
        <p:spPr>
          <a:xfrm>
            <a:off x="6885432" y="2592324"/>
            <a:ext cx="210312" cy="914"/>
          </a:xfrm>
          <a:prstGeom prst="line">
            <a:avLst/>
          </a:prstGeom>
          <a:noFill/>
          <a:ln w="15875">
            <a:solidFill>
              <a:schemeClr val="accent6"/>
            </a:solidFill>
            <a:prstDash val="solid"/>
            <a:tailEnd type="triangle"/>
          </a:ln>
        </p:spPr>
      </p:sp>
      <p:sp>
        <p:nvSpPr>
          <p:cNvPr id="33" name="Shape 31"/>
          <p:cNvSpPr/>
          <p:nvPr/>
        </p:nvSpPr>
        <p:spPr>
          <a:xfrm>
            <a:off x="2121408" y="3749040"/>
            <a:ext cx="6409944" cy="411480"/>
          </a:xfrm>
          <a:prstGeom prst="roundRect">
            <a:avLst>
              <a:gd name="adj" fmla="val 17778"/>
            </a:avLst>
          </a:prstGeom>
          <a:solidFill>
            <a:schemeClr val="bg2"/>
          </a:solidFill>
          <a:ln/>
        </p:spPr>
      </p:sp>
      <p:sp>
        <p:nvSpPr>
          <p:cNvPr id="34" name="Text 32"/>
          <p:cNvSpPr txBox="1"/>
          <p:nvPr/>
        </p:nvSpPr>
        <p:spPr>
          <a:xfrm>
            <a:off x="2240280" y="3749040"/>
            <a:ext cx="6217920" cy="411480"/>
          </a:xfrm>
          <a:prstGeom prst="rect">
            <a:avLst/>
          </a:prstGeom>
          <a:noFill/>
          <a:ln/>
        </p:spPr>
        <p:txBody>
          <a:bodyPr wrap="square" lIns="0" tIns="0" rIns="0" bIns="0" rtlCol="0" anchor="ctr"/>
          <a:lstStyle/>
          <a:p>
            <a:pPr indent="0" marL="0">
              <a:buNone/>
            </a:pPr>
            <a:r>
              <a:rPr lang="en-US" sz="1100" b="1" dirty="0">
                <a:solidFill>
                  <a:schemeClr val="tx1"/>
                </a:solidFill>
              </a:rPr>
              <a:t>Governance on every layer: </a:t>
            </a:r>
            <a:pPr indent="0" marL="0">
              <a:buNone/>
            </a:pPr>
            <a:r>
              <a:rPr lang="en-US" sz="1100" dirty="0">
                <a:solidFill>
                  <a:schemeClr val="tx1"/>
                </a:solidFill>
              </a:rPr>
              <a:t>masking &amp; row-access policies on PII · lineage · ACCESS_HISTORY audit trail</a:t>
            </a:r>
            <a:endParaRPr lang="en-US" sz="1100" dirty="0"/>
          </a:p>
        </p:txBody>
      </p:sp>
      <p:sp>
        <p:nvSpPr>
          <p:cNvPr id="35" name="Text 33"/>
          <p:cNvSpPr txBox="1"/>
          <p:nvPr/>
        </p:nvSpPr>
        <p:spPr>
          <a:xfrm>
            <a:off x="457200" y="4370832"/>
            <a:ext cx="8229600" cy="228600"/>
          </a:xfrm>
          <a:prstGeom prst="rect">
            <a:avLst/>
          </a:prstGeom>
          <a:noFill/>
          <a:ln/>
        </p:spPr>
        <p:txBody>
          <a:bodyPr wrap="square" lIns="0" tIns="0" rIns="0" bIns="0" rtlCol="0" anchor="t"/>
          <a:lstStyle/>
          <a:p>
            <a:pPr indent="0" marL="0">
              <a:buNone/>
            </a:pPr>
            <a:r>
              <a:rPr lang="en-US" sz="1000" dirty="0">
                <a:solidFill>
                  <a:schemeClr val="accent6"/>
                </a:solidFill>
              </a:rPr>
              <a:t>Dashed line = Snowflake account boundary. Blue = structured data path, violet = unstructured.</a:t>
            </a:r>
            <a:endParaRPr lang="en-US" sz="10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2 · COCO CLI SKILLS</a:t>
            </a:r>
            <a:endParaRPr lang="en-US" sz="1100" dirty="0"/>
          </a:p>
        </p:txBody>
      </p:sp>
      <p:sp>
        <p:nvSpPr>
          <p:cNvPr id="3" name="Text 0"/>
          <p:cNvSpPr/>
          <p:nvPr>
            <p:ph idx="101" type="title" hasCustomPrompt="1"/>
          </p:nvPr>
        </p:nvSpPr>
        <p:spPr>
          <a:xfrm>
            <a:off x="457200" y="530352"/>
            <a:ext cx="8229600" cy="502920"/>
          </a:xfrm>
          <a:prstGeom prst="rect">
            <a:avLst/>
          </a:prstGeom>
          <a:noFill/>
          <a:ln/>
        </p:spPr>
        <p:txBody>
          <a:bodyPr wrap="square" lIns="0" tIns="0" rIns="0" bIns="0" rtlCol="0" anchor="ctr"/>
          <a:lstStyle/>
          <a:p>
            <a:pPr algn="l" indent="0" marL="0">
              <a:buNone/>
            </a:pPr>
            <a:r>
              <a:rPr lang="en-US" sz="2400" b="1" dirty="0">
                <a:solidFill>
                  <a:schemeClr val="tx1"/>
                </a:solidFill>
              </a:rPr>
              <a:t>12 CoCo CLI skills, each building one module</a:t>
            </a:r>
            <a:endParaRPr lang="en-US" sz="2400" dirty="0"/>
          </a:p>
        </p:txBody>
      </p:sp>
      <p:sp>
        <p:nvSpPr>
          <p:cNvPr id="4" name="Shape 2"/>
          <p:cNvSpPr/>
          <p:nvPr/>
        </p:nvSpPr>
        <p:spPr>
          <a:xfrm>
            <a:off x="457200" y="1280160"/>
            <a:ext cx="1874520" cy="3337560"/>
          </a:xfrm>
          <a:prstGeom prst="roundRect">
            <a:avLst>
              <a:gd name="adj" fmla="val 3902"/>
            </a:avLst>
          </a:prstGeom>
          <a:solidFill>
            <a:schemeClr val="bg2"/>
          </a:solidFill>
          <a:ln/>
        </p:spPr>
      </p:sp>
      <p:sp>
        <p:nvSpPr>
          <p:cNvPr id="5" name="Shape 3"/>
          <p:cNvSpPr/>
          <p:nvPr/>
        </p:nvSpPr>
        <p:spPr>
          <a:xfrm>
            <a:off x="621792" y="1435608"/>
            <a:ext cx="420624" cy="420624"/>
          </a:xfrm>
          <a:prstGeom prst="ellipse">
            <a:avLst/>
          </a:prstGeom>
          <a:solidFill>
            <a:schemeClr val="accent5"/>
          </a:solidFill>
          <a:ln/>
        </p:spPr>
      </p:sp>
      <p:pic>
        <p:nvPicPr>
          <p:cNvPr id="6" name="Image 0" descr="preencoded.png">    </p:cNvPr>
          <p:cNvPicPr>
            <a:picLocks noChangeAspect="1"/>
          </p:cNvPicPr>
          <p:nvPr/>
        </p:nvPicPr>
        <p:blipFill>
          <a:blip r:embed="rId1"/>
          <a:stretch>
            <a:fillRect/>
          </a:stretch>
        </p:blipFill>
        <p:spPr>
          <a:xfrm>
            <a:off x="722742" y="1536558"/>
            <a:ext cx="218724" cy="218724"/>
          </a:xfrm>
          <a:prstGeom prst="rect">
            <a:avLst/>
          </a:prstGeom>
        </p:spPr>
      </p:pic>
      <p:sp>
        <p:nvSpPr>
          <p:cNvPr id="7" name="Text 4"/>
          <p:cNvSpPr txBox="1"/>
          <p:nvPr/>
        </p:nvSpPr>
        <p:spPr>
          <a:xfrm>
            <a:off x="1133856" y="1435608"/>
            <a:ext cx="1097280" cy="420624"/>
          </a:xfrm>
          <a:prstGeom prst="rect">
            <a:avLst/>
          </a:prstGeom>
          <a:noFill/>
          <a:ln/>
        </p:spPr>
        <p:txBody>
          <a:bodyPr wrap="square" lIns="0" tIns="0" rIns="0" bIns="0" rtlCol="0" anchor="ctr"/>
          <a:lstStyle/>
          <a:p>
            <a:pPr indent="0" marL="0">
              <a:buNone/>
            </a:pPr>
            <a:r>
              <a:rPr lang="en-US" sz="1400" b="1" dirty="0">
                <a:solidFill>
                  <a:schemeClr val="tx1"/>
                </a:solidFill>
              </a:rPr>
              <a:t>Ingest &amp; model</a:t>
            </a:r>
            <a:endParaRPr lang="en-US" sz="1400" dirty="0"/>
          </a:p>
        </p:txBody>
      </p:sp>
      <p:sp>
        <p:nvSpPr>
          <p:cNvPr id="8" name="Text 5"/>
          <p:cNvSpPr txBox="1"/>
          <p:nvPr/>
        </p:nvSpPr>
        <p:spPr>
          <a:xfrm>
            <a:off x="621792" y="1947672"/>
            <a:ext cx="1600200" cy="365760"/>
          </a:xfrm>
          <a:prstGeom prst="rect">
            <a:avLst/>
          </a:prstGeom>
          <a:noFill/>
          <a:ln/>
        </p:spPr>
        <p:txBody>
          <a:bodyPr wrap="square" lIns="0" tIns="0" rIns="0" bIns="0" rtlCol="0" anchor="b"/>
          <a:lstStyle/>
          <a:p>
            <a:pPr indent="0" marL="0">
              <a:buNone/>
            </a:pPr>
            <a:r>
              <a:rPr lang="en-US" sz="1100" b="1" dirty="0">
                <a:solidFill>
                  <a:schemeClr val="tx1"/>
                </a:solidFill>
                <a:latin typeface="Courier New" pitchFamily="34" charset="0"/>
                <a:ea typeface="Courier New" pitchFamily="34" charset="-122"/>
                <a:cs typeface="Courier New" pitchFamily="34" charset="-120"/>
              </a:rPr>
              <a:t>openflow</a:t>
            </a:r>
            <a:endParaRPr lang="en-US" sz="1100" dirty="0"/>
          </a:p>
        </p:txBody>
      </p:sp>
      <p:sp>
        <p:nvSpPr>
          <p:cNvPr id="9" name="Text 6"/>
          <p:cNvSpPr txBox="1"/>
          <p:nvPr/>
        </p:nvSpPr>
        <p:spPr>
          <a:xfrm>
            <a:off x="621792" y="2331720"/>
            <a:ext cx="1600200" cy="457200"/>
          </a:xfrm>
          <a:prstGeom prst="rect">
            <a:avLst/>
          </a:prstGeom>
          <a:noFill/>
          <a:ln/>
        </p:spPr>
        <p:txBody>
          <a:bodyPr wrap="square" lIns="0" tIns="0" rIns="0" bIns="0" rtlCol="0" anchor="t"/>
          <a:lstStyle/>
          <a:p>
            <a:pPr indent="0" marL="0">
              <a:buNone/>
            </a:pPr>
            <a:r>
              <a:rPr lang="en-US" sz="1200" dirty="0">
                <a:solidFill>
                  <a:schemeClr val="accent6"/>
                </a:solidFill>
              </a:rPr>
              <a:t>Core-banking feeds into RAW tables</a:t>
            </a:r>
            <a:endParaRPr lang="en-US" sz="1200" dirty="0"/>
          </a:p>
        </p:txBody>
      </p:sp>
      <p:sp>
        <p:nvSpPr>
          <p:cNvPr id="10" name="Text 7"/>
          <p:cNvSpPr txBox="1"/>
          <p:nvPr/>
        </p:nvSpPr>
        <p:spPr>
          <a:xfrm>
            <a:off x="621792" y="2788920"/>
            <a:ext cx="1600200" cy="365760"/>
          </a:xfrm>
          <a:prstGeom prst="rect">
            <a:avLst/>
          </a:prstGeom>
          <a:noFill/>
          <a:ln/>
        </p:spPr>
        <p:txBody>
          <a:bodyPr wrap="square" lIns="0" tIns="0" rIns="0" bIns="0" rtlCol="0" anchor="b"/>
          <a:lstStyle/>
          <a:p>
            <a:pPr indent="0" marL="0">
              <a:buNone/>
            </a:pPr>
            <a:r>
              <a:rPr lang="en-US" sz="1100" b="1" dirty="0">
                <a:solidFill>
                  <a:schemeClr val="tx1"/>
                </a:solidFill>
                <a:latin typeface="Courier New" pitchFamily="34" charset="0"/>
                <a:ea typeface="Courier New" pitchFamily="34" charset="-122"/>
                <a:cs typeface="Courier New" pitchFamily="34" charset="-120"/>
              </a:rPr>
              <a:t>dynamic-tables</a:t>
            </a:r>
            <a:endParaRPr lang="en-US" sz="1100" dirty="0"/>
          </a:p>
        </p:txBody>
      </p:sp>
      <p:sp>
        <p:nvSpPr>
          <p:cNvPr id="11" name="Text 8"/>
          <p:cNvSpPr txBox="1"/>
          <p:nvPr/>
        </p:nvSpPr>
        <p:spPr>
          <a:xfrm>
            <a:off x="621792" y="3172968"/>
            <a:ext cx="1600200" cy="457200"/>
          </a:xfrm>
          <a:prstGeom prst="rect">
            <a:avLst/>
          </a:prstGeom>
          <a:noFill/>
          <a:ln/>
        </p:spPr>
        <p:txBody>
          <a:bodyPr wrap="square" lIns="0" tIns="0" rIns="0" bIns="0" rtlCol="0" anchor="t"/>
          <a:lstStyle/>
          <a:p>
            <a:pPr indent="0" marL="0">
              <a:buNone/>
            </a:pPr>
            <a:r>
              <a:rPr lang="en-US" sz="1200" dirty="0">
                <a:solidFill>
                  <a:schemeClr val="accent6"/>
                </a:solidFill>
              </a:rPr>
              <a:t>Incremental flow features</a:t>
            </a:r>
            <a:endParaRPr lang="en-US" sz="1200" dirty="0"/>
          </a:p>
        </p:txBody>
      </p:sp>
      <p:sp>
        <p:nvSpPr>
          <p:cNvPr id="12" name="Text 9"/>
          <p:cNvSpPr txBox="1"/>
          <p:nvPr/>
        </p:nvSpPr>
        <p:spPr>
          <a:xfrm>
            <a:off x="621792" y="3630168"/>
            <a:ext cx="1600200" cy="365760"/>
          </a:xfrm>
          <a:prstGeom prst="rect">
            <a:avLst/>
          </a:prstGeom>
          <a:noFill/>
          <a:ln/>
        </p:spPr>
        <p:txBody>
          <a:bodyPr wrap="square" lIns="0" tIns="0" rIns="0" bIns="0" rtlCol="0" anchor="b"/>
          <a:lstStyle/>
          <a:p>
            <a:pPr indent="0" marL="0">
              <a:buNone/>
            </a:pPr>
            <a:r>
              <a:rPr lang="en-US" sz="1100" b="1" dirty="0">
                <a:solidFill>
                  <a:schemeClr val="tx1"/>
                </a:solidFill>
                <a:latin typeface="Courier New" pitchFamily="34" charset="0"/>
                <a:ea typeface="Courier New" pitchFamily="34" charset="-122"/>
                <a:cs typeface="Courier New" pitchFamily="34" charset="-120"/>
              </a:rPr>
              <a:t>snowflake-tasks</a:t>
            </a:r>
            <a:endParaRPr lang="en-US" sz="1100" dirty="0"/>
          </a:p>
        </p:txBody>
      </p:sp>
      <p:sp>
        <p:nvSpPr>
          <p:cNvPr id="13" name="Text 10"/>
          <p:cNvSpPr txBox="1"/>
          <p:nvPr/>
        </p:nvSpPr>
        <p:spPr>
          <a:xfrm>
            <a:off x="621792" y="4014216"/>
            <a:ext cx="1600200" cy="457200"/>
          </a:xfrm>
          <a:prstGeom prst="rect">
            <a:avLst/>
          </a:prstGeom>
          <a:noFill/>
          <a:ln/>
        </p:spPr>
        <p:txBody>
          <a:bodyPr wrap="square" lIns="0" tIns="0" rIns="0" bIns="0" rtlCol="0" anchor="t"/>
          <a:lstStyle/>
          <a:p>
            <a:pPr indent="0" marL="0">
              <a:buNone/>
            </a:pPr>
            <a:r>
              <a:rPr lang="en-US" sz="1200" dirty="0">
                <a:solidFill>
                  <a:schemeClr val="accent6"/>
                </a:solidFill>
              </a:rPr>
              <a:t>Scheduled detection runs</a:t>
            </a:r>
            <a:endParaRPr lang="en-US" sz="1200" dirty="0"/>
          </a:p>
        </p:txBody>
      </p:sp>
      <p:sp>
        <p:nvSpPr>
          <p:cNvPr id="14" name="Shape 11"/>
          <p:cNvSpPr/>
          <p:nvPr/>
        </p:nvSpPr>
        <p:spPr>
          <a:xfrm>
            <a:off x="2578608" y="1280160"/>
            <a:ext cx="1874520" cy="3337560"/>
          </a:xfrm>
          <a:prstGeom prst="roundRect">
            <a:avLst>
              <a:gd name="adj" fmla="val 3902"/>
            </a:avLst>
          </a:prstGeom>
          <a:solidFill>
            <a:schemeClr val="bg2"/>
          </a:solidFill>
          <a:ln/>
        </p:spPr>
      </p:sp>
      <p:sp>
        <p:nvSpPr>
          <p:cNvPr id="15" name="Shape 12"/>
          <p:cNvSpPr/>
          <p:nvPr/>
        </p:nvSpPr>
        <p:spPr>
          <a:xfrm>
            <a:off x="2743200" y="1435608"/>
            <a:ext cx="420624" cy="420624"/>
          </a:xfrm>
          <a:prstGeom prst="ellipse">
            <a:avLst/>
          </a:prstGeom>
          <a:solidFill>
            <a:schemeClr val="accent1"/>
          </a:solidFill>
          <a:ln/>
        </p:spPr>
      </p:sp>
      <p:pic>
        <p:nvPicPr>
          <p:cNvPr id="16" name="Image 1" descr="preencoded.png">    </p:cNvPr>
          <p:cNvPicPr>
            <a:picLocks noChangeAspect="1"/>
          </p:cNvPicPr>
          <p:nvPr/>
        </p:nvPicPr>
        <p:blipFill>
          <a:blip r:embed="rId2"/>
          <a:stretch>
            <a:fillRect/>
          </a:stretch>
        </p:blipFill>
        <p:spPr>
          <a:xfrm>
            <a:off x="2844150" y="1536558"/>
            <a:ext cx="218724" cy="218724"/>
          </a:xfrm>
          <a:prstGeom prst="rect">
            <a:avLst/>
          </a:prstGeom>
        </p:spPr>
      </p:pic>
      <p:sp>
        <p:nvSpPr>
          <p:cNvPr id="17" name="Text 13"/>
          <p:cNvSpPr txBox="1"/>
          <p:nvPr/>
        </p:nvSpPr>
        <p:spPr>
          <a:xfrm>
            <a:off x="3255264" y="1435608"/>
            <a:ext cx="1097280" cy="420624"/>
          </a:xfrm>
          <a:prstGeom prst="rect">
            <a:avLst/>
          </a:prstGeom>
          <a:noFill/>
          <a:ln/>
        </p:spPr>
        <p:txBody>
          <a:bodyPr wrap="square" lIns="0" tIns="0" rIns="0" bIns="0" rtlCol="0" anchor="ctr"/>
          <a:lstStyle/>
          <a:p>
            <a:pPr indent="0" marL="0">
              <a:buNone/>
            </a:pPr>
            <a:r>
              <a:rPr lang="en-US" sz="1400" b="1" dirty="0">
                <a:solidFill>
                  <a:schemeClr val="tx1"/>
                </a:solidFill>
              </a:rPr>
              <a:t>Detect &amp; explain</a:t>
            </a:r>
            <a:endParaRPr lang="en-US" sz="1400" dirty="0"/>
          </a:p>
        </p:txBody>
      </p:sp>
      <p:sp>
        <p:nvSpPr>
          <p:cNvPr id="18" name="Text 14"/>
          <p:cNvSpPr txBox="1"/>
          <p:nvPr/>
        </p:nvSpPr>
        <p:spPr>
          <a:xfrm>
            <a:off x="2743200" y="1947672"/>
            <a:ext cx="1600200" cy="365760"/>
          </a:xfrm>
          <a:prstGeom prst="rect">
            <a:avLst/>
          </a:prstGeom>
          <a:noFill/>
          <a:ln/>
        </p:spPr>
        <p:txBody>
          <a:bodyPr wrap="square" lIns="0" tIns="0" rIns="0" bIns="0" rtlCol="0" anchor="b"/>
          <a:lstStyle/>
          <a:p>
            <a:pPr indent="0" marL="0">
              <a:buNone/>
            </a:pPr>
            <a:r>
              <a:rPr lang="en-US" sz="1100" b="1" dirty="0">
                <a:solidFill>
                  <a:schemeClr val="tx1"/>
                </a:solidFill>
                <a:latin typeface="Courier New" pitchFamily="34" charset="0"/>
                <a:ea typeface="Courier New" pitchFamily="34" charset="-122"/>
                <a:cs typeface="Courier New" pitchFamily="34" charset="-120"/>
              </a:rPr>
              <a:t>snowpark-python</a:t>
            </a:r>
            <a:endParaRPr lang="en-US" sz="1100" dirty="0"/>
          </a:p>
        </p:txBody>
      </p:sp>
      <p:sp>
        <p:nvSpPr>
          <p:cNvPr id="19" name="Text 15"/>
          <p:cNvSpPr txBox="1"/>
          <p:nvPr/>
        </p:nvSpPr>
        <p:spPr>
          <a:xfrm>
            <a:off x="2743200" y="2331720"/>
            <a:ext cx="1600200" cy="457200"/>
          </a:xfrm>
          <a:prstGeom prst="rect">
            <a:avLst/>
          </a:prstGeom>
          <a:noFill/>
          <a:ln/>
        </p:spPr>
        <p:txBody>
          <a:bodyPr wrap="square" lIns="0" tIns="0" rIns="0" bIns="0" rtlCol="0" anchor="t"/>
          <a:lstStyle/>
          <a:p>
            <a:pPr indent="0" marL="0">
              <a:buNone/>
            </a:pPr>
            <a:r>
              <a:rPr lang="en-US" sz="1200" dirty="0">
                <a:solidFill>
                  <a:schemeClr val="accent6"/>
                </a:solidFill>
              </a:rPr>
              <a:t>Graph detector as a stored procedure</a:t>
            </a:r>
            <a:endParaRPr lang="en-US" sz="1200" dirty="0"/>
          </a:p>
        </p:txBody>
      </p:sp>
      <p:sp>
        <p:nvSpPr>
          <p:cNvPr id="20" name="Text 16"/>
          <p:cNvSpPr txBox="1"/>
          <p:nvPr/>
        </p:nvSpPr>
        <p:spPr>
          <a:xfrm>
            <a:off x="2743200" y="2788920"/>
            <a:ext cx="1600200" cy="365760"/>
          </a:xfrm>
          <a:prstGeom prst="rect">
            <a:avLst/>
          </a:prstGeom>
          <a:noFill/>
          <a:ln/>
        </p:spPr>
        <p:txBody>
          <a:bodyPr wrap="square" lIns="0" tIns="0" rIns="0" bIns="0" rtlCol="0" anchor="b"/>
          <a:lstStyle/>
          <a:p>
            <a:pPr indent="0" marL="0">
              <a:buNone/>
            </a:pPr>
            <a:r>
              <a:rPr lang="en-US" sz="1100" b="1" dirty="0">
                <a:solidFill>
                  <a:schemeClr val="tx1"/>
                </a:solidFill>
                <a:latin typeface="Courier New" pitchFamily="34" charset="0"/>
                <a:ea typeface="Courier New" pitchFamily="34" charset="-122"/>
                <a:cs typeface="Courier New" pitchFamily="34" charset="-120"/>
              </a:rPr>
              <a:t>ai-functions-pipeline-builder</a:t>
            </a:r>
            <a:endParaRPr lang="en-US" sz="1100" dirty="0"/>
          </a:p>
        </p:txBody>
      </p:sp>
      <p:sp>
        <p:nvSpPr>
          <p:cNvPr id="21" name="Text 17"/>
          <p:cNvSpPr txBox="1"/>
          <p:nvPr/>
        </p:nvSpPr>
        <p:spPr>
          <a:xfrm>
            <a:off x="2743200" y="3172968"/>
            <a:ext cx="1600200" cy="457200"/>
          </a:xfrm>
          <a:prstGeom prst="rect">
            <a:avLst/>
          </a:prstGeom>
          <a:noFill/>
          <a:ln/>
        </p:spPr>
        <p:txBody>
          <a:bodyPr wrap="square" lIns="0" tIns="0" rIns="0" bIns="0" rtlCol="0" anchor="t"/>
          <a:lstStyle/>
          <a:p>
            <a:pPr indent="0" marL="0">
              <a:buNone/>
            </a:pPr>
            <a:r>
              <a:rPr lang="en-US" sz="1200" dirty="0">
                <a:solidFill>
                  <a:schemeClr val="accent6"/>
                </a:solidFill>
              </a:rPr>
              <a:t>AI_COMPLETE alert explanations</a:t>
            </a:r>
            <a:endParaRPr lang="en-US" sz="1200" dirty="0"/>
          </a:p>
        </p:txBody>
      </p:sp>
      <p:sp>
        <p:nvSpPr>
          <p:cNvPr id="22" name="Text 18"/>
          <p:cNvSpPr txBox="1"/>
          <p:nvPr/>
        </p:nvSpPr>
        <p:spPr>
          <a:xfrm>
            <a:off x="2743200" y="3630168"/>
            <a:ext cx="1600200" cy="365760"/>
          </a:xfrm>
          <a:prstGeom prst="rect">
            <a:avLst/>
          </a:prstGeom>
          <a:noFill/>
          <a:ln/>
        </p:spPr>
        <p:txBody>
          <a:bodyPr wrap="square" lIns="0" tIns="0" rIns="0" bIns="0" rtlCol="0" anchor="b"/>
          <a:lstStyle/>
          <a:p>
            <a:pPr indent="0" marL="0">
              <a:buNone/>
            </a:pPr>
            <a:r>
              <a:rPr lang="en-US" sz="1100" b="1" dirty="0">
                <a:solidFill>
                  <a:schemeClr val="tx1"/>
                </a:solidFill>
                <a:latin typeface="Courier New" pitchFamily="34" charset="0"/>
                <a:ea typeface="Courier New" pitchFamily="34" charset="-122"/>
                <a:cs typeface="Courier New" pitchFamily="34" charset="-120"/>
              </a:rPr>
              <a:t>document-intelligence</a:t>
            </a:r>
            <a:endParaRPr lang="en-US" sz="1100" dirty="0"/>
          </a:p>
        </p:txBody>
      </p:sp>
      <p:sp>
        <p:nvSpPr>
          <p:cNvPr id="23" name="Text 19"/>
          <p:cNvSpPr txBox="1"/>
          <p:nvPr/>
        </p:nvSpPr>
        <p:spPr>
          <a:xfrm>
            <a:off x="2743200" y="4014216"/>
            <a:ext cx="1600200" cy="457200"/>
          </a:xfrm>
          <a:prstGeom prst="rect">
            <a:avLst/>
          </a:prstGeom>
          <a:noFill/>
          <a:ln/>
        </p:spPr>
        <p:txBody>
          <a:bodyPr wrap="square" lIns="0" tIns="0" rIns="0" bIns="0" rtlCol="0" anchor="t"/>
          <a:lstStyle/>
          <a:p>
            <a:pPr indent="0" marL="0">
              <a:buNone/>
            </a:pPr>
            <a:r>
              <a:rPr lang="en-US" sz="1200" dirty="0">
                <a:solidFill>
                  <a:schemeClr val="accent6"/>
                </a:solidFill>
              </a:rPr>
              <a:t>Parse policy &amp; circular PDFs</a:t>
            </a:r>
            <a:endParaRPr lang="en-US" sz="1200" dirty="0"/>
          </a:p>
        </p:txBody>
      </p:sp>
      <p:sp>
        <p:nvSpPr>
          <p:cNvPr id="24" name="Shape 20"/>
          <p:cNvSpPr/>
          <p:nvPr/>
        </p:nvSpPr>
        <p:spPr>
          <a:xfrm>
            <a:off x="4700016" y="1280160"/>
            <a:ext cx="1874520" cy="3337560"/>
          </a:xfrm>
          <a:prstGeom prst="roundRect">
            <a:avLst>
              <a:gd name="adj" fmla="val 3902"/>
            </a:avLst>
          </a:prstGeom>
          <a:solidFill>
            <a:schemeClr val="bg2"/>
          </a:solidFill>
          <a:ln/>
        </p:spPr>
      </p:sp>
      <p:sp>
        <p:nvSpPr>
          <p:cNvPr id="25" name="Shape 21"/>
          <p:cNvSpPr/>
          <p:nvPr/>
        </p:nvSpPr>
        <p:spPr>
          <a:xfrm>
            <a:off x="4864608" y="1435608"/>
            <a:ext cx="420624" cy="420624"/>
          </a:xfrm>
          <a:prstGeom prst="ellipse">
            <a:avLst/>
          </a:prstGeom>
          <a:solidFill>
            <a:schemeClr val="accent4"/>
          </a:solidFill>
          <a:ln/>
        </p:spPr>
      </p:sp>
      <p:pic>
        <p:nvPicPr>
          <p:cNvPr id="26" name="Image 2" descr="preencoded.png">    </p:cNvPr>
          <p:cNvPicPr>
            <a:picLocks noChangeAspect="1"/>
          </p:cNvPicPr>
          <p:nvPr/>
        </p:nvPicPr>
        <p:blipFill>
          <a:blip r:embed="rId3"/>
          <a:stretch>
            <a:fillRect/>
          </a:stretch>
        </p:blipFill>
        <p:spPr>
          <a:xfrm>
            <a:off x="4965558" y="1536558"/>
            <a:ext cx="218724" cy="218724"/>
          </a:xfrm>
          <a:prstGeom prst="rect">
            <a:avLst/>
          </a:prstGeom>
        </p:spPr>
      </p:pic>
      <p:sp>
        <p:nvSpPr>
          <p:cNvPr id="27" name="Text 22"/>
          <p:cNvSpPr txBox="1"/>
          <p:nvPr/>
        </p:nvSpPr>
        <p:spPr>
          <a:xfrm>
            <a:off x="5376672" y="1435608"/>
            <a:ext cx="1097280" cy="420624"/>
          </a:xfrm>
          <a:prstGeom prst="rect">
            <a:avLst/>
          </a:prstGeom>
          <a:noFill/>
          <a:ln/>
        </p:spPr>
        <p:txBody>
          <a:bodyPr wrap="square" lIns="0" tIns="0" rIns="0" bIns="0" rtlCol="0" anchor="ctr"/>
          <a:lstStyle/>
          <a:p>
            <a:pPr indent="0" marL="0">
              <a:buNone/>
            </a:pPr>
            <a:r>
              <a:rPr lang="en-US" sz="1400" b="1" dirty="0">
                <a:solidFill>
                  <a:schemeClr val="tx1"/>
                </a:solidFill>
              </a:rPr>
              <a:t>Ask &amp; answer</a:t>
            </a:r>
            <a:endParaRPr lang="en-US" sz="1400" dirty="0"/>
          </a:p>
        </p:txBody>
      </p:sp>
      <p:sp>
        <p:nvSpPr>
          <p:cNvPr id="28" name="Text 23"/>
          <p:cNvSpPr txBox="1"/>
          <p:nvPr/>
        </p:nvSpPr>
        <p:spPr>
          <a:xfrm>
            <a:off x="4864608" y="1947672"/>
            <a:ext cx="1600200" cy="365760"/>
          </a:xfrm>
          <a:prstGeom prst="rect">
            <a:avLst/>
          </a:prstGeom>
          <a:noFill/>
          <a:ln/>
        </p:spPr>
        <p:txBody>
          <a:bodyPr wrap="square" lIns="0" tIns="0" rIns="0" bIns="0" rtlCol="0" anchor="b"/>
          <a:lstStyle/>
          <a:p>
            <a:pPr indent="0" marL="0">
              <a:buNone/>
            </a:pPr>
            <a:r>
              <a:rPr lang="en-US" sz="1100" b="1" dirty="0">
                <a:solidFill>
                  <a:schemeClr val="tx1"/>
                </a:solidFill>
                <a:latin typeface="Courier New" pitchFamily="34" charset="0"/>
                <a:ea typeface="Courier New" pitchFamily="34" charset="-122"/>
                <a:cs typeface="Courier New" pitchFamily="34" charset="-120"/>
              </a:rPr>
              <a:t>search-optimization</a:t>
            </a:r>
            <a:endParaRPr lang="en-US" sz="1100" dirty="0"/>
          </a:p>
        </p:txBody>
      </p:sp>
      <p:sp>
        <p:nvSpPr>
          <p:cNvPr id="29" name="Text 24"/>
          <p:cNvSpPr txBox="1"/>
          <p:nvPr/>
        </p:nvSpPr>
        <p:spPr>
          <a:xfrm>
            <a:off x="4864608" y="2331720"/>
            <a:ext cx="1600200" cy="457200"/>
          </a:xfrm>
          <a:prstGeom prst="rect">
            <a:avLst/>
          </a:prstGeom>
          <a:noFill/>
          <a:ln/>
        </p:spPr>
        <p:txBody>
          <a:bodyPr wrap="square" lIns="0" tIns="0" rIns="0" bIns="0" rtlCol="0" anchor="t"/>
          <a:lstStyle/>
          <a:p>
            <a:pPr indent="0" marL="0">
              <a:buNone/>
            </a:pPr>
            <a:r>
              <a:rPr lang="en-US" sz="1200" dirty="0">
                <a:solidFill>
                  <a:schemeClr val="accent6"/>
                </a:solidFill>
              </a:rPr>
              <a:t>Cortex Search over policy text</a:t>
            </a:r>
            <a:endParaRPr lang="en-US" sz="1200" dirty="0"/>
          </a:p>
        </p:txBody>
      </p:sp>
      <p:sp>
        <p:nvSpPr>
          <p:cNvPr id="30" name="Text 25"/>
          <p:cNvSpPr txBox="1"/>
          <p:nvPr/>
        </p:nvSpPr>
        <p:spPr>
          <a:xfrm>
            <a:off x="4864608" y="2788920"/>
            <a:ext cx="1600200" cy="365760"/>
          </a:xfrm>
          <a:prstGeom prst="rect">
            <a:avLst/>
          </a:prstGeom>
          <a:noFill/>
          <a:ln/>
        </p:spPr>
        <p:txBody>
          <a:bodyPr wrap="square" lIns="0" tIns="0" rIns="0" bIns="0" rtlCol="0" anchor="b"/>
          <a:lstStyle/>
          <a:p>
            <a:pPr indent="0" marL="0">
              <a:buNone/>
            </a:pPr>
            <a:r>
              <a:rPr lang="en-US" sz="1100" b="1" dirty="0">
                <a:solidFill>
                  <a:schemeClr val="tx1"/>
                </a:solidFill>
                <a:latin typeface="Courier New" pitchFamily="34" charset="0"/>
                <a:ea typeface="Courier New" pitchFamily="34" charset="-122"/>
                <a:cs typeface="Courier New" pitchFamily="34" charset="-120"/>
              </a:rPr>
              <a:t>agent-studio</a:t>
            </a:r>
            <a:endParaRPr lang="en-US" sz="1100" dirty="0"/>
          </a:p>
        </p:txBody>
      </p:sp>
      <p:sp>
        <p:nvSpPr>
          <p:cNvPr id="31" name="Text 26"/>
          <p:cNvSpPr txBox="1"/>
          <p:nvPr/>
        </p:nvSpPr>
        <p:spPr>
          <a:xfrm>
            <a:off x="4864608" y="3172968"/>
            <a:ext cx="1600200" cy="457200"/>
          </a:xfrm>
          <a:prstGeom prst="rect">
            <a:avLst/>
          </a:prstGeom>
          <a:noFill/>
          <a:ln/>
        </p:spPr>
        <p:txBody>
          <a:bodyPr wrap="square" lIns="0" tIns="0" rIns="0" bIns="0" rtlCol="0" anchor="t"/>
          <a:lstStyle/>
          <a:p>
            <a:pPr indent="0" marL="0">
              <a:buNone/>
            </a:pPr>
            <a:r>
              <a:rPr lang="en-US" sz="1200" dirty="0">
                <a:solidFill>
                  <a:schemeClr val="accent6"/>
                </a:solidFill>
              </a:rPr>
              <a:t>Cortex Agent + semantic view</a:t>
            </a:r>
            <a:endParaRPr lang="en-US" sz="1200" dirty="0"/>
          </a:p>
        </p:txBody>
      </p:sp>
      <p:sp>
        <p:nvSpPr>
          <p:cNvPr id="32" name="Text 27"/>
          <p:cNvSpPr txBox="1"/>
          <p:nvPr/>
        </p:nvSpPr>
        <p:spPr>
          <a:xfrm>
            <a:off x="4864608" y="3630168"/>
            <a:ext cx="1600200" cy="365760"/>
          </a:xfrm>
          <a:prstGeom prst="rect">
            <a:avLst/>
          </a:prstGeom>
          <a:noFill/>
          <a:ln/>
        </p:spPr>
        <p:txBody>
          <a:bodyPr wrap="square" lIns="0" tIns="0" rIns="0" bIns="0" rtlCol="0" anchor="b"/>
          <a:lstStyle/>
          <a:p>
            <a:pPr indent="0" marL="0">
              <a:buNone/>
            </a:pPr>
            <a:r>
              <a:rPr lang="en-US" sz="1100" b="1" dirty="0">
                <a:solidFill>
                  <a:schemeClr val="tx1"/>
                </a:solidFill>
                <a:latin typeface="Courier New" pitchFamily="34" charset="0"/>
                <a:ea typeface="Courier New" pitchFamily="34" charset="-122"/>
                <a:cs typeface="Courier New" pitchFamily="34" charset="-120"/>
              </a:rPr>
              <a:t>skill-development</a:t>
            </a:r>
            <a:endParaRPr lang="en-US" sz="1100" dirty="0"/>
          </a:p>
        </p:txBody>
      </p:sp>
      <p:sp>
        <p:nvSpPr>
          <p:cNvPr id="33" name="Text 28"/>
          <p:cNvSpPr txBox="1"/>
          <p:nvPr/>
        </p:nvSpPr>
        <p:spPr>
          <a:xfrm>
            <a:off x="4864608" y="4014216"/>
            <a:ext cx="1600200" cy="457200"/>
          </a:xfrm>
          <a:prstGeom prst="rect">
            <a:avLst/>
          </a:prstGeom>
          <a:noFill/>
          <a:ln/>
        </p:spPr>
        <p:txBody>
          <a:bodyPr wrap="square" lIns="0" tIns="0" rIns="0" bIns="0" rtlCol="0" anchor="t"/>
          <a:lstStyle/>
          <a:p>
            <a:pPr indent="0" marL="0">
              <a:buNone/>
            </a:pPr>
            <a:r>
              <a:rPr lang="en-US" sz="1200" dirty="0">
                <a:solidFill>
                  <a:schemeClr val="accent6"/>
                </a:solidFill>
              </a:rPr>
              <a:t>Custom /investigate skill for analysts</a:t>
            </a:r>
            <a:endParaRPr lang="en-US" sz="1200" dirty="0"/>
          </a:p>
        </p:txBody>
      </p:sp>
      <p:sp>
        <p:nvSpPr>
          <p:cNvPr id="34" name="Shape 29"/>
          <p:cNvSpPr/>
          <p:nvPr/>
        </p:nvSpPr>
        <p:spPr>
          <a:xfrm>
            <a:off x="6821424" y="1280160"/>
            <a:ext cx="1874520" cy="3337560"/>
          </a:xfrm>
          <a:prstGeom prst="roundRect">
            <a:avLst>
              <a:gd name="adj" fmla="val 3902"/>
            </a:avLst>
          </a:prstGeom>
          <a:solidFill>
            <a:schemeClr val="bg2"/>
          </a:solidFill>
          <a:ln/>
        </p:spPr>
      </p:sp>
      <p:sp>
        <p:nvSpPr>
          <p:cNvPr id="35" name="Shape 30"/>
          <p:cNvSpPr/>
          <p:nvPr/>
        </p:nvSpPr>
        <p:spPr>
          <a:xfrm>
            <a:off x="6986016" y="1435608"/>
            <a:ext cx="420624" cy="420624"/>
          </a:xfrm>
          <a:prstGeom prst="ellipse">
            <a:avLst/>
          </a:prstGeom>
          <a:solidFill>
            <a:schemeClr val="accent2"/>
          </a:solidFill>
          <a:ln/>
        </p:spPr>
      </p:sp>
      <p:pic>
        <p:nvPicPr>
          <p:cNvPr id="36" name="Image 3" descr="preencoded.png">    </p:cNvPr>
          <p:cNvPicPr>
            <a:picLocks noChangeAspect="1"/>
          </p:cNvPicPr>
          <p:nvPr/>
        </p:nvPicPr>
        <p:blipFill>
          <a:blip r:embed="rId4"/>
          <a:stretch>
            <a:fillRect/>
          </a:stretch>
        </p:blipFill>
        <p:spPr>
          <a:xfrm>
            <a:off x="7086966" y="1536558"/>
            <a:ext cx="218724" cy="218724"/>
          </a:xfrm>
          <a:prstGeom prst="rect">
            <a:avLst/>
          </a:prstGeom>
        </p:spPr>
      </p:pic>
      <p:sp>
        <p:nvSpPr>
          <p:cNvPr id="37" name="Text 31"/>
          <p:cNvSpPr txBox="1"/>
          <p:nvPr/>
        </p:nvSpPr>
        <p:spPr>
          <a:xfrm>
            <a:off x="7498080" y="1435608"/>
            <a:ext cx="1097280" cy="420624"/>
          </a:xfrm>
          <a:prstGeom prst="rect">
            <a:avLst/>
          </a:prstGeom>
          <a:noFill/>
          <a:ln/>
        </p:spPr>
        <p:txBody>
          <a:bodyPr wrap="square" lIns="0" tIns="0" rIns="0" bIns="0" rtlCol="0" anchor="ctr"/>
          <a:lstStyle/>
          <a:p>
            <a:pPr indent="0" marL="0">
              <a:buNone/>
            </a:pPr>
            <a:r>
              <a:rPr lang="en-US" sz="1400" b="1" dirty="0">
                <a:solidFill>
                  <a:schemeClr val="tx1"/>
                </a:solidFill>
              </a:rPr>
              <a:t>Govern &amp; deliver</a:t>
            </a:r>
            <a:endParaRPr lang="en-US" sz="1400" dirty="0"/>
          </a:p>
        </p:txBody>
      </p:sp>
      <p:sp>
        <p:nvSpPr>
          <p:cNvPr id="38" name="Text 32"/>
          <p:cNvSpPr txBox="1"/>
          <p:nvPr/>
        </p:nvSpPr>
        <p:spPr>
          <a:xfrm>
            <a:off x="6986016" y="1947672"/>
            <a:ext cx="1600200" cy="365760"/>
          </a:xfrm>
          <a:prstGeom prst="rect">
            <a:avLst/>
          </a:prstGeom>
          <a:noFill/>
          <a:ln/>
        </p:spPr>
        <p:txBody>
          <a:bodyPr wrap="square" lIns="0" tIns="0" rIns="0" bIns="0" rtlCol="0" anchor="b"/>
          <a:lstStyle/>
          <a:p>
            <a:pPr indent="0" marL="0">
              <a:buNone/>
            </a:pPr>
            <a:r>
              <a:rPr lang="en-US" sz="1100" b="1" dirty="0">
                <a:solidFill>
                  <a:schemeClr val="tx1"/>
                </a:solidFill>
                <a:latin typeface="Courier New" pitchFamily="34" charset="0"/>
                <a:ea typeface="Courier New" pitchFamily="34" charset="-122"/>
                <a:cs typeface="Courier New" pitchFamily="34" charset="-120"/>
              </a:rPr>
              <a:t>data-governance</a:t>
            </a:r>
            <a:endParaRPr lang="en-US" sz="1100" dirty="0"/>
          </a:p>
        </p:txBody>
      </p:sp>
      <p:sp>
        <p:nvSpPr>
          <p:cNvPr id="39" name="Text 33"/>
          <p:cNvSpPr txBox="1"/>
          <p:nvPr/>
        </p:nvSpPr>
        <p:spPr>
          <a:xfrm>
            <a:off x="6986016" y="2331720"/>
            <a:ext cx="1600200" cy="457200"/>
          </a:xfrm>
          <a:prstGeom prst="rect">
            <a:avLst/>
          </a:prstGeom>
          <a:noFill/>
          <a:ln/>
        </p:spPr>
        <p:txBody>
          <a:bodyPr wrap="square" lIns="0" tIns="0" rIns="0" bIns="0" rtlCol="0" anchor="t"/>
          <a:lstStyle/>
          <a:p>
            <a:pPr indent="0" marL="0">
              <a:buNone/>
            </a:pPr>
            <a:r>
              <a:rPr lang="en-US" sz="1200" dirty="0">
                <a:solidFill>
                  <a:schemeClr val="accent6"/>
                </a:solidFill>
              </a:rPr>
              <a:t>Mask PII, row-level access</a:t>
            </a:r>
            <a:endParaRPr lang="en-US" sz="1200" dirty="0"/>
          </a:p>
        </p:txBody>
      </p:sp>
      <p:sp>
        <p:nvSpPr>
          <p:cNvPr id="40" name="Text 34"/>
          <p:cNvSpPr txBox="1"/>
          <p:nvPr/>
        </p:nvSpPr>
        <p:spPr>
          <a:xfrm>
            <a:off x="6986016" y="2788920"/>
            <a:ext cx="1600200" cy="365760"/>
          </a:xfrm>
          <a:prstGeom prst="rect">
            <a:avLst/>
          </a:prstGeom>
          <a:noFill/>
          <a:ln/>
        </p:spPr>
        <p:txBody>
          <a:bodyPr wrap="square" lIns="0" tIns="0" rIns="0" bIns="0" rtlCol="0" anchor="b"/>
          <a:lstStyle/>
          <a:p>
            <a:pPr indent="0" marL="0">
              <a:buNone/>
            </a:pPr>
            <a:r>
              <a:rPr lang="en-US" sz="1100" b="1" dirty="0">
                <a:solidFill>
                  <a:schemeClr val="tx1"/>
                </a:solidFill>
                <a:latin typeface="Courier New" pitchFamily="34" charset="0"/>
                <a:ea typeface="Courier New" pitchFamily="34" charset="-122"/>
                <a:cs typeface="Courier New" pitchFamily="34" charset="-120"/>
              </a:rPr>
              <a:t>lineage</a:t>
            </a:r>
            <a:endParaRPr lang="en-US" sz="1100" dirty="0"/>
          </a:p>
        </p:txBody>
      </p:sp>
      <p:sp>
        <p:nvSpPr>
          <p:cNvPr id="41" name="Text 35"/>
          <p:cNvSpPr txBox="1"/>
          <p:nvPr/>
        </p:nvSpPr>
        <p:spPr>
          <a:xfrm>
            <a:off x="6986016" y="3172968"/>
            <a:ext cx="1600200" cy="457200"/>
          </a:xfrm>
          <a:prstGeom prst="rect">
            <a:avLst/>
          </a:prstGeom>
          <a:noFill/>
          <a:ln/>
        </p:spPr>
        <p:txBody>
          <a:bodyPr wrap="square" lIns="0" tIns="0" rIns="0" bIns="0" rtlCol="0" anchor="t"/>
          <a:lstStyle/>
          <a:p>
            <a:pPr indent="0" marL="0">
              <a:buNone/>
            </a:pPr>
            <a:r>
              <a:rPr lang="en-US" sz="1200" dirty="0">
                <a:solidFill>
                  <a:schemeClr val="accent6"/>
                </a:solidFill>
              </a:rPr>
              <a:t>Evidence trail for auditors</a:t>
            </a:r>
            <a:endParaRPr lang="en-US" sz="1200" dirty="0"/>
          </a:p>
        </p:txBody>
      </p:sp>
      <p:sp>
        <p:nvSpPr>
          <p:cNvPr id="42" name="Text 36"/>
          <p:cNvSpPr txBox="1"/>
          <p:nvPr/>
        </p:nvSpPr>
        <p:spPr>
          <a:xfrm>
            <a:off x="6986016" y="3630168"/>
            <a:ext cx="1600200" cy="365760"/>
          </a:xfrm>
          <a:prstGeom prst="rect">
            <a:avLst/>
          </a:prstGeom>
          <a:noFill/>
          <a:ln/>
        </p:spPr>
        <p:txBody>
          <a:bodyPr wrap="square" lIns="0" tIns="0" rIns="0" bIns="0" rtlCol="0" anchor="b"/>
          <a:lstStyle/>
          <a:p>
            <a:pPr indent="0" marL="0">
              <a:buNone/>
            </a:pPr>
            <a:r>
              <a:rPr lang="en-US" sz="1100" b="1" dirty="0">
                <a:solidFill>
                  <a:schemeClr val="tx1"/>
                </a:solidFill>
                <a:latin typeface="Courier New" pitchFamily="34" charset="0"/>
                <a:ea typeface="Courier New" pitchFamily="34" charset="-122"/>
                <a:cs typeface="Courier New" pitchFamily="34" charset="-120"/>
              </a:rPr>
              <a:t>deploy-to-spcs</a:t>
            </a:r>
            <a:endParaRPr lang="en-US" sz="1100" dirty="0"/>
          </a:p>
        </p:txBody>
      </p:sp>
      <p:sp>
        <p:nvSpPr>
          <p:cNvPr id="43" name="Text 37"/>
          <p:cNvSpPr txBox="1"/>
          <p:nvPr/>
        </p:nvSpPr>
        <p:spPr>
          <a:xfrm>
            <a:off x="6986016" y="4014216"/>
            <a:ext cx="1600200" cy="457200"/>
          </a:xfrm>
          <a:prstGeom prst="rect">
            <a:avLst/>
          </a:prstGeom>
          <a:noFill/>
          <a:ln/>
        </p:spPr>
        <p:txBody>
          <a:bodyPr wrap="square" lIns="0" tIns="0" rIns="0" bIns="0" rtlCol="0" anchor="t"/>
          <a:lstStyle/>
          <a:p>
            <a:pPr indent="0" marL="0">
              <a:buNone/>
            </a:pPr>
            <a:r>
              <a:rPr lang="en-US" sz="1200" dirty="0">
                <a:solidFill>
                  <a:schemeClr val="accent6"/>
                </a:solidFill>
              </a:rPr>
              <a:t>Ship the Svelte investigator app</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2 · HOW MODULES PLUG TOGETHER</a:t>
            </a:r>
            <a:endParaRPr lang="en-US" sz="1100" dirty="0"/>
          </a:p>
        </p:txBody>
      </p:sp>
      <p:sp>
        <p:nvSpPr>
          <p:cNvPr id="3" name="Text 0"/>
          <p:cNvSpPr/>
          <p:nvPr>
            <p:ph idx="101" type="title" hasCustomPrompt="1"/>
          </p:nvPr>
        </p:nvSpPr>
        <p:spPr>
          <a:xfrm>
            <a:off x="457200" y="530352"/>
            <a:ext cx="8229600" cy="502920"/>
          </a:xfrm>
          <a:prstGeom prst="rect">
            <a:avLst/>
          </a:prstGeom>
          <a:noFill/>
          <a:ln/>
        </p:spPr>
        <p:txBody>
          <a:bodyPr wrap="square" lIns="0" tIns="0" rIns="0" bIns="0" rtlCol="0" anchor="ctr"/>
          <a:lstStyle/>
          <a:p>
            <a:pPr algn="l" indent="0" marL="0">
              <a:buNone/>
            </a:pPr>
            <a:r>
              <a:rPr lang="en-US" sz="2400" b="1" dirty="0">
                <a:solidFill>
                  <a:schemeClr val="tx1"/>
                </a:solidFill>
              </a:rPr>
              <a:t>Signal → evidence → finding → report</a:t>
            </a:r>
            <a:endParaRPr lang="en-US" sz="2400" dirty="0"/>
          </a:p>
        </p:txBody>
      </p:sp>
      <p:sp>
        <p:nvSpPr>
          <p:cNvPr id="4" name="Shape 2"/>
          <p:cNvSpPr/>
          <p:nvPr/>
        </p:nvSpPr>
        <p:spPr>
          <a:xfrm>
            <a:off x="457200" y="1280160"/>
            <a:ext cx="1874520" cy="2514600"/>
          </a:xfrm>
          <a:prstGeom prst="roundRect">
            <a:avLst>
              <a:gd name="adj" fmla="val 3902"/>
            </a:avLst>
          </a:prstGeom>
          <a:solidFill>
            <a:schemeClr val="bg2"/>
          </a:solidFill>
          <a:ln/>
        </p:spPr>
      </p:sp>
      <p:sp>
        <p:nvSpPr>
          <p:cNvPr id="5" name="Shape 3"/>
          <p:cNvSpPr/>
          <p:nvPr/>
        </p:nvSpPr>
        <p:spPr>
          <a:xfrm>
            <a:off x="621792" y="1444752"/>
            <a:ext cx="457200" cy="457200"/>
          </a:xfrm>
          <a:prstGeom prst="ellipse">
            <a:avLst/>
          </a:prstGeom>
          <a:solidFill>
            <a:schemeClr val="accent3"/>
          </a:solidFill>
          <a:ln/>
        </p:spPr>
      </p:sp>
      <p:sp>
        <p:nvSpPr>
          <p:cNvPr id="6" name="Text 4"/>
          <p:cNvSpPr txBox="1"/>
          <p:nvPr/>
        </p:nvSpPr>
        <p:spPr>
          <a:xfrm>
            <a:off x="621792" y="14447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188720" y="1444752"/>
            <a:ext cx="1051560" cy="457200"/>
          </a:xfrm>
          <a:prstGeom prst="rect">
            <a:avLst/>
          </a:prstGeom>
          <a:noFill/>
          <a:ln/>
        </p:spPr>
        <p:txBody>
          <a:bodyPr wrap="square" lIns="0" tIns="0" rIns="0" bIns="0" rtlCol="0" anchor="ctr"/>
          <a:lstStyle/>
          <a:p>
            <a:pPr indent="0" marL="0">
              <a:buNone/>
            </a:pPr>
            <a:r>
              <a:rPr lang="en-US" sz="1800" b="1" dirty="0">
                <a:solidFill>
                  <a:schemeClr val="tx1"/>
                </a:solidFill>
              </a:rPr>
              <a:t>Signal</a:t>
            </a:r>
            <a:endParaRPr lang="en-US" sz="1800" dirty="0"/>
          </a:p>
        </p:txBody>
      </p:sp>
      <p:sp>
        <p:nvSpPr>
          <p:cNvPr id="8" name="Text 6"/>
          <p:cNvSpPr txBox="1"/>
          <p:nvPr/>
        </p:nvSpPr>
        <p:spPr>
          <a:xfrm>
            <a:off x="621792" y="2057400"/>
            <a:ext cx="1600200" cy="256032"/>
          </a:xfrm>
          <a:prstGeom prst="rect">
            <a:avLst/>
          </a:prstGeom>
          <a:noFill/>
          <a:ln/>
        </p:spPr>
        <p:txBody>
          <a:bodyPr wrap="square" lIns="0" tIns="0" rIns="0" bIns="0" rtlCol="0" anchor="t"/>
          <a:lstStyle/>
          <a:p>
            <a:pPr indent="0" marL="0">
              <a:buNone/>
            </a:pPr>
            <a:r>
              <a:rPr lang="en-US" sz="1200" dirty="0">
                <a:solidFill>
                  <a:schemeClr val="accent6"/>
                </a:solidFill>
              </a:rPr>
              <a:t>Graph detector</a:t>
            </a:r>
            <a:endParaRPr lang="en-US" sz="1200" dirty="0"/>
          </a:p>
        </p:txBody>
      </p:sp>
      <p:sp>
        <p:nvSpPr>
          <p:cNvPr id="9" name="Text 7"/>
          <p:cNvSpPr txBox="1"/>
          <p:nvPr/>
        </p:nvSpPr>
        <p:spPr>
          <a:xfrm>
            <a:off x="621792" y="2331720"/>
            <a:ext cx="1600200" cy="256032"/>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ALERTS</a:t>
            </a:r>
            <a:endParaRPr lang="en-US" sz="1200" dirty="0"/>
          </a:p>
        </p:txBody>
      </p:sp>
      <p:sp>
        <p:nvSpPr>
          <p:cNvPr id="10" name="Text 8"/>
          <p:cNvSpPr txBox="1"/>
          <p:nvPr/>
        </p:nvSpPr>
        <p:spPr>
          <a:xfrm>
            <a:off x="621792" y="2697480"/>
            <a:ext cx="1600200" cy="1005840"/>
          </a:xfrm>
          <a:prstGeom prst="rect">
            <a:avLst/>
          </a:prstGeom>
          <a:noFill/>
          <a:ln/>
        </p:spPr>
        <p:txBody>
          <a:bodyPr wrap="square" lIns="0" tIns="0" rIns="0" bIns="0" rtlCol="0" anchor="t"/>
          <a:lstStyle/>
          <a:p>
            <a:pPr indent="0" marL="0">
              <a:buNone/>
            </a:pPr>
            <a:r>
              <a:rPr lang="en-US" sz="1300" dirty="0">
                <a:solidFill>
                  <a:schemeClr val="tx1"/>
                </a:solidFill>
              </a:rPr>
              <a:t>Pattern, accounts, amount (₹), risk score</a:t>
            </a:r>
            <a:endParaRPr lang="en-US" sz="1300" dirty="0"/>
          </a:p>
        </p:txBody>
      </p:sp>
      <p:sp>
        <p:nvSpPr>
          <p:cNvPr id="11" name="Shape 9"/>
          <p:cNvSpPr/>
          <p:nvPr/>
        </p:nvSpPr>
        <p:spPr>
          <a:xfrm>
            <a:off x="2359152" y="2532888"/>
            <a:ext cx="192024" cy="914"/>
          </a:xfrm>
          <a:prstGeom prst="line">
            <a:avLst/>
          </a:prstGeom>
          <a:noFill/>
          <a:ln w="19050">
            <a:solidFill>
              <a:schemeClr val="accent6"/>
            </a:solidFill>
            <a:prstDash val="solid"/>
            <a:tailEnd type="triangle"/>
          </a:ln>
        </p:spPr>
      </p:sp>
      <p:sp>
        <p:nvSpPr>
          <p:cNvPr id="12" name="Shape 10"/>
          <p:cNvSpPr/>
          <p:nvPr/>
        </p:nvSpPr>
        <p:spPr>
          <a:xfrm>
            <a:off x="2578608" y="1280160"/>
            <a:ext cx="1874520" cy="2514600"/>
          </a:xfrm>
          <a:prstGeom prst="roundRect">
            <a:avLst>
              <a:gd name="adj" fmla="val 3902"/>
            </a:avLst>
          </a:prstGeom>
          <a:solidFill>
            <a:schemeClr val="bg2"/>
          </a:solidFill>
          <a:ln/>
        </p:spPr>
      </p:sp>
      <p:sp>
        <p:nvSpPr>
          <p:cNvPr id="13" name="Shape 11"/>
          <p:cNvSpPr/>
          <p:nvPr/>
        </p:nvSpPr>
        <p:spPr>
          <a:xfrm>
            <a:off x="2743200" y="1444752"/>
            <a:ext cx="457200" cy="457200"/>
          </a:xfrm>
          <a:prstGeom prst="ellipse">
            <a:avLst/>
          </a:prstGeom>
          <a:solidFill>
            <a:schemeClr val="accent4"/>
          </a:solidFill>
          <a:ln/>
        </p:spPr>
      </p:sp>
      <p:sp>
        <p:nvSpPr>
          <p:cNvPr id="14" name="Text 12"/>
          <p:cNvSpPr txBox="1"/>
          <p:nvPr/>
        </p:nvSpPr>
        <p:spPr>
          <a:xfrm>
            <a:off x="2743200" y="14447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 13"/>
          <p:cNvSpPr txBox="1"/>
          <p:nvPr/>
        </p:nvSpPr>
        <p:spPr>
          <a:xfrm>
            <a:off x="3310128" y="1444752"/>
            <a:ext cx="1051560" cy="457200"/>
          </a:xfrm>
          <a:prstGeom prst="rect">
            <a:avLst/>
          </a:prstGeom>
          <a:noFill/>
          <a:ln/>
        </p:spPr>
        <p:txBody>
          <a:bodyPr wrap="square" lIns="0" tIns="0" rIns="0" bIns="0" rtlCol="0" anchor="ctr"/>
          <a:lstStyle/>
          <a:p>
            <a:pPr indent="0" marL="0">
              <a:buNone/>
            </a:pPr>
            <a:r>
              <a:rPr lang="en-US" sz="1800" b="1" dirty="0">
                <a:solidFill>
                  <a:schemeClr val="tx1"/>
                </a:solidFill>
              </a:rPr>
              <a:t>Evidence</a:t>
            </a:r>
            <a:endParaRPr lang="en-US" sz="1800" dirty="0"/>
          </a:p>
        </p:txBody>
      </p:sp>
      <p:sp>
        <p:nvSpPr>
          <p:cNvPr id="16" name="Text 14"/>
          <p:cNvSpPr txBox="1"/>
          <p:nvPr/>
        </p:nvSpPr>
        <p:spPr>
          <a:xfrm>
            <a:off x="2743200" y="2057400"/>
            <a:ext cx="1600200" cy="256032"/>
          </a:xfrm>
          <a:prstGeom prst="rect">
            <a:avLst/>
          </a:prstGeom>
          <a:noFill/>
          <a:ln/>
        </p:spPr>
        <p:txBody>
          <a:bodyPr wrap="square" lIns="0" tIns="0" rIns="0" bIns="0" rtlCol="0" anchor="t"/>
          <a:lstStyle/>
          <a:p>
            <a:pPr indent="0" marL="0">
              <a:buNone/>
            </a:pPr>
            <a:r>
              <a:rPr lang="en-US" sz="1200" dirty="0">
                <a:solidFill>
                  <a:schemeClr val="accent6"/>
                </a:solidFill>
              </a:rPr>
              <a:t>Evidence builder</a:t>
            </a:r>
            <a:endParaRPr lang="en-US" sz="1200" dirty="0"/>
          </a:p>
        </p:txBody>
      </p:sp>
      <p:sp>
        <p:nvSpPr>
          <p:cNvPr id="17" name="Text 15"/>
          <p:cNvSpPr txBox="1"/>
          <p:nvPr/>
        </p:nvSpPr>
        <p:spPr>
          <a:xfrm>
            <a:off x="2743200" y="2331720"/>
            <a:ext cx="1600200" cy="256032"/>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EVIDENCE_PACKS</a:t>
            </a:r>
            <a:endParaRPr lang="en-US" sz="1200" dirty="0"/>
          </a:p>
        </p:txBody>
      </p:sp>
      <p:sp>
        <p:nvSpPr>
          <p:cNvPr id="18" name="Text 16"/>
          <p:cNvSpPr txBox="1"/>
          <p:nvPr/>
        </p:nvSpPr>
        <p:spPr>
          <a:xfrm>
            <a:off x="2743200" y="2697480"/>
            <a:ext cx="1600200" cy="1005840"/>
          </a:xfrm>
          <a:prstGeom prst="rect">
            <a:avLst/>
          </a:prstGeom>
          <a:noFill/>
          <a:ln/>
        </p:spPr>
        <p:txBody>
          <a:bodyPr wrap="square" lIns="0" tIns="0" rIns="0" bIns="0" rtlCol="0" anchor="t"/>
          <a:lstStyle/>
          <a:p>
            <a:pPr indent="0" marL="0">
              <a:buNone/>
            </a:pPr>
            <a:r>
              <a:rPr lang="en-US" sz="1300" dirty="0">
                <a:solidFill>
                  <a:schemeClr val="tx1"/>
                </a:solidFill>
              </a:rPr>
              <a:t>Subgraph, source transactions, matching policy clauses</a:t>
            </a:r>
            <a:endParaRPr lang="en-US" sz="1300" dirty="0"/>
          </a:p>
        </p:txBody>
      </p:sp>
      <p:sp>
        <p:nvSpPr>
          <p:cNvPr id="19" name="Shape 17"/>
          <p:cNvSpPr/>
          <p:nvPr/>
        </p:nvSpPr>
        <p:spPr>
          <a:xfrm>
            <a:off x="4480560" y="2532888"/>
            <a:ext cx="192024" cy="914"/>
          </a:xfrm>
          <a:prstGeom prst="line">
            <a:avLst/>
          </a:prstGeom>
          <a:noFill/>
          <a:ln w="19050">
            <a:solidFill>
              <a:schemeClr val="accent6"/>
            </a:solidFill>
            <a:prstDash val="solid"/>
            <a:tailEnd type="triangle"/>
          </a:ln>
        </p:spPr>
      </p:sp>
      <p:sp>
        <p:nvSpPr>
          <p:cNvPr id="20" name="Shape 18"/>
          <p:cNvSpPr/>
          <p:nvPr/>
        </p:nvSpPr>
        <p:spPr>
          <a:xfrm>
            <a:off x="4700016" y="1280160"/>
            <a:ext cx="1874520" cy="2514600"/>
          </a:xfrm>
          <a:prstGeom prst="roundRect">
            <a:avLst>
              <a:gd name="adj" fmla="val 3902"/>
            </a:avLst>
          </a:prstGeom>
          <a:solidFill>
            <a:schemeClr val="bg2"/>
          </a:solidFill>
          <a:ln/>
        </p:spPr>
      </p:sp>
      <p:sp>
        <p:nvSpPr>
          <p:cNvPr id="21" name="Shape 19"/>
          <p:cNvSpPr/>
          <p:nvPr/>
        </p:nvSpPr>
        <p:spPr>
          <a:xfrm>
            <a:off x="4864608" y="1444752"/>
            <a:ext cx="457200" cy="457200"/>
          </a:xfrm>
          <a:prstGeom prst="ellipse">
            <a:avLst/>
          </a:prstGeom>
          <a:solidFill>
            <a:schemeClr val="accent1"/>
          </a:solidFill>
          <a:ln/>
        </p:spPr>
      </p:sp>
      <p:sp>
        <p:nvSpPr>
          <p:cNvPr id="22" name="Text 20"/>
          <p:cNvSpPr txBox="1"/>
          <p:nvPr/>
        </p:nvSpPr>
        <p:spPr>
          <a:xfrm>
            <a:off x="4864608" y="14447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3" name="Text 21"/>
          <p:cNvSpPr txBox="1"/>
          <p:nvPr/>
        </p:nvSpPr>
        <p:spPr>
          <a:xfrm>
            <a:off x="5431536" y="1444752"/>
            <a:ext cx="1051560" cy="457200"/>
          </a:xfrm>
          <a:prstGeom prst="rect">
            <a:avLst/>
          </a:prstGeom>
          <a:noFill/>
          <a:ln/>
        </p:spPr>
        <p:txBody>
          <a:bodyPr wrap="square" lIns="0" tIns="0" rIns="0" bIns="0" rtlCol="0" anchor="ctr"/>
          <a:lstStyle/>
          <a:p>
            <a:pPr indent="0" marL="0">
              <a:buNone/>
            </a:pPr>
            <a:r>
              <a:rPr lang="en-US" sz="1800" b="1" dirty="0">
                <a:solidFill>
                  <a:schemeClr val="tx1"/>
                </a:solidFill>
              </a:rPr>
              <a:t>Finding</a:t>
            </a:r>
            <a:endParaRPr lang="en-US" sz="1800" dirty="0"/>
          </a:p>
        </p:txBody>
      </p:sp>
      <p:sp>
        <p:nvSpPr>
          <p:cNvPr id="24" name="Text 22"/>
          <p:cNvSpPr txBox="1"/>
          <p:nvPr/>
        </p:nvSpPr>
        <p:spPr>
          <a:xfrm>
            <a:off x="4864608" y="2057400"/>
            <a:ext cx="1600200" cy="256032"/>
          </a:xfrm>
          <a:prstGeom prst="rect">
            <a:avLst/>
          </a:prstGeom>
          <a:noFill/>
          <a:ln/>
        </p:spPr>
        <p:txBody>
          <a:bodyPr wrap="square" lIns="0" tIns="0" rIns="0" bIns="0" rtlCol="0" anchor="t"/>
          <a:lstStyle/>
          <a:p>
            <a:pPr indent="0" marL="0">
              <a:buNone/>
            </a:pPr>
            <a:r>
              <a:rPr lang="en-US" sz="1200" dirty="0">
                <a:solidFill>
                  <a:schemeClr val="accent6"/>
                </a:solidFill>
              </a:rPr>
              <a:t>Analyst + agent</a:t>
            </a:r>
            <a:endParaRPr lang="en-US" sz="1200" dirty="0"/>
          </a:p>
        </p:txBody>
      </p:sp>
      <p:sp>
        <p:nvSpPr>
          <p:cNvPr id="25" name="Text 23"/>
          <p:cNvSpPr txBox="1"/>
          <p:nvPr/>
        </p:nvSpPr>
        <p:spPr>
          <a:xfrm>
            <a:off x="4864608" y="2331720"/>
            <a:ext cx="1600200" cy="256032"/>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CASES</a:t>
            </a:r>
            <a:endParaRPr lang="en-US" sz="1200" dirty="0"/>
          </a:p>
        </p:txBody>
      </p:sp>
      <p:sp>
        <p:nvSpPr>
          <p:cNvPr id="26" name="Text 24"/>
          <p:cNvSpPr txBox="1"/>
          <p:nvPr/>
        </p:nvSpPr>
        <p:spPr>
          <a:xfrm>
            <a:off x="4864608" y="2697480"/>
            <a:ext cx="1600200" cy="1005840"/>
          </a:xfrm>
          <a:prstGeom prst="rect">
            <a:avLst/>
          </a:prstGeom>
          <a:noFill/>
          <a:ln/>
        </p:spPr>
        <p:txBody>
          <a:bodyPr wrap="square" lIns="0" tIns="0" rIns="0" bIns="0" rtlCol="0" anchor="t"/>
          <a:lstStyle/>
          <a:p>
            <a:pPr indent="0" marL="0">
              <a:buNone/>
            </a:pPr>
            <a:r>
              <a:rPr lang="en-US" sz="1300" dirty="0">
                <a:solidFill>
                  <a:schemeClr val="tx1"/>
                </a:solidFill>
              </a:rPr>
              <a:t>Decision, rationale, reviewer, timestamp</a:t>
            </a:r>
            <a:endParaRPr lang="en-US" sz="1300" dirty="0"/>
          </a:p>
        </p:txBody>
      </p:sp>
      <p:sp>
        <p:nvSpPr>
          <p:cNvPr id="27" name="Shape 25"/>
          <p:cNvSpPr/>
          <p:nvPr/>
        </p:nvSpPr>
        <p:spPr>
          <a:xfrm>
            <a:off x="6601968" y="2532888"/>
            <a:ext cx="192024" cy="914"/>
          </a:xfrm>
          <a:prstGeom prst="line">
            <a:avLst/>
          </a:prstGeom>
          <a:noFill/>
          <a:ln w="19050">
            <a:solidFill>
              <a:schemeClr val="accent6"/>
            </a:solidFill>
            <a:prstDash val="solid"/>
            <a:tailEnd type="triangle"/>
          </a:ln>
        </p:spPr>
      </p:sp>
      <p:sp>
        <p:nvSpPr>
          <p:cNvPr id="28" name="Shape 26"/>
          <p:cNvSpPr/>
          <p:nvPr/>
        </p:nvSpPr>
        <p:spPr>
          <a:xfrm>
            <a:off x="6821424" y="1280160"/>
            <a:ext cx="1874520" cy="2514600"/>
          </a:xfrm>
          <a:prstGeom prst="roundRect">
            <a:avLst>
              <a:gd name="adj" fmla="val 3902"/>
            </a:avLst>
          </a:prstGeom>
          <a:solidFill>
            <a:schemeClr val="bg2"/>
          </a:solidFill>
          <a:ln/>
        </p:spPr>
      </p:sp>
      <p:sp>
        <p:nvSpPr>
          <p:cNvPr id="29" name="Shape 27"/>
          <p:cNvSpPr/>
          <p:nvPr/>
        </p:nvSpPr>
        <p:spPr>
          <a:xfrm>
            <a:off x="6986016" y="1444752"/>
            <a:ext cx="457200" cy="457200"/>
          </a:xfrm>
          <a:prstGeom prst="ellipse">
            <a:avLst/>
          </a:prstGeom>
          <a:solidFill>
            <a:schemeClr val="accent2"/>
          </a:solidFill>
          <a:ln/>
        </p:spPr>
      </p:sp>
      <p:sp>
        <p:nvSpPr>
          <p:cNvPr id="30" name="Text 28"/>
          <p:cNvSpPr txBox="1"/>
          <p:nvPr/>
        </p:nvSpPr>
        <p:spPr>
          <a:xfrm>
            <a:off x="6986016" y="14447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1" name="Text 29"/>
          <p:cNvSpPr txBox="1"/>
          <p:nvPr/>
        </p:nvSpPr>
        <p:spPr>
          <a:xfrm>
            <a:off x="7552944" y="1444752"/>
            <a:ext cx="1051560" cy="457200"/>
          </a:xfrm>
          <a:prstGeom prst="rect">
            <a:avLst/>
          </a:prstGeom>
          <a:noFill/>
          <a:ln/>
        </p:spPr>
        <p:txBody>
          <a:bodyPr wrap="square" lIns="0" tIns="0" rIns="0" bIns="0" rtlCol="0" anchor="ctr"/>
          <a:lstStyle/>
          <a:p>
            <a:pPr indent="0" marL="0">
              <a:buNone/>
            </a:pPr>
            <a:r>
              <a:rPr lang="en-US" sz="1800" b="1" dirty="0">
                <a:solidFill>
                  <a:schemeClr val="tx1"/>
                </a:solidFill>
              </a:rPr>
              <a:t>Report</a:t>
            </a:r>
            <a:endParaRPr lang="en-US" sz="1800" dirty="0"/>
          </a:p>
        </p:txBody>
      </p:sp>
      <p:sp>
        <p:nvSpPr>
          <p:cNvPr id="32" name="Text 30"/>
          <p:cNvSpPr txBox="1"/>
          <p:nvPr/>
        </p:nvSpPr>
        <p:spPr>
          <a:xfrm>
            <a:off x="6986016" y="2057400"/>
            <a:ext cx="1600200" cy="256032"/>
          </a:xfrm>
          <a:prstGeom prst="rect">
            <a:avLst/>
          </a:prstGeom>
          <a:noFill/>
          <a:ln/>
        </p:spPr>
        <p:txBody>
          <a:bodyPr wrap="square" lIns="0" tIns="0" rIns="0" bIns="0" rtlCol="0" anchor="t"/>
          <a:lstStyle/>
          <a:p>
            <a:pPr indent="0" marL="0">
              <a:buNone/>
            </a:pPr>
            <a:r>
              <a:rPr lang="en-US" sz="1200" dirty="0">
                <a:solidFill>
                  <a:schemeClr val="accent6"/>
                </a:solidFill>
              </a:rPr>
              <a:t>STR drafter</a:t>
            </a:r>
            <a:endParaRPr lang="en-US" sz="1200" dirty="0"/>
          </a:p>
        </p:txBody>
      </p:sp>
      <p:sp>
        <p:nvSpPr>
          <p:cNvPr id="33" name="Text 31"/>
          <p:cNvSpPr txBox="1"/>
          <p:nvPr/>
        </p:nvSpPr>
        <p:spPr>
          <a:xfrm>
            <a:off x="6986016" y="2331720"/>
            <a:ext cx="1600200" cy="256032"/>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STR_DRAFTS</a:t>
            </a:r>
            <a:endParaRPr lang="en-US" sz="1200" dirty="0"/>
          </a:p>
        </p:txBody>
      </p:sp>
      <p:sp>
        <p:nvSpPr>
          <p:cNvPr id="34" name="Text 32"/>
          <p:cNvSpPr txBox="1"/>
          <p:nvPr/>
        </p:nvSpPr>
        <p:spPr>
          <a:xfrm>
            <a:off x="6986016" y="2697480"/>
            <a:ext cx="1600200" cy="1005840"/>
          </a:xfrm>
          <a:prstGeom prst="rect">
            <a:avLst/>
          </a:prstGeom>
          <a:noFill/>
          <a:ln/>
        </p:spPr>
        <p:txBody>
          <a:bodyPr wrap="square" lIns="0" tIns="0" rIns="0" bIns="0" rtlCol="0" anchor="t"/>
          <a:lstStyle/>
          <a:p>
            <a:pPr indent="0" marL="0">
              <a:buNone/>
            </a:pPr>
            <a:r>
              <a:rPr lang="en-US" sz="1300" dirty="0">
                <a:solidFill>
                  <a:schemeClr val="tx1"/>
                </a:solidFill>
              </a:rPr>
              <a:t>FIU-IND fields pre-filled, narrative, attachments</a:t>
            </a:r>
            <a:endParaRPr lang="en-US" sz="1300" dirty="0"/>
          </a:p>
        </p:txBody>
      </p:sp>
      <p:sp>
        <p:nvSpPr>
          <p:cNvPr id="35" name="Shape 33"/>
          <p:cNvSpPr/>
          <p:nvPr/>
        </p:nvSpPr>
        <p:spPr>
          <a:xfrm>
            <a:off x="457200" y="4041648"/>
            <a:ext cx="457200" cy="457200"/>
          </a:xfrm>
          <a:prstGeom prst="ellipse">
            <a:avLst/>
          </a:prstGeom>
          <a:solidFill>
            <a:schemeClr val="tx2"/>
          </a:solidFill>
          <a:ln/>
        </p:spPr>
      </p:sp>
      <p:pic>
        <p:nvPicPr>
          <p:cNvPr id="36" name="Image 0" descr="preencoded.png">    </p:cNvPr>
          <p:cNvPicPr>
            <a:picLocks noChangeAspect="1"/>
          </p:cNvPicPr>
          <p:nvPr/>
        </p:nvPicPr>
        <p:blipFill>
          <a:blip r:embed="rId1"/>
          <a:stretch>
            <a:fillRect/>
          </a:stretch>
        </p:blipFill>
        <p:spPr>
          <a:xfrm>
            <a:off x="566928" y="4151376"/>
            <a:ext cx="237744" cy="237744"/>
          </a:xfrm>
          <a:prstGeom prst="rect">
            <a:avLst/>
          </a:prstGeom>
        </p:spPr>
      </p:pic>
      <p:sp>
        <p:nvSpPr>
          <p:cNvPr id="37" name="Text 34"/>
          <p:cNvSpPr txBox="1"/>
          <p:nvPr/>
        </p:nvSpPr>
        <p:spPr>
          <a:xfrm>
            <a:off x="1097280" y="3977640"/>
            <a:ext cx="7589520" cy="594360"/>
          </a:xfrm>
          <a:prstGeom prst="rect">
            <a:avLst/>
          </a:prstGeom>
          <a:noFill/>
          <a:ln/>
        </p:spPr>
        <p:txBody>
          <a:bodyPr wrap="square" lIns="0" tIns="0" rIns="0" bIns="0" rtlCol="0" anchor="ctr"/>
          <a:lstStyle/>
          <a:p>
            <a:pPr indent="0" marL="0">
              <a:buNone/>
            </a:pPr>
            <a:r>
              <a:rPr lang="en-US" sz="1400" dirty="0">
                <a:solidFill>
                  <a:schemeClr val="tx1"/>
                </a:solidFill>
              </a:rPr>
              <a:t>Modules talk only through governed tables. A new typology, another UI or a different detector plugs in without touching the rest, and every step is in Snowflake lineage.</a:t>
            </a:r>
            <a:endParaRPr lang="en-US" sz="14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2 · USER EXPERIENCE</a:t>
            </a:r>
            <a:endParaRPr lang="en-US" sz="1100" dirty="0"/>
          </a:p>
        </p:txBody>
      </p:sp>
      <p:sp>
        <p:nvSpPr>
          <p:cNvPr id="3" name="Text 0"/>
          <p:cNvSpPr/>
          <p:nvPr>
            <p:ph idx="101" type="title" hasCustomPrompt="1"/>
          </p:nvPr>
        </p:nvSpPr>
        <p:spPr>
          <a:xfrm>
            <a:off x="457200" y="530352"/>
            <a:ext cx="8229600" cy="502920"/>
          </a:xfrm>
          <a:prstGeom prst="rect">
            <a:avLst/>
          </a:prstGeom>
          <a:noFill/>
          <a:ln/>
        </p:spPr>
        <p:txBody>
          <a:bodyPr wrap="square" lIns="0" tIns="0" rIns="0" bIns="0" rtlCol="0" anchor="ctr"/>
          <a:lstStyle/>
          <a:p>
            <a:pPr algn="l" indent="0" marL="0">
              <a:buNone/>
            </a:pPr>
            <a:r>
              <a:rPr lang="en-US" sz="2400" b="1" dirty="0">
                <a:solidFill>
                  <a:schemeClr val="tx1"/>
                </a:solidFill>
              </a:rPr>
              <a:t>Ask in plain English, get an answer you can defend</a:t>
            </a:r>
            <a:endParaRPr lang="en-US" sz="2400" dirty="0"/>
          </a:p>
        </p:txBody>
      </p:sp>
      <p:pic>
        <p:nvPicPr>
          <p:cNvPr id="4" name="Image 0" descr="preencoded.png">    </p:cNvPr>
          <p:cNvPicPr>
            <a:picLocks noChangeAspect="1"/>
          </p:cNvPicPr>
          <p:nvPr/>
        </p:nvPicPr>
        <p:blipFill>
          <a:blip r:embed="rId1"/>
          <a:stretch>
            <a:fillRect/>
          </a:stretch>
        </p:blipFill>
        <p:spPr>
          <a:xfrm>
            <a:off x="457200" y="1371600"/>
            <a:ext cx="292608" cy="292608"/>
          </a:xfrm>
          <a:prstGeom prst="rect">
            <a:avLst/>
          </a:prstGeom>
        </p:spPr>
      </p:pic>
      <p:sp>
        <p:nvSpPr>
          <p:cNvPr id="5" name="Shape 2"/>
          <p:cNvSpPr/>
          <p:nvPr/>
        </p:nvSpPr>
        <p:spPr>
          <a:xfrm>
            <a:off x="914400" y="1261872"/>
            <a:ext cx="4389120" cy="731520"/>
          </a:xfrm>
          <a:prstGeom prst="roundRect">
            <a:avLst>
              <a:gd name="adj" fmla="val 10000"/>
            </a:avLst>
          </a:prstGeom>
          <a:solidFill>
            <a:schemeClr val="bg2"/>
          </a:solidFill>
          <a:ln/>
        </p:spPr>
      </p:sp>
      <p:sp>
        <p:nvSpPr>
          <p:cNvPr id="6" name="Text 3"/>
          <p:cNvSpPr txBox="1"/>
          <p:nvPr/>
        </p:nvSpPr>
        <p:spPr>
          <a:xfrm>
            <a:off x="1051560" y="1261872"/>
            <a:ext cx="4114800" cy="731520"/>
          </a:xfrm>
          <a:prstGeom prst="rect">
            <a:avLst/>
          </a:prstGeom>
          <a:noFill/>
          <a:ln/>
        </p:spPr>
        <p:txBody>
          <a:bodyPr wrap="square" lIns="0" tIns="0" rIns="0" bIns="0" rtlCol="0" anchor="ctr"/>
          <a:lstStyle/>
          <a:p>
            <a:pPr indent="0" marL="0">
              <a:buNone/>
            </a:pPr>
            <a:r>
              <a:rPr lang="en-US" sz="1300" i="1" dirty="0">
                <a:solidFill>
                  <a:schemeClr val="tx1"/>
                </a:solidFill>
              </a:rPr>
              <a:t>Which accounts received over ₹5 lakh in sub-₹1,000 transfers? Does that breach our policy?</a:t>
            </a:r>
            <a:endParaRPr lang="en-US" sz="1300" dirty="0"/>
          </a:p>
        </p:txBody>
      </p:sp>
      <p:sp>
        <p:nvSpPr>
          <p:cNvPr id="7" name="Shape 4"/>
          <p:cNvSpPr/>
          <p:nvPr/>
        </p:nvSpPr>
        <p:spPr>
          <a:xfrm>
            <a:off x="457200" y="2148840"/>
            <a:ext cx="4846320" cy="2286000"/>
          </a:xfrm>
          <a:prstGeom prst="roundRect">
            <a:avLst>
              <a:gd name="adj" fmla="val 3200"/>
            </a:avLst>
          </a:prstGeom>
          <a:solidFill>
            <a:schemeClr val="bg1"/>
          </a:solidFill>
          <a:ln w="15875">
            <a:solidFill>
              <a:schemeClr val="accent2"/>
            </a:solidFill>
            <a:prstDash val="solid"/>
          </a:ln>
        </p:spPr>
      </p:sp>
      <p:sp>
        <p:nvSpPr>
          <p:cNvPr id="8" name="Shape 5"/>
          <p:cNvSpPr/>
          <p:nvPr/>
        </p:nvSpPr>
        <p:spPr>
          <a:xfrm>
            <a:off x="621792" y="2286000"/>
            <a:ext cx="365760" cy="365760"/>
          </a:xfrm>
          <a:prstGeom prst="ellipse">
            <a:avLst/>
          </a:prstGeom>
          <a:solidFill>
            <a:schemeClr val="accent2"/>
          </a:solidFill>
          <a:ln/>
        </p:spPr>
      </p:sp>
      <p:pic>
        <p:nvPicPr>
          <p:cNvPr id="9" name="Image 1" descr="preencoded.png">    </p:cNvPr>
          <p:cNvPicPr>
            <a:picLocks noChangeAspect="1"/>
          </p:cNvPicPr>
          <p:nvPr/>
        </p:nvPicPr>
        <p:blipFill>
          <a:blip r:embed="rId2"/>
          <a:stretch>
            <a:fillRect/>
          </a:stretch>
        </p:blipFill>
        <p:spPr>
          <a:xfrm>
            <a:off x="709574" y="2373782"/>
            <a:ext cx="190195" cy="190195"/>
          </a:xfrm>
          <a:prstGeom prst="rect">
            <a:avLst/>
          </a:prstGeom>
        </p:spPr>
      </p:pic>
      <p:sp>
        <p:nvSpPr>
          <p:cNvPr id="10" name="Text 6"/>
          <p:cNvSpPr txBox="1"/>
          <p:nvPr/>
        </p:nvSpPr>
        <p:spPr>
          <a:xfrm>
            <a:off x="1078992" y="2286000"/>
            <a:ext cx="1828800" cy="365760"/>
          </a:xfrm>
          <a:prstGeom prst="rect">
            <a:avLst/>
          </a:prstGeom>
          <a:noFill/>
          <a:ln/>
        </p:spPr>
        <p:txBody>
          <a:bodyPr wrap="square" lIns="0" tIns="0" rIns="0" bIns="0" rtlCol="0" anchor="ctr"/>
          <a:lstStyle/>
          <a:p>
            <a:pPr indent="0" marL="0">
              <a:buNone/>
            </a:pPr>
            <a:r>
              <a:rPr lang="en-US" sz="1200" b="1" dirty="0">
                <a:solidFill>
                  <a:schemeClr val="accent2"/>
                </a:solidFill>
              </a:rPr>
              <a:t>MuleTrace</a:t>
            </a:r>
            <a:endParaRPr lang="en-US" sz="1200" dirty="0"/>
          </a:p>
        </p:txBody>
      </p:sp>
      <p:sp>
        <p:nvSpPr>
          <p:cNvPr id="11" name="Text 7"/>
          <p:cNvSpPr txBox="1"/>
          <p:nvPr/>
        </p:nvSpPr>
        <p:spPr>
          <a:xfrm>
            <a:off x="640080" y="2743200"/>
            <a:ext cx="4480560" cy="1143000"/>
          </a:xfrm>
          <a:prstGeom prst="rect">
            <a:avLst/>
          </a:prstGeom>
          <a:noFill/>
          <a:ln/>
        </p:spPr>
        <p:txBody>
          <a:bodyPr wrap="square" lIns="0" tIns="0" rIns="0" bIns="0" rtlCol="0" anchor="t"/>
          <a:lstStyle/>
          <a:p>
            <a:pPr indent="0" marL="0">
              <a:buNone/>
            </a:pPr>
            <a:r>
              <a:rPr lang="en-US" sz="1300" b="1" dirty="0">
                <a:solidFill>
                  <a:schemeClr val="tx1"/>
                </a:solidFill>
              </a:rPr>
              <a:t>1 account matches. </a:t>
            </a:r>
            <a:pPr indent="0" marL="0">
              <a:buNone/>
            </a:pPr>
            <a:r>
              <a:rPr lang="en-US" sz="1300" dirty="0">
                <a:solidFill>
                  <a:schemeClr val="tx1"/>
                </a:solidFill>
              </a:rPr>
              <a:t>AC79448796 received ₹9.94 lakh in 2,000 transfers from 100 accounts (11–15 Sep).</a:t>
            </a:r>
            <a:endParaRPr lang="en-US" sz="1300" dirty="0"/>
          </a:p>
          <a:p>
            <a:pPr indent="0" marL="0">
              <a:buNone/>
            </a:pPr>
            <a:r>
              <a:rPr lang="en-US" sz="1300" b="1" dirty="0">
                <a:solidFill>
                  <a:schemeClr val="tx1"/>
                </a:solidFill>
              </a:rPr>
              <a:t>Finding F001: structuring · Risk 98/100. </a:t>
            </a:r>
            <a:pPr indent="0" marL="0">
              <a:buNone/>
            </a:pPr>
            <a:r>
              <a:rPr lang="en-US" sz="1300" dirty="0">
                <a:solidFill>
                  <a:schemeClr val="tx1"/>
                </a:solidFill>
              </a:rPr>
              <a:t>Matches policy AML-04 §3.2: 10+ unrelated senders, 5+ transfers of ≤₹2,000 each, same amount, &gt;₹1 lakh total.</a:t>
            </a:r>
            <a:endParaRPr lang="en-US" sz="1300" dirty="0"/>
          </a:p>
        </p:txBody>
      </p:sp>
      <p:sp>
        <p:nvSpPr>
          <p:cNvPr id="12" name="Shape 8"/>
          <p:cNvSpPr/>
          <p:nvPr/>
        </p:nvSpPr>
        <p:spPr>
          <a:xfrm>
            <a:off x="640080" y="4005072"/>
            <a:ext cx="1234440" cy="256032"/>
          </a:xfrm>
          <a:prstGeom prst="roundRect">
            <a:avLst>
              <a:gd name="adj" fmla="val 50000"/>
            </a:avLst>
          </a:prstGeom>
          <a:solidFill>
            <a:schemeClr val="accent2"/>
          </a:solidFill>
          <a:ln/>
        </p:spPr>
      </p:sp>
      <p:sp>
        <p:nvSpPr>
          <p:cNvPr id="13" name="Text 9"/>
          <p:cNvSpPr txBox="1"/>
          <p:nvPr/>
        </p:nvSpPr>
        <p:spPr>
          <a:xfrm>
            <a:off x="640080" y="4005072"/>
            <a:ext cx="1234440" cy="256032"/>
          </a:xfrm>
          <a:prstGeom prst="rect">
            <a:avLst/>
          </a:prstGeom>
          <a:noFill/>
          <a:ln/>
        </p:spPr>
        <p:txBody>
          <a:bodyPr wrap="square" lIns="0" tIns="0" rIns="0" bIns="0" rtlCol="0" anchor="ctr"/>
          <a:lstStyle/>
          <a:p>
            <a:pPr algn="ctr" indent="0" marL="0">
              <a:buNone/>
            </a:pPr>
            <a:r>
              <a:rPr lang="en-US" sz="1000" b="1" dirty="0">
                <a:solidFill>
                  <a:schemeClr val="bg1"/>
                </a:solidFill>
              </a:rPr>
              <a:t>View network</a:t>
            </a:r>
            <a:endParaRPr lang="en-US" sz="1000" dirty="0"/>
          </a:p>
        </p:txBody>
      </p:sp>
      <p:sp>
        <p:nvSpPr>
          <p:cNvPr id="14" name="Shape 10"/>
          <p:cNvSpPr/>
          <p:nvPr/>
        </p:nvSpPr>
        <p:spPr>
          <a:xfrm>
            <a:off x="1984248" y="4005072"/>
            <a:ext cx="1005840" cy="256032"/>
          </a:xfrm>
          <a:prstGeom prst="roundRect">
            <a:avLst>
              <a:gd name="adj" fmla="val 50000"/>
            </a:avLst>
          </a:prstGeom>
          <a:solidFill>
            <a:schemeClr val="tx2"/>
          </a:solidFill>
          <a:ln/>
        </p:spPr>
      </p:sp>
      <p:sp>
        <p:nvSpPr>
          <p:cNvPr id="15" name="Text 11"/>
          <p:cNvSpPr txBox="1"/>
          <p:nvPr/>
        </p:nvSpPr>
        <p:spPr>
          <a:xfrm>
            <a:off x="1984248" y="4005072"/>
            <a:ext cx="1005840" cy="256032"/>
          </a:xfrm>
          <a:prstGeom prst="rect">
            <a:avLst/>
          </a:prstGeom>
          <a:noFill/>
          <a:ln/>
        </p:spPr>
        <p:txBody>
          <a:bodyPr wrap="square" lIns="0" tIns="0" rIns="0" bIns="0" rtlCol="0" anchor="ctr"/>
          <a:lstStyle/>
          <a:p>
            <a:pPr algn="ctr" indent="0" marL="0">
              <a:buNone/>
            </a:pPr>
            <a:r>
              <a:rPr lang="en-US" sz="1000" b="1" dirty="0">
                <a:solidFill>
                  <a:schemeClr val="bg1"/>
                </a:solidFill>
              </a:rPr>
              <a:t>Draft STR</a:t>
            </a:r>
            <a:endParaRPr lang="en-US" sz="1000" dirty="0"/>
          </a:p>
        </p:txBody>
      </p:sp>
      <p:sp>
        <p:nvSpPr>
          <p:cNvPr id="16" name="Text 12"/>
          <p:cNvSpPr txBox="1"/>
          <p:nvPr/>
        </p:nvSpPr>
        <p:spPr>
          <a:xfrm>
            <a:off x="457200" y="4498848"/>
            <a:ext cx="4846320" cy="228600"/>
          </a:xfrm>
          <a:prstGeom prst="rect">
            <a:avLst/>
          </a:prstGeom>
          <a:noFill/>
          <a:ln/>
        </p:spPr>
        <p:txBody>
          <a:bodyPr wrap="square" lIns="0" tIns="0" rIns="0" bIns="0" rtlCol="0" anchor="t"/>
          <a:lstStyle/>
          <a:p>
            <a:pPr indent="0" marL="0">
              <a:buNone/>
            </a:pPr>
            <a:r>
              <a:rPr lang="en-US" sz="1000" i="1" dirty="0">
                <a:solidFill>
                  <a:schemeClr val="accent6"/>
                </a:solidFill>
              </a:rPr>
              <a:t>Actual output from the MuleTrace demo on synthetic data</a:t>
            </a:r>
            <a:endParaRPr lang="en-US" sz="1000" dirty="0"/>
          </a:p>
        </p:txBody>
      </p:sp>
      <p:sp>
        <p:nvSpPr>
          <p:cNvPr id="17" name="Shape 13"/>
          <p:cNvSpPr/>
          <p:nvPr/>
        </p:nvSpPr>
        <p:spPr>
          <a:xfrm>
            <a:off x="5577840" y="1261872"/>
            <a:ext cx="3108960" cy="1783080"/>
          </a:xfrm>
          <a:prstGeom prst="roundRect">
            <a:avLst>
              <a:gd name="adj" fmla="val 4103"/>
            </a:avLst>
          </a:prstGeom>
          <a:solidFill>
            <a:schemeClr val="bg2"/>
          </a:solidFill>
          <a:ln/>
        </p:spPr>
      </p:sp>
      <p:sp>
        <p:nvSpPr>
          <p:cNvPr id="18" name="Shape 14"/>
          <p:cNvSpPr/>
          <p:nvPr/>
        </p:nvSpPr>
        <p:spPr>
          <a:xfrm>
            <a:off x="6075461" y="1521147"/>
            <a:ext cx="1573025" cy="560150"/>
          </a:xfrm>
          <a:prstGeom prst="line">
            <a:avLst/>
          </a:prstGeom>
          <a:noFill/>
          <a:ln w="12700">
            <a:solidFill>
              <a:schemeClr val="accent6"/>
            </a:solidFill>
            <a:prstDash val="solid"/>
            <a:tailEnd type="triangle"/>
          </a:ln>
        </p:spPr>
      </p:sp>
      <p:sp>
        <p:nvSpPr>
          <p:cNvPr id="19" name="Shape 15"/>
          <p:cNvSpPr/>
          <p:nvPr/>
        </p:nvSpPr>
        <p:spPr>
          <a:xfrm>
            <a:off x="5916168" y="1417320"/>
            <a:ext cx="146304" cy="146304"/>
          </a:xfrm>
          <a:prstGeom prst="ellipse">
            <a:avLst/>
          </a:prstGeom>
          <a:solidFill>
            <a:schemeClr val="accent3"/>
          </a:solidFill>
          <a:ln w="12700">
            <a:solidFill>
              <a:schemeClr val="bg1"/>
            </a:solidFill>
            <a:prstDash val="solid"/>
          </a:ln>
        </p:spPr>
      </p:sp>
      <p:sp>
        <p:nvSpPr>
          <p:cNvPr id="20" name="Shape 16"/>
          <p:cNvSpPr/>
          <p:nvPr/>
        </p:nvSpPr>
        <p:spPr>
          <a:xfrm>
            <a:off x="6078724" y="1774837"/>
            <a:ext cx="1561606" cy="335174"/>
          </a:xfrm>
          <a:prstGeom prst="line">
            <a:avLst/>
          </a:prstGeom>
          <a:noFill/>
          <a:ln w="12700">
            <a:solidFill>
              <a:schemeClr val="accent6"/>
            </a:solidFill>
            <a:prstDash val="solid"/>
            <a:tailEnd type="triangle"/>
          </a:ln>
        </p:spPr>
      </p:sp>
      <p:sp>
        <p:nvSpPr>
          <p:cNvPr id="21" name="Shape 17"/>
          <p:cNvSpPr/>
          <p:nvPr/>
        </p:nvSpPr>
        <p:spPr>
          <a:xfrm>
            <a:off x="5916168" y="1682496"/>
            <a:ext cx="146304" cy="146304"/>
          </a:xfrm>
          <a:prstGeom prst="ellipse">
            <a:avLst/>
          </a:prstGeom>
          <a:solidFill>
            <a:schemeClr val="accent3"/>
          </a:solidFill>
          <a:ln w="12700">
            <a:solidFill>
              <a:schemeClr val="bg1"/>
            </a:solidFill>
            <a:prstDash val="solid"/>
          </a:ln>
        </p:spPr>
      </p:sp>
      <p:sp>
        <p:nvSpPr>
          <p:cNvPr id="22" name="Shape 18"/>
          <p:cNvSpPr/>
          <p:nvPr/>
        </p:nvSpPr>
        <p:spPr>
          <a:xfrm>
            <a:off x="6080516" y="2027497"/>
            <a:ext cx="1555333" cy="113805"/>
          </a:xfrm>
          <a:prstGeom prst="line">
            <a:avLst/>
          </a:prstGeom>
          <a:noFill/>
          <a:ln w="12700">
            <a:solidFill>
              <a:schemeClr val="accent6"/>
            </a:solidFill>
            <a:prstDash val="solid"/>
            <a:tailEnd type="triangle"/>
          </a:ln>
        </p:spPr>
      </p:sp>
      <p:sp>
        <p:nvSpPr>
          <p:cNvPr id="23" name="Shape 19"/>
          <p:cNvSpPr/>
          <p:nvPr/>
        </p:nvSpPr>
        <p:spPr>
          <a:xfrm>
            <a:off x="5916168" y="1947672"/>
            <a:ext cx="146304" cy="146304"/>
          </a:xfrm>
          <a:prstGeom prst="ellipse">
            <a:avLst/>
          </a:prstGeom>
          <a:solidFill>
            <a:schemeClr val="accent3"/>
          </a:solidFill>
          <a:ln w="12700">
            <a:solidFill>
              <a:schemeClr val="bg1"/>
            </a:solidFill>
            <a:prstDash val="solid"/>
          </a:ln>
        </p:spPr>
      </p:sp>
      <p:sp>
        <p:nvSpPr>
          <p:cNvPr id="24" name="Shape 20"/>
          <p:cNvSpPr/>
          <p:nvPr/>
        </p:nvSpPr>
        <p:spPr>
          <a:xfrm flipV="1">
            <a:off x="6080548" y="2173559"/>
            <a:ext cx="1555224" cy="106210"/>
          </a:xfrm>
          <a:prstGeom prst="line">
            <a:avLst/>
          </a:prstGeom>
          <a:noFill/>
          <a:ln w="12700">
            <a:solidFill>
              <a:schemeClr val="accent6"/>
            </a:solidFill>
            <a:prstDash val="solid"/>
            <a:tailEnd type="triangle"/>
          </a:ln>
        </p:spPr>
      </p:sp>
      <p:sp>
        <p:nvSpPr>
          <p:cNvPr id="25" name="Shape 21"/>
          <p:cNvSpPr/>
          <p:nvPr/>
        </p:nvSpPr>
        <p:spPr>
          <a:xfrm>
            <a:off x="5916168" y="2212848"/>
            <a:ext cx="146304" cy="146304"/>
          </a:xfrm>
          <a:prstGeom prst="ellipse">
            <a:avLst/>
          </a:prstGeom>
          <a:solidFill>
            <a:schemeClr val="accent3"/>
          </a:solidFill>
          <a:ln w="12700">
            <a:solidFill>
              <a:schemeClr val="bg1"/>
            </a:solidFill>
            <a:prstDash val="solid"/>
          </a:ln>
        </p:spPr>
      </p:sp>
      <p:sp>
        <p:nvSpPr>
          <p:cNvPr id="26" name="Shape 22"/>
          <p:cNvSpPr/>
          <p:nvPr/>
        </p:nvSpPr>
        <p:spPr>
          <a:xfrm flipV="1">
            <a:off x="6078812" y="2204913"/>
            <a:ext cx="1561296" cy="327491"/>
          </a:xfrm>
          <a:prstGeom prst="line">
            <a:avLst/>
          </a:prstGeom>
          <a:noFill/>
          <a:ln w="12700">
            <a:solidFill>
              <a:schemeClr val="accent6"/>
            </a:solidFill>
            <a:prstDash val="solid"/>
            <a:tailEnd type="triangle"/>
          </a:ln>
        </p:spPr>
      </p:sp>
      <p:sp>
        <p:nvSpPr>
          <p:cNvPr id="27" name="Shape 23"/>
          <p:cNvSpPr/>
          <p:nvPr/>
        </p:nvSpPr>
        <p:spPr>
          <a:xfrm>
            <a:off x="5916168" y="2478024"/>
            <a:ext cx="146304" cy="146304"/>
          </a:xfrm>
          <a:prstGeom prst="ellipse">
            <a:avLst/>
          </a:prstGeom>
          <a:solidFill>
            <a:schemeClr val="accent3"/>
          </a:solidFill>
          <a:ln w="12700">
            <a:solidFill>
              <a:schemeClr val="bg1"/>
            </a:solidFill>
            <a:prstDash val="solid"/>
          </a:ln>
        </p:spPr>
      </p:sp>
      <p:sp>
        <p:nvSpPr>
          <p:cNvPr id="28" name="Shape 24"/>
          <p:cNvSpPr/>
          <p:nvPr/>
        </p:nvSpPr>
        <p:spPr>
          <a:xfrm flipV="1">
            <a:off x="6075594" y="2233736"/>
            <a:ext cx="1572563" cy="552315"/>
          </a:xfrm>
          <a:prstGeom prst="line">
            <a:avLst/>
          </a:prstGeom>
          <a:noFill/>
          <a:ln w="12700">
            <a:solidFill>
              <a:schemeClr val="accent6"/>
            </a:solidFill>
            <a:prstDash val="solid"/>
            <a:tailEnd type="triangle"/>
          </a:ln>
        </p:spPr>
      </p:sp>
      <p:sp>
        <p:nvSpPr>
          <p:cNvPr id="29" name="Shape 25"/>
          <p:cNvSpPr/>
          <p:nvPr/>
        </p:nvSpPr>
        <p:spPr>
          <a:xfrm>
            <a:off x="5916168" y="2743200"/>
            <a:ext cx="146304" cy="146304"/>
          </a:xfrm>
          <a:prstGeom prst="ellipse">
            <a:avLst/>
          </a:prstGeom>
          <a:solidFill>
            <a:schemeClr val="accent3"/>
          </a:solidFill>
          <a:ln w="12700">
            <a:solidFill>
              <a:schemeClr val="bg1"/>
            </a:solidFill>
            <a:prstDash val="solid"/>
          </a:ln>
        </p:spPr>
      </p:sp>
      <p:sp>
        <p:nvSpPr>
          <p:cNvPr id="30" name="Shape 26"/>
          <p:cNvSpPr/>
          <p:nvPr/>
        </p:nvSpPr>
        <p:spPr>
          <a:xfrm>
            <a:off x="7662672" y="1956816"/>
            <a:ext cx="402336" cy="402336"/>
          </a:xfrm>
          <a:prstGeom prst="ellipse">
            <a:avLst/>
          </a:prstGeom>
          <a:solidFill>
            <a:schemeClr val="accent1"/>
          </a:solidFill>
          <a:ln w="12700">
            <a:solidFill>
              <a:schemeClr val="bg1"/>
            </a:solidFill>
            <a:prstDash val="solid"/>
          </a:ln>
        </p:spPr>
      </p:sp>
      <p:sp>
        <p:nvSpPr>
          <p:cNvPr id="31" name="Shape 27"/>
          <p:cNvSpPr/>
          <p:nvPr/>
        </p:nvSpPr>
        <p:spPr>
          <a:xfrm>
            <a:off x="5577840" y="3182112"/>
            <a:ext cx="3108960" cy="1252728"/>
          </a:xfrm>
          <a:prstGeom prst="roundRect">
            <a:avLst>
              <a:gd name="adj" fmla="val 5839"/>
            </a:avLst>
          </a:prstGeom>
          <a:solidFill>
            <a:schemeClr val="bg2"/>
          </a:solidFill>
          <a:ln/>
        </p:spPr>
      </p:sp>
      <p:sp>
        <p:nvSpPr>
          <p:cNvPr id="32" name="Text 28"/>
          <p:cNvSpPr txBox="1"/>
          <p:nvPr/>
        </p:nvSpPr>
        <p:spPr>
          <a:xfrm>
            <a:off x="5742432" y="3273552"/>
            <a:ext cx="274320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EVIDENCE ATTACHED</a:t>
            </a:r>
            <a:endParaRPr lang="en-US" sz="1000" dirty="0"/>
          </a:p>
        </p:txBody>
      </p:sp>
      <p:sp>
        <p:nvSpPr>
          <p:cNvPr id="33" name="Text 29"/>
          <p:cNvSpPr txBox="1"/>
          <p:nvPr/>
        </p:nvSpPr>
        <p:spPr>
          <a:xfrm>
            <a:off x="5742432" y="3520440"/>
            <a:ext cx="2834640" cy="868680"/>
          </a:xfrm>
          <a:prstGeom prst="rect">
            <a:avLst/>
          </a:prstGeom>
          <a:noFill/>
          <a:ln/>
        </p:spPr>
        <p:txBody>
          <a:bodyPr wrap="square" lIns="0" tIns="0" rIns="0" bIns="0" rtlCol="0" anchor="t"/>
          <a:lstStyle/>
          <a:p>
            <a:pPr marL="152400" indent="-152400">
              <a:spcAft>
                <a:spcPts val="200"/>
              </a:spcAft>
              <a:buSzPct val="100000"/>
              <a:buChar char="•"/>
            </a:pPr>
            <a:r>
              <a:rPr lang="en-US" sz="1200" dirty="0">
                <a:solidFill>
                  <a:schemeClr val="tx1"/>
                </a:solidFill>
              </a:rPr>
              <a:t>2,000 source transactions</a:t>
            </a:r>
            <a:endParaRPr lang="en-US" sz="1200" dirty="0"/>
          </a:p>
          <a:p>
            <a:pPr marL="152400" indent="-152400">
              <a:spcAft>
                <a:spcPts val="200"/>
              </a:spcAft>
              <a:buSzPct val="100000"/>
              <a:buChar char="•"/>
            </a:pPr>
            <a:r>
              <a:rPr lang="en-US" sz="1200" dirty="0">
                <a:solidFill>
                  <a:schemeClr val="tx1"/>
                </a:solidFill>
              </a:rPr>
              <a:t>Policy AML-04 §3.2 (Cortex Search)</a:t>
            </a:r>
            <a:endParaRPr lang="en-US" sz="1200" dirty="0"/>
          </a:p>
          <a:p>
            <a:pPr marL="152400" indent="-152400">
              <a:spcAft>
                <a:spcPts val="200"/>
              </a:spcAft>
              <a:buSzPct val="100000"/>
              <a:buChar char="•"/>
            </a:pPr>
            <a:r>
              <a:rPr lang="en-US" sz="1200" dirty="0">
                <a:solidFill>
                  <a:schemeClr val="tx1"/>
                </a:solidFill>
              </a:rPr>
              <a:t>Detector run + lineage</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3 · IMPACT STATEMENT</a:t>
            </a:r>
            <a:endParaRPr lang="en-US" sz="1100" dirty="0"/>
          </a:p>
        </p:txBody>
      </p:sp>
      <p:sp>
        <p:nvSpPr>
          <p:cNvPr id="3" name="Text 0"/>
          <p:cNvSpPr/>
          <p:nvPr>
            <p:ph idx="101" type="title" hasCustomPrompt="1"/>
          </p:nvPr>
        </p:nvSpPr>
        <p:spPr>
          <a:xfrm>
            <a:off x="457200" y="530352"/>
            <a:ext cx="8229600" cy="502920"/>
          </a:xfrm>
          <a:prstGeom prst="rect">
            <a:avLst/>
          </a:prstGeom>
          <a:noFill/>
          <a:ln/>
        </p:spPr>
        <p:txBody>
          <a:bodyPr wrap="square" lIns="0" tIns="0" rIns="0" bIns="0" rtlCol="0" anchor="ctr"/>
          <a:lstStyle/>
          <a:p>
            <a:pPr algn="l" indent="0" marL="0">
              <a:buNone/>
            </a:pPr>
            <a:r>
              <a:rPr lang="en-US" sz="2400" b="1" dirty="0">
                <a:solidFill>
                  <a:schemeClr val="tx1"/>
                </a:solidFill>
              </a:rPr>
              <a:t>From days of manual tracing to minutes</a:t>
            </a:r>
            <a:endParaRPr lang="en-US" sz="2400" dirty="0"/>
          </a:p>
        </p:txBody>
      </p:sp>
      <p:sp>
        <p:nvSpPr>
          <p:cNvPr id="4" name="Shape 2"/>
          <p:cNvSpPr/>
          <p:nvPr/>
        </p:nvSpPr>
        <p:spPr>
          <a:xfrm>
            <a:off x="457200" y="1261872"/>
            <a:ext cx="4023360" cy="1481328"/>
          </a:xfrm>
          <a:prstGeom prst="roundRect">
            <a:avLst>
              <a:gd name="adj" fmla="val 4938"/>
            </a:avLst>
          </a:prstGeom>
          <a:solidFill>
            <a:schemeClr val="bg2"/>
          </a:solidFill>
          <a:ln/>
        </p:spPr>
      </p:sp>
      <p:sp>
        <p:nvSpPr>
          <p:cNvPr id="5" name="Shape 3"/>
          <p:cNvSpPr/>
          <p:nvPr/>
        </p:nvSpPr>
        <p:spPr>
          <a:xfrm>
            <a:off x="685800" y="1417320"/>
            <a:ext cx="1463040" cy="256032"/>
          </a:xfrm>
          <a:prstGeom prst="roundRect">
            <a:avLst>
              <a:gd name="adj" fmla="val 50000"/>
            </a:avLst>
          </a:prstGeom>
          <a:solidFill>
            <a:schemeClr val="accent1">
              <a:alpha val="20000"/>
            </a:schemeClr>
          </a:solidFill>
          <a:ln/>
        </p:spPr>
      </p:sp>
      <p:sp>
        <p:nvSpPr>
          <p:cNvPr id="6" name="Text 4"/>
          <p:cNvSpPr txBox="1"/>
          <p:nvPr/>
        </p:nvSpPr>
        <p:spPr>
          <a:xfrm>
            <a:off x="685800" y="1417320"/>
            <a:ext cx="1463040" cy="256032"/>
          </a:xfrm>
          <a:prstGeom prst="rect">
            <a:avLst/>
          </a:prstGeom>
          <a:noFill/>
          <a:ln/>
        </p:spPr>
        <p:txBody>
          <a:bodyPr wrap="square" lIns="0" tIns="0" rIns="0" bIns="0" rtlCol="0" anchor="ctr"/>
          <a:lstStyle/>
          <a:p>
            <a:pPr algn="ctr" indent="0" marL="0">
              <a:buNone/>
            </a:pPr>
            <a:r>
              <a:rPr lang="en-US" sz="1000" b="1" dirty="0">
                <a:solidFill>
                  <a:schemeClr val="tx1"/>
                </a:solidFill>
              </a:rPr>
              <a:t>TARGET</a:t>
            </a:r>
            <a:endParaRPr lang="en-US" sz="1000" dirty="0"/>
          </a:p>
        </p:txBody>
      </p:sp>
      <p:sp>
        <p:nvSpPr>
          <p:cNvPr id="7" name="Text 5"/>
          <p:cNvSpPr txBox="1"/>
          <p:nvPr/>
        </p:nvSpPr>
        <p:spPr>
          <a:xfrm>
            <a:off x="685800" y="1719072"/>
            <a:ext cx="3566160" cy="45720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Days → &lt; 5 min</a:t>
            </a:r>
            <a:endParaRPr lang="en-US" sz="2800" dirty="0"/>
          </a:p>
        </p:txBody>
      </p:sp>
      <p:sp>
        <p:nvSpPr>
          <p:cNvPr id="8" name="Text 6"/>
          <p:cNvSpPr txBox="1"/>
          <p:nvPr/>
        </p:nvSpPr>
        <p:spPr>
          <a:xfrm>
            <a:off x="685800" y="2212848"/>
            <a:ext cx="3566160" cy="457200"/>
          </a:xfrm>
          <a:prstGeom prst="rect">
            <a:avLst/>
          </a:prstGeom>
          <a:noFill/>
          <a:ln/>
        </p:spPr>
        <p:txBody>
          <a:bodyPr wrap="square" lIns="0" tIns="0" rIns="0" bIns="0" rtlCol="0" anchor="t"/>
          <a:lstStyle/>
          <a:p>
            <a:pPr indent="0" marL="0">
              <a:buNone/>
            </a:pPr>
            <a:r>
              <a:rPr lang="en-US" sz="1400" dirty="0">
                <a:solidFill>
                  <a:schemeClr val="tx1"/>
                </a:solidFill>
              </a:rPr>
              <a:t>From alert to a full evidence pack for a ring of 100 accounts</a:t>
            </a:r>
            <a:endParaRPr lang="en-US" sz="1400" dirty="0"/>
          </a:p>
        </p:txBody>
      </p:sp>
      <p:sp>
        <p:nvSpPr>
          <p:cNvPr id="9" name="Shape 7"/>
          <p:cNvSpPr/>
          <p:nvPr/>
        </p:nvSpPr>
        <p:spPr>
          <a:xfrm>
            <a:off x="4663440" y="1261872"/>
            <a:ext cx="4023360" cy="1481328"/>
          </a:xfrm>
          <a:prstGeom prst="roundRect">
            <a:avLst>
              <a:gd name="adj" fmla="val 4938"/>
            </a:avLst>
          </a:prstGeom>
          <a:solidFill>
            <a:schemeClr val="bg2"/>
          </a:solidFill>
          <a:ln/>
        </p:spPr>
      </p:sp>
      <p:sp>
        <p:nvSpPr>
          <p:cNvPr id="10" name="Shape 8"/>
          <p:cNvSpPr/>
          <p:nvPr/>
        </p:nvSpPr>
        <p:spPr>
          <a:xfrm>
            <a:off x="4892040" y="1417320"/>
            <a:ext cx="1463040" cy="256032"/>
          </a:xfrm>
          <a:prstGeom prst="roundRect">
            <a:avLst>
              <a:gd name="adj" fmla="val 50000"/>
            </a:avLst>
          </a:prstGeom>
          <a:solidFill>
            <a:schemeClr val="accent4">
              <a:alpha val="20000"/>
            </a:schemeClr>
          </a:solidFill>
          <a:ln/>
        </p:spPr>
      </p:sp>
      <p:sp>
        <p:nvSpPr>
          <p:cNvPr id="11" name="Text 9"/>
          <p:cNvSpPr txBox="1"/>
          <p:nvPr/>
        </p:nvSpPr>
        <p:spPr>
          <a:xfrm>
            <a:off x="4892040" y="1417320"/>
            <a:ext cx="1463040" cy="256032"/>
          </a:xfrm>
          <a:prstGeom prst="rect">
            <a:avLst/>
          </a:prstGeom>
          <a:noFill/>
          <a:ln/>
        </p:spPr>
        <p:txBody>
          <a:bodyPr wrap="square" lIns="0" tIns="0" rIns="0" bIns="0" rtlCol="0" anchor="ctr"/>
          <a:lstStyle/>
          <a:p>
            <a:pPr algn="ctr" indent="0" marL="0">
              <a:buNone/>
            </a:pPr>
            <a:r>
              <a:rPr lang="en-US" sz="1000" b="1" dirty="0">
                <a:solidFill>
                  <a:schemeClr val="tx1"/>
                </a:solidFill>
              </a:rPr>
              <a:t>TARGET</a:t>
            </a:r>
            <a:endParaRPr lang="en-US" sz="1000" dirty="0"/>
          </a:p>
        </p:txBody>
      </p:sp>
      <p:sp>
        <p:nvSpPr>
          <p:cNvPr id="12" name="Text 10"/>
          <p:cNvSpPr txBox="1"/>
          <p:nvPr/>
        </p:nvSpPr>
        <p:spPr>
          <a:xfrm>
            <a:off x="4892040" y="1719072"/>
            <a:ext cx="3566160" cy="457200"/>
          </a:xfrm>
          <a:prstGeom prst="rect">
            <a:avLst/>
          </a:prstGeom>
          <a:noFill/>
          <a:ln/>
        </p:spPr>
        <p:txBody>
          <a:bodyPr wrap="square" lIns="0" tIns="0" rIns="0" bIns="0" rtlCol="0" anchor="ctr"/>
          <a:lstStyle/>
          <a:p>
            <a:pPr indent="0" marL="0">
              <a:buNone/>
            </a:pPr>
            <a:r>
              <a:rPr lang="en-US" sz="2800" b="1" dirty="0">
                <a:solidFill>
                  <a:schemeClr val="accent4"/>
                </a:solidFill>
                <a:latin typeface="Arial" pitchFamily="34" charset="0"/>
                <a:ea typeface="Arial" pitchFamily="34" charset="-122"/>
                <a:cs typeface="Arial" pitchFamily="34" charset="-120"/>
              </a:rPr>
              <a:t>&lt; 1 min</a:t>
            </a:r>
            <a:endParaRPr lang="en-US" sz="2800" dirty="0"/>
          </a:p>
        </p:txBody>
      </p:sp>
      <p:sp>
        <p:nvSpPr>
          <p:cNvPr id="13" name="Text 11"/>
          <p:cNvSpPr txBox="1"/>
          <p:nvPr/>
        </p:nvSpPr>
        <p:spPr>
          <a:xfrm>
            <a:off x="4892040" y="2212848"/>
            <a:ext cx="3566160" cy="457200"/>
          </a:xfrm>
          <a:prstGeom prst="rect">
            <a:avLst/>
          </a:prstGeom>
          <a:noFill/>
          <a:ln/>
        </p:spPr>
        <p:txBody>
          <a:bodyPr wrap="square" lIns="0" tIns="0" rIns="0" bIns="0" rtlCol="0" anchor="t"/>
          <a:lstStyle/>
          <a:p>
            <a:pPr indent="0" marL="0">
              <a:buNone/>
            </a:pPr>
            <a:r>
              <a:rPr lang="en-US" sz="1400" dirty="0">
                <a:solidFill>
                  <a:schemeClr val="tx1"/>
                </a:solidFill>
              </a:rPr>
              <a:t>To a first STR draft, so analysts review instead of write</a:t>
            </a:r>
            <a:endParaRPr lang="en-US" sz="1400" dirty="0"/>
          </a:p>
        </p:txBody>
      </p:sp>
      <p:sp>
        <p:nvSpPr>
          <p:cNvPr id="14" name="Shape 12"/>
          <p:cNvSpPr/>
          <p:nvPr/>
        </p:nvSpPr>
        <p:spPr>
          <a:xfrm>
            <a:off x="457200" y="2907792"/>
            <a:ext cx="4023360" cy="1481328"/>
          </a:xfrm>
          <a:prstGeom prst="roundRect">
            <a:avLst>
              <a:gd name="adj" fmla="val 4938"/>
            </a:avLst>
          </a:prstGeom>
          <a:solidFill>
            <a:schemeClr val="bg2"/>
          </a:solidFill>
          <a:ln/>
        </p:spPr>
      </p:sp>
      <p:sp>
        <p:nvSpPr>
          <p:cNvPr id="15" name="Shape 13"/>
          <p:cNvSpPr/>
          <p:nvPr/>
        </p:nvSpPr>
        <p:spPr>
          <a:xfrm>
            <a:off x="685800" y="3063240"/>
            <a:ext cx="1463040" cy="256032"/>
          </a:xfrm>
          <a:prstGeom prst="roundRect">
            <a:avLst>
              <a:gd name="adj" fmla="val 50000"/>
            </a:avLst>
          </a:prstGeom>
          <a:solidFill>
            <a:schemeClr val="accent2">
              <a:alpha val="20000"/>
            </a:schemeClr>
          </a:solidFill>
          <a:ln/>
        </p:spPr>
      </p:sp>
      <p:sp>
        <p:nvSpPr>
          <p:cNvPr id="16" name="Text 14"/>
          <p:cNvSpPr txBox="1"/>
          <p:nvPr/>
        </p:nvSpPr>
        <p:spPr>
          <a:xfrm>
            <a:off x="685800" y="3063240"/>
            <a:ext cx="1463040" cy="256032"/>
          </a:xfrm>
          <a:prstGeom prst="rect">
            <a:avLst/>
          </a:prstGeom>
          <a:noFill/>
          <a:ln/>
        </p:spPr>
        <p:txBody>
          <a:bodyPr wrap="square" lIns="0" tIns="0" rIns="0" bIns="0" rtlCol="0" anchor="ctr"/>
          <a:lstStyle/>
          <a:p>
            <a:pPr algn="ctr" indent="0" marL="0">
              <a:buNone/>
            </a:pPr>
            <a:r>
              <a:rPr lang="en-US" sz="1000" b="1" dirty="0">
                <a:solidFill>
                  <a:schemeClr val="tx1"/>
                </a:solidFill>
              </a:rPr>
              <a:t>DESIGN GOAL</a:t>
            </a:r>
            <a:endParaRPr lang="en-US" sz="1000" dirty="0"/>
          </a:p>
        </p:txBody>
      </p:sp>
      <p:sp>
        <p:nvSpPr>
          <p:cNvPr id="17" name="Text 15"/>
          <p:cNvSpPr txBox="1"/>
          <p:nvPr/>
        </p:nvSpPr>
        <p:spPr>
          <a:xfrm>
            <a:off x="685800" y="3364992"/>
            <a:ext cx="3566160" cy="457200"/>
          </a:xfrm>
          <a:prstGeom prst="rect">
            <a:avLst/>
          </a:prstGeom>
          <a:noFill/>
          <a:ln/>
        </p:spPr>
        <p:txBody>
          <a:bodyPr wrap="square" lIns="0" tIns="0" rIns="0" bIns="0" rtlCol="0" anchor="ctr"/>
          <a:lstStyle/>
          <a:p>
            <a:pPr indent="0" marL="0">
              <a:buNone/>
            </a:pPr>
            <a:r>
              <a:rPr lang="en-US" sz="2800" b="1" dirty="0">
                <a:solidFill>
                  <a:schemeClr val="accent2"/>
                </a:solidFill>
                <a:latin typeface="Arial" pitchFamily="34" charset="0"/>
                <a:ea typeface="Arial" pitchFamily="34" charset="-122"/>
                <a:cs typeface="Arial" pitchFamily="34" charset="-120"/>
              </a:rPr>
              <a:t>100%</a:t>
            </a:r>
            <a:endParaRPr lang="en-US" sz="2800" dirty="0"/>
          </a:p>
        </p:txBody>
      </p:sp>
      <p:sp>
        <p:nvSpPr>
          <p:cNvPr id="18" name="Text 16"/>
          <p:cNvSpPr txBox="1"/>
          <p:nvPr/>
        </p:nvSpPr>
        <p:spPr>
          <a:xfrm>
            <a:off x="685800" y="3858768"/>
            <a:ext cx="3566160" cy="457200"/>
          </a:xfrm>
          <a:prstGeom prst="rect">
            <a:avLst/>
          </a:prstGeom>
          <a:noFill/>
          <a:ln/>
        </p:spPr>
        <p:txBody>
          <a:bodyPr wrap="square" lIns="0" tIns="0" rIns="0" bIns="0" rtlCol="0" anchor="t"/>
          <a:lstStyle/>
          <a:p>
            <a:pPr indent="0" marL="0">
              <a:buNone/>
            </a:pPr>
            <a:r>
              <a:rPr lang="en-US" sz="1400" dirty="0">
                <a:solidFill>
                  <a:schemeClr val="tx1"/>
                </a:solidFill>
              </a:rPr>
              <a:t>Of answers cite source transactions and a policy clause</a:t>
            </a:r>
            <a:endParaRPr lang="en-US" sz="1400" dirty="0"/>
          </a:p>
        </p:txBody>
      </p:sp>
      <p:sp>
        <p:nvSpPr>
          <p:cNvPr id="19" name="Shape 17"/>
          <p:cNvSpPr/>
          <p:nvPr/>
        </p:nvSpPr>
        <p:spPr>
          <a:xfrm>
            <a:off x="4663440" y="2907792"/>
            <a:ext cx="4023360" cy="1481328"/>
          </a:xfrm>
          <a:prstGeom prst="roundRect">
            <a:avLst>
              <a:gd name="adj" fmla="val 4938"/>
            </a:avLst>
          </a:prstGeom>
          <a:solidFill>
            <a:schemeClr val="bg2"/>
          </a:solidFill>
          <a:ln/>
        </p:spPr>
      </p:sp>
      <p:sp>
        <p:nvSpPr>
          <p:cNvPr id="20" name="Shape 18"/>
          <p:cNvSpPr/>
          <p:nvPr/>
        </p:nvSpPr>
        <p:spPr>
          <a:xfrm>
            <a:off x="4892040" y="3063240"/>
            <a:ext cx="1463040" cy="256032"/>
          </a:xfrm>
          <a:prstGeom prst="roundRect">
            <a:avLst>
              <a:gd name="adj" fmla="val 50000"/>
            </a:avLst>
          </a:prstGeom>
          <a:solidFill>
            <a:schemeClr val="accent5">
              <a:alpha val="20000"/>
            </a:schemeClr>
          </a:solidFill>
          <a:ln/>
        </p:spPr>
      </p:sp>
      <p:sp>
        <p:nvSpPr>
          <p:cNvPr id="21" name="Text 19"/>
          <p:cNvSpPr txBox="1"/>
          <p:nvPr/>
        </p:nvSpPr>
        <p:spPr>
          <a:xfrm>
            <a:off x="4892040" y="3063240"/>
            <a:ext cx="1463040" cy="256032"/>
          </a:xfrm>
          <a:prstGeom prst="rect">
            <a:avLst/>
          </a:prstGeom>
          <a:noFill/>
          <a:ln/>
        </p:spPr>
        <p:txBody>
          <a:bodyPr wrap="square" lIns="0" tIns="0" rIns="0" bIns="0" rtlCol="0" anchor="ctr"/>
          <a:lstStyle/>
          <a:p>
            <a:pPr algn="ctr" indent="0" marL="0">
              <a:buNone/>
            </a:pPr>
            <a:r>
              <a:rPr lang="en-US" sz="1000" b="1" dirty="0">
                <a:solidFill>
                  <a:schemeClr val="tx1"/>
                </a:solidFill>
              </a:rPr>
              <a:t>MEASURED IN DEMO</a:t>
            </a:r>
            <a:endParaRPr lang="en-US" sz="1000" dirty="0"/>
          </a:p>
        </p:txBody>
      </p:sp>
      <p:sp>
        <p:nvSpPr>
          <p:cNvPr id="22" name="Text 20"/>
          <p:cNvSpPr txBox="1"/>
          <p:nvPr/>
        </p:nvSpPr>
        <p:spPr>
          <a:xfrm>
            <a:off x="4892040" y="3364992"/>
            <a:ext cx="3566160" cy="457200"/>
          </a:xfrm>
          <a:prstGeom prst="rect">
            <a:avLst/>
          </a:prstGeom>
          <a:noFill/>
          <a:ln/>
        </p:spPr>
        <p:txBody>
          <a:bodyPr wrap="square" lIns="0" tIns="0" rIns="0" bIns="0" rtlCol="0" anchor="ctr"/>
          <a:lstStyle/>
          <a:p>
            <a:pPr indent="0" marL="0">
              <a:buNone/>
            </a:pPr>
            <a:r>
              <a:rPr lang="en-US" sz="2800" b="1" dirty="0">
                <a:solidFill>
                  <a:schemeClr val="accent5"/>
                </a:solidFill>
                <a:latin typeface="Arial" pitchFamily="34" charset="0"/>
                <a:ea typeface="Arial" pitchFamily="34" charset="-122"/>
                <a:cs typeface="Arial" pitchFamily="34" charset="-120"/>
              </a:rPr>
              <a:t>100% / 99.95%</a:t>
            </a:r>
            <a:endParaRPr lang="en-US" sz="2800" dirty="0"/>
          </a:p>
        </p:txBody>
      </p:sp>
      <p:sp>
        <p:nvSpPr>
          <p:cNvPr id="23" name="Text 21"/>
          <p:cNvSpPr txBox="1"/>
          <p:nvPr/>
        </p:nvSpPr>
        <p:spPr>
          <a:xfrm>
            <a:off x="4892040" y="3858768"/>
            <a:ext cx="3566160" cy="457200"/>
          </a:xfrm>
          <a:prstGeom prst="rect">
            <a:avLst/>
          </a:prstGeom>
          <a:noFill/>
          <a:ln/>
        </p:spPr>
        <p:txBody>
          <a:bodyPr wrap="square" lIns="0" tIns="0" rIns="0" bIns="0" rtlCol="0" anchor="t"/>
          <a:lstStyle/>
          <a:p>
            <a:pPr indent="0" marL="0">
              <a:buNone/>
            </a:pPr>
            <a:r>
              <a:rPr lang="en-US" sz="1400" dirty="0">
                <a:solidFill>
                  <a:schemeClr val="tx1"/>
                </a:solidFill>
              </a:rPr>
              <a:t>Precision / recall against ground-truth labels planted in the synthetic data</a:t>
            </a:r>
            <a:endParaRPr lang="en-US" sz="1400" dirty="0"/>
          </a:p>
        </p:txBody>
      </p:sp>
      <p:sp>
        <p:nvSpPr>
          <p:cNvPr id="24" name="Text 22"/>
          <p:cNvSpPr txBox="1"/>
          <p:nvPr/>
        </p:nvSpPr>
        <p:spPr>
          <a:xfrm>
            <a:off x="457200" y="4480560"/>
            <a:ext cx="8229600" cy="228600"/>
          </a:xfrm>
          <a:prstGeom prst="rect">
            <a:avLst/>
          </a:prstGeom>
          <a:noFill/>
          <a:ln/>
        </p:spPr>
        <p:txBody>
          <a:bodyPr wrap="square" lIns="0" tIns="0" rIns="0" bIns="0" rtlCol="0" anchor="t"/>
          <a:lstStyle/>
          <a:p>
            <a:pPr indent="0" marL="0">
              <a:buNone/>
            </a:pPr>
            <a:r>
              <a:rPr lang="en-US" sz="1000" i="1" dirty="0">
                <a:solidFill>
                  <a:schemeClr val="accent6"/>
                </a:solidFill>
              </a:rPr>
              <a:t>Targets are goals for the prototype, to be validated against a bank's own baselines in a pilot.</a:t>
            </a:r>
            <a:endParaRPr lang="en-US" sz="10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37744"/>
          </a:xfrm>
          <a:prstGeom prst="rect">
            <a:avLst/>
          </a:prstGeom>
          <a:noFill/>
          <a:ln/>
        </p:spPr>
        <p:txBody>
          <a:bodyPr wrap="square" lIns="0" tIns="0" rIns="0" bIns="0" rtlCol="0" anchor="ctr"/>
          <a:lstStyle/>
          <a:p>
            <a:pPr indent="0" marL="0">
              <a:buNone/>
            </a:pPr>
            <a:r>
              <a:rPr lang="en-US" sz="1100" b="1" spc="150" kern="0" dirty="0">
                <a:solidFill>
                  <a:schemeClr val="accent1"/>
                </a:solidFill>
              </a:rPr>
              <a:t>3 · SCALABILITY &amp; BEYOND THE DEMO</a:t>
            </a:r>
            <a:endParaRPr lang="en-US" sz="1100" dirty="0"/>
          </a:p>
        </p:txBody>
      </p:sp>
      <p:sp>
        <p:nvSpPr>
          <p:cNvPr id="3" name="Text 0"/>
          <p:cNvSpPr/>
          <p:nvPr>
            <p:ph idx="101" type="title" hasCustomPrompt="1"/>
          </p:nvPr>
        </p:nvSpPr>
        <p:spPr>
          <a:xfrm>
            <a:off x="457200" y="530352"/>
            <a:ext cx="8229600" cy="502920"/>
          </a:xfrm>
          <a:prstGeom prst="rect">
            <a:avLst/>
          </a:prstGeom>
          <a:noFill/>
          <a:ln/>
        </p:spPr>
        <p:txBody>
          <a:bodyPr wrap="square" lIns="0" tIns="0" rIns="0" bIns="0" rtlCol="0" anchor="ctr"/>
          <a:lstStyle/>
          <a:p>
            <a:pPr algn="l" indent="0" marL="0">
              <a:buNone/>
            </a:pPr>
            <a:r>
              <a:rPr lang="en-US" sz="2400" b="1" dirty="0">
                <a:solidFill>
                  <a:schemeClr val="tx1"/>
                </a:solidFill>
              </a:rPr>
              <a:t>Built for UPI-scale volume, and for more than fraud</a:t>
            </a:r>
            <a:endParaRPr lang="en-US" sz="2400" dirty="0"/>
          </a:p>
        </p:txBody>
      </p:sp>
      <p:sp>
        <p:nvSpPr>
          <p:cNvPr id="4" name="Shape 2"/>
          <p:cNvSpPr/>
          <p:nvPr/>
        </p:nvSpPr>
        <p:spPr>
          <a:xfrm>
            <a:off x="457200" y="1261872"/>
            <a:ext cx="4023360" cy="3383280"/>
          </a:xfrm>
          <a:prstGeom prst="roundRect">
            <a:avLst>
              <a:gd name="adj" fmla="val 2162"/>
            </a:avLst>
          </a:prstGeom>
          <a:solidFill>
            <a:schemeClr val="bg2"/>
          </a:solidFill>
          <a:ln/>
        </p:spPr>
      </p:sp>
      <p:sp>
        <p:nvSpPr>
          <p:cNvPr id="5" name="Text 3"/>
          <p:cNvSpPr txBox="1"/>
          <p:nvPr/>
        </p:nvSpPr>
        <p:spPr>
          <a:xfrm>
            <a:off x="685800" y="1389888"/>
            <a:ext cx="3566160" cy="320040"/>
          </a:xfrm>
          <a:prstGeom prst="rect">
            <a:avLst/>
          </a:prstGeom>
          <a:noFill/>
          <a:ln/>
        </p:spPr>
        <p:txBody>
          <a:bodyPr wrap="square" lIns="0" tIns="0" rIns="0" bIns="0" rtlCol="0" anchor="t"/>
          <a:lstStyle/>
          <a:p>
            <a:pPr indent="0" marL="0">
              <a:buNone/>
            </a:pPr>
            <a:r>
              <a:rPr lang="en-US" sz="1600" b="1" dirty="0">
                <a:solidFill>
                  <a:schemeClr val="tx1"/>
                </a:solidFill>
              </a:rPr>
              <a:t>Scales with Snowflake</a:t>
            </a:r>
            <a:endParaRPr lang="en-US" sz="1600" dirty="0"/>
          </a:p>
        </p:txBody>
      </p:sp>
      <p:sp>
        <p:nvSpPr>
          <p:cNvPr id="6" name="Shape 4"/>
          <p:cNvSpPr/>
          <p:nvPr/>
        </p:nvSpPr>
        <p:spPr>
          <a:xfrm>
            <a:off x="685800" y="1847088"/>
            <a:ext cx="402336" cy="402336"/>
          </a:xfrm>
          <a:prstGeom prst="ellipse">
            <a:avLst/>
          </a:prstGeom>
          <a:solidFill>
            <a:schemeClr val="accent5"/>
          </a:solidFill>
          <a:ln/>
        </p:spPr>
      </p:sp>
      <p:pic>
        <p:nvPicPr>
          <p:cNvPr id="7" name="Image 0" descr="preencoded.png">    </p:cNvPr>
          <p:cNvPicPr>
            <a:picLocks noChangeAspect="1"/>
          </p:cNvPicPr>
          <p:nvPr/>
        </p:nvPicPr>
        <p:blipFill>
          <a:blip r:embed="rId1"/>
          <a:stretch>
            <a:fillRect/>
          </a:stretch>
        </p:blipFill>
        <p:spPr>
          <a:xfrm>
            <a:off x="782361" y="1943649"/>
            <a:ext cx="209215" cy="209215"/>
          </a:xfrm>
          <a:prstGeom prst="rect">
            <a:avLst/>
          </a:prstGeom>
        </p:spPr>
      </p:pic>
      <p:sp>
        <p:nvSpPr>
          <p:cNvPr id="8" name="Text 5"/>
          <p:cNvSpPr txBox="1"/>
          <p:nvPr/>
        </p:nvSpPr>
        <p:spPr>
          <a:xfrm>
            <a:off x="1234440" y="1810512"/>
            <a:ext cx="3063240" cy="274320"/>
          </a:xfrm>
          <a:prstGeom prst="rect">
            <a:avLst/>
          </a:prstGeom>
          <a:noFill/>
          <a:ln/>
        </p:spPr>
        <p:txBody>
          <a:bodyPr wrap="square" lIns="0" tIns="0" rIns="0" bIns="0" rtlCol="0" anchor="t"/>
          <a:lstStyle/>
          <a:p>
            <a:pPr indent="0" marL="0">
              <a:buNone/>
            </a:pPr>
            <a:r>
              <a:rPr lang="en-US" sz="1400" b="1" dirty="0">
                <a:solidFill>
                  <a:schemeClr val="tx1"/>
                </a:solidFill>
              </a:rPr>
              <a:t>Elastic compute</a:t>
            </a:r>
            <a:endParaRPr lang="en-US" sz="1400" dirty="0"/>
          </a:p>
        </p:txBody>
      </p:sp>
      <p:sp>
        <p:nvSpPr>
          <p:cNvPr id="9" name="Text 6"/>
          <p:cNvSpPr txBox="1"/>
          <p:nvPr/>
        </p:nvSpPr>
        <p:spPr>
          <a:xfrm>
            <a:off x="1234440" y="2093976"/>
            <a:ext cx="3063240" cy="548640"/>
          </a:xfrm>
          <a:prstGeom prst="rect">
            <a:avLst/>
          </a:prstGeom>
          <a:noFill/>
          <a:ln/>
        </p:spPr>
        <p:txBody>
          <a:bodyPr wrap="square" lIns="0" tIns="0" rIns="0" bIns="0" rtlCol="0" anchor="t"/>
          <a:lstStyle/>
          <a:p>
            <a:pPr indent="0" marL="0">
              <a:buNone/>
            </a:pPr>
            <a:r>
              <a:rPr lang="en-US" sz="1300" dirty="0">
                <a:solidFill>
                  <a:schemeClr val="accent6"/>
                </a:solidFill>
              </a:rPr>
              <a:t>Warehouses scale up for month-end scans and down when idle.</a:t>
            </a:r>
            <a:endParaRPr lang="en-US" sz="1300" dirty="0"/>
          </a:p>
        </p:txBody>
      </p:sp>
      <p:sp>
        <p:nvSpPr>
          <p:cNvPr id="10" name="Shape 7"/>
          <p:cNvSpPr/>
          <p:nvPr/>
        </p:nvSpPr>
        <p:spPr>
          <a:xfrm>
            <a:off x="685800" y="2761488"/>
            <a:ext cx="402336" cy="402336"/>
          </a:xfrm>
          <a:prstGeom prst="ellipse">
            <a:avLst/>
          </a:prstGeom>
          <a:solidFill>
            <a:schemeClr val="accent5"/>
          </a:solidFill>
          <a:ln/>
        </p:spPr>
      </p:sp>
      <p:pic>
        <p:nvPicPr>
          <p:cNvPr id="11" name="Image 1" descr="preencoded.png">    </p:cNvPr>
          <p:cNvPicPr>
            <a:picLocks noChangeAspect="1"/>
          </p:cNvPicPr>
          <p:nvPr/>
        </p:nvPicPr>
        <p:blipFill>
          <a:blip r:embed="rId2"/>
          <a:stretch>
            <a:fillRect/>
          </a:stretch>
        </p:blipFill>
        <p:spPr>
          <a:xfrm>
            <a:off x="782361" y="2858049"/>
            <a:ext cx="209215" cy="209215"/>
          </a:xfrm>
          <a:prstGeom prst="rect">
            <a:avLst/>
          </a:prstGeom>
        </p:spPr>
      </p:pic>
      <p:sp>
        <p:nvSpPr>
          <p:cNvPr id="12" name="Text 8"/>
          <p:cNvSpPr txBox="1"/>
          <p:nvPr/>
        </p:nvSpPr>
        <p:spPr>
          <a:xfrm>
            <a:off x="1234440" y="2724912"/>
            <a:ext cx="3063240" cy="274320"/>
          </a:xfrm>
          <a:prstGeom prst="rect">
            <a:avLst/>
          </a:prstGeom>
          <a:noFill/>
          <a:ln/>
        </p:spPr>
        <p:txBody>
          <a:bodyPr wrap="square" lIns="0" tIns="0" rIns="0" bIns="0" rtlCol="0" anchor="t"/>
          <a:lstStyle/>
          <a:p>
            <a:pPr indent="0" marL="0">
              <a:buNone/>
            </a:pPr>
            <a:r>
              <a:rPr lang="en-US" sz="1400" b="1" dirty="0">
                <a:solidFill>
                  <a:schemeClr val="tx1"/>
                </a:solidFill>
              </a:rPr>
              <a:t>Incremental by design</a:t>
            </a:r>
            <a:endParaRPr lang="en-US" sz="1400" dirty="0"/>
          </a:p>
        </p:txBody>
      </p:sp>
      <p:sp>
        <p:nvSpPr>
          <p:cNvPr id="13" name="Text 9"/>
          <p:cNvSpPr txBox="1"/>
          <p:nvPr/>
        </p:nvSpPr>
        <p:spPr>
          <a:xfrm>
            <a:off x="1234440" y="3008376"/>
            <a:ext cx="3063240" cy="548640"/>
          </a:xfrm>
          <a:prstGeom prst="rect">
            <a:avLst/>
          </a:prstGeom>
          <a:noFill/>
          <a:ln/>
        </p:spPr>
        <p:txBody>
          <a:bodyPr wrap="square" lIns="0" tIns="0" rIns="0" bIns="0" rtlCol="0" anchor="t"/>
          <a:lstStyle/>
          <a:p>
            <a:pPr indent="0" marL="0">
              <a:buNone/>
            </a:pPr>
            <a:r>
              <a:rPr lang="en-US" sz="1300" dirty="0">
                <a:solidFill>
                  <a:schemeClr val="accent6"/>
                </a:solidFill>
              </a:rPr>
              <a:t>Dynamic Tables process only new transactions.</a:t>
            </a:r>
            <a:endParaRPr lang="en-US" sz="1300" dirty="0"/>
          </a:p>
        </p:txBody>
      </p:sp>
      <p:sp>
        <p:nvSpPr>
          <p:cNvPr id="14" name="Shape 10"/>
          <p:cNvSpPr/>
          <p:nvPr/>
        </p:nvSpPr>
        <p:spPr>
          <a:xfrm>
            <a:off x="685800" y="3675888"/>
            <a:ext cx="402336" cy="402336"/>
          </a:xfrm>
          <a:prstGeom prst="ellipse">
            <a:avLst/>
          </a:prstGeom>
          <a:solidFill>
            <a:schemeClr val="accent5"/>
          </a:solidFill>
          <a:ln/>
        </p:spPr>
      </p:sp>
      <p:pic>
        <p:nvPicPr>
          <p:cNvPr id="15" name="Image 2" descr="preencoded.png">    </p:cNvPr>
          <p:cNvPicPr>
            <a:picLocks noChangeAspect="1"/>
          </p:cNvPicPr>
          <p:nvPr/>
        </p:nvPicPr>
        <p:blipFill>
          <a:blip r:embed="rId3"/>
          <a:stretch>
            <a:fillRect/>
          </a:stretch>
        </p:blipFill>
        <p:spPr>
          <a:xfrm>
            <a:off x="782361" y="3772449"/>
            <a:ext cx="209215" cy="209215"/>
          </a:xfrm>
          <a:prstGeom prst="rect">
            <a:avLst/>
          </a:prstGeom>
        </p:spPr>
      </p:pic>
      <p:sp>
        <p:nvSpPr>
          <p:cNvPr id="16" name="Text 11"/>
          <p:cNvSpPr txBox="1"/>
          <p:nvPr/>
        </p:nvSpPr>
        <p:spPr>
          <a:xfrm>
            <a:off x="1234440" y="3639312"/>
            <a:ext cx="3063240" cy="274320"/>
          </a:xfrm>
          <a:prstGeom prst="rect">
            <a:avLst/>
          </a:prstGeom>
          <a:noFill/>
          <a:ln/>
        </p:spPr>
        <p:txBody>
          <a:bodyPr wrap="square" lIns="0" tIns="0" rIns="0" bIns="0" rtlCol="0" anchor="t"/>
          <a:lstStyle/>
          <a:p>
            <a:pPr indent="0" marL="0">
              <a:buNone/>
            </a:pPr>
            <a:r>
              <a:rPr lang="en-US" sz="1400" b="1" dirty="0">
                <a:solidFill>
                  <a:schemeClr val="tx1"/>
                </a:solidFill>
              </a:rPr>
              <a:t>Bounded graph search</a:t>
            </a:r>
            <a:endParaRPr lang="en-US" sz="1400" dirty="0"/>
          </a:p>
        </p:txBody>
      </p:sp>
      <p:sp>
        <p:nvSpPr>
          <p:cNvPr id="17" name="Text 12"/>
          <p:cNvSpPr txBox="1"/>
          <p:nvPr/>
        </p:nvSpPr>
        <p:spPr>
          <a:xfrm>
            <a:off x="1234440" y="3922776"/>
            <a:ext cx="3063240" cy="548640"/>
          </a:xfrm>
          <a:prstGeom prst="rect">
            <a:avLst/>
          </a:prstGeom>
          <a:noFill/>
          <a:ln/>
        </p:spPr>
        <p:txBody>
          <a:bodyPr wrap="square" lIns="0" tIns="0" rIns="0" bIns="0" rtlCol="0" anchor="t"/>
          <a:lstStyle/>
          <a:p>
            <a:pPr indent="0" marL="0">
              <a:buNone/>
            </a:pPr>
            <a:r>
              <a:rPr lang="en-US" sz="1300" dirty="0">
                <a:solidFill>
                  <a:schemeClr val="accent6"/>
                </a:solidFill>
              </a:rPr>
              <a:t>Time-windowed and partitioned by bank, branch or day.</a:t>
            </a:r>
            <a:endParaRPr lang="en-US" sz="1300" dirty="0"/>
          </a:p>
        </p:txBody>
      </p:sp>
      <p:sp>
        <p:nvSpPr>
          <p:cNvPr id="18" name="Shape 13"/>
          <p:cNvSpPr/>
          <p:nvPr/>
        </p:nvSpPr>
        <p:spPr>
          <a:xfrm>
            <a:off x="4663440" y="1261872"/>
            <a:ext cx="4023360" cy="3383280"/>
          </a:xfrm>
          <a:prstGeom prst="roundRect">
            <a:avLst>
              <a:gd name="adj" fmla="val 2162"/>
            </a:avLst>
          </a:prstGeom>
          <a:solidFill>
            <a:schemeClr val="bg2"/>
          </a:solidFill>
          <a:ln/>
        </p:spPr>
      </p:sp>
      <p:sp>
        <p:nvSpPr>
          <p:cNvPr id="19" name="Text 14"/>
          <p:cNvSpPr txBox="1"/>
          <p:nvPr/>
        </p:nvSpPr>
        <p:spPr>
          <a:xfrm>
            <a:off x="4892040" y="1389888"/>
            <a:ext cx="3566160" cy="320040"/>
          </a:xfrm>
          <a:prstGeom prst="rect">
            <a:avLst/>
          </a:prstGeom>
          <a:noFill/>
          <a:ln/>
        </p:spPr>
        <p:txBody>
          <a:bodyPr wrap="square" lIns="0" tIns="0" rIns="0" bIns="0" rtlCol="0" anchor="t"/>
          <a:lstStyle/>
          <a:p>
            <a:pPr indent="0" marL="0">
              <a:buNone/>
            </a:pPr>
            <a:r>
              <a:rPr lang="en-US" sz="1600" b="1" dirty="0">
                <a:solidFill>
                  <a:schemeClr val="tx1"/>
                </a:solidFill>
              </a:rPr>
              <a:t>Extends beyond the demo</a:t>
            </a:r>
            <a:endParaRPr lang="en-US" sz="1600" dirty="0"/>
          </a:p>
        </p:txBody>
      </p:sp>
      <p:sp>
        <p:nvSpPr>
          <p:cNvPr id="20" name="Shape 15"/>
          <p:cNvSpPr/>
          <p:nvPr/>
        </p:nvSpPr>
        <p:spPr>
          <a:xfrm>
            <a:off x="4892040" y="1847088"/>
            <a:ext cx="402336" cy="402336"/>
          </a:xfrm>
          <a:prstGeom prst="ellipse">
            <a:avLst/>
          </a:prstGeom>
          <a:solidFill>
            <a:schemeClr val="accent4"/>
          </a:solidFill>
          <a:ln/>
        </p:spPr>
      </p:sp>
      <p:pic>
        <p:nvPicPr>
          <p:cNvPr id="21" name="Image 3" descr="preencoded.png">    </p:cNvPr>
          <p:cNvPicPr>
            <a:picLocks noChangeAspect="1"/>
          </p:cNvPicPr>
          <p:nvPr/>
        </p:nvPicPr>
        <p:blipFill>
          <a:blip r:embed="rId4"/>
          <a:stretch>
            <a:fillRect/>
          </a:stretch>
        </p:blipFill>
        <p:spPr>
          <a:xfrm>
            <a:off x="4988601" y="1943649"/>
            <a:ext cx="209215" cy="209215"/>
          </a:xfrm>
          <a:prstGeom prst="rect">
            <a:avLst/>
          </a:prstGeom>
        </p:spPr>
      </p:pic>
      <p:sp>
        <p:nvSpPr>
          <p:cNvPr id="22" name="Text 16"/>
          <p:cNvSpPr txBox="1"/>
          <p:nvPr/>
        </p:nvSpPr>
        <p:spPr>
          <a:xfrm>
            <a:off x="5440680" y="1810512"/>
            <a:ext cx="3063240" cy="274320"/>
          </a:xfrm>
          <a:prstGeom prst="rect">
            <a:avLst/>
          </a:prstGeom>
          <a:noFill/>
          <a:ln/>
        </p:spPr>
        <p:txBody>
          <a:bodyPr wrap="square" lIns="0" tIns="0" rIns="0" bIns="0" rtlCol="0" anchor="t"/>
          <a:lstStyle/>
          <a:p>
            <a:pPr indent="0" marL="0">
              <a:buNone/>
            </a:pPr>
            <a:r>
              <a:rPr lang="en-US" sz="1400" b="1" dirty="0">
                <a:solidFill>
                  <a:schemeClr val="tx1"/>
                </a:solidFill>
              </a:rPr>
              <a:t>More typologies</a:t>
            </a:r>
            <a:endParaRPr lang="en-US" sz="1400" dirty="0"/>
          </a:p>
        </p:txBody>
      </p:sp>
      <p:sp>
        <p:nvSpPr>
          <p:cNvPr id="23" name="Text 17"/>
          <p:cNvSpPr txBox="1"/>
          <p:nvPr/>
        </p:nvSpPr>
        <p:spPr>
          <a:xfrm>
            <a:off x="5440680" y="2093976"/>
            <a:ext cx="3063240" cy="548640"/>
          </a:xfrm>
          <a:prstGeom prst="rect">
            <a:avLst/>
          </a:prstGeom>
          <a:noFill/>
          <a:ln/>
        </p:spPr>
        <p:txBody>
          <a:bodyPr wrap="square" lIns="0" tIns="0" rIns="0" bIns="0" rtlCol="0" anchor="t"/>
          <a:lstStyle/>
          <a:p>
            <a:pPr indent="0" marL="0">
              <a:buNone/>
            </a:pPr>
            <a:r>
              <a:rPr lang="en-US" sz="1300" dirty="0">
                <a:solidFill>
                  <a:schemeClr val="accent6"/>
                </a:solidFill>
              </a:rPr>
              <a:t>Dormant-account revival, rapid KYC changes, cash-in to UPI-out.</a:t>
            </a:r>
            <a:endParaRPr lang="en-US" sz="1300" dirty="0"/>
          </a:p>
        </p:txBody>
      </p:sp>
      <p:sp>
        <p:nvSpPr>
          <p:cNvPr id="24" name="Shape 18"/>
          <p:cNvSpPr/>
          <p:nvPr/>
        </p:nvSpPr>
        <p:spPr>
          <a:xfrm>
            <a:off x="4892040" y="2761488"/>
            <a:ext cx="402336" cy="402336"/>
          </a:xfrm>
          <a:prstGeom prst="ellipse">
            <a:avLst/>
          </a:prstGeom>
          <a:solidFill>
            <a:schemeClr val="accent4"/>
          </a:solidFill>
          <a:ln/>
        </p:spPr>
      </p:sp>
      <p:pic>
        <p:nvPicPr>
          <p:cNvPr id="25" name="Image 4" descr="preencoded.png">    </p:cNvPr>
          <p:cNvPicPr>
            <a:picLocks noChangeAspect="1"/>
          </p:cNvPicPr>
          <p:nvPr/>
        </p:nvPicPr>
        <p:blipFill>
          <a:blip r:embed="rId5"/>
          <a:stretch>
            <a:fillRect/>
          </a:stretch>
        </p:blipFill>
        <p:spPr>
          <a:xfrm>
            <a:off x="4988601" y="2858049"/>
            <a:ext cx="209215" cy="209215"/>
          </a:xfrm>
          <a:prstGeom prst="rect">
            <a:avLst/>
          </a:prstGeom>
        </p:spPr>
      </p:pic>
      <p:sp>
        <p:nvSpPr>
          <p:cNvPr id="26" name="Text 19"/>
          <p:cNvSpPr txBox="1"/>
          <p:nvPr/>
        </p:nvSpPr>
        <p:spPr>
          <a:xfrm>
            <a:off x="5440680" y="2724912"/>
            <a:ext cx="3063240" cy="274320"/>
          </a:xfrm>
          <a:prstGeom prst="rect">
            <a:avLst/>
          </a:prstGeom>
          <a:noFill/>
          <a:ln/>
        </p:spPr>
        <p:txBody>
          <a:bodyPr wrap="square" lIns="0" tIns="0" rIns="0" bIns="0" rtlCol="0" anchor="t"/>
          <a:lstStyle/>
          <a:p>
            <a:pPr indent="0" marL="0">
              <a:buNone/>
            </a:pPr>
            <a:r>
              <a:rPr lang="en-US" sz="1400" b="1" dirty="0">
                <a:solidFill>
                  <a:schemeClr val="tx1"/>
                </a:solidFill>
              </a:rPr>
              <a:t>Cross-bank intelligence</a:t>
            </a:r>
            <a:endParaRPr lang="en-US" sz="1400" dirty="0"/>
          </a:p>
        </p:txBody>
      </p:sp>
      <p:sp>
        <p:nvSpPr>
          <p:cNvPr id="27" name="Text 20"/>
          <p:cNvSpPr txBox="1"/>
          <p:nvPr/>
        </p:nvSpPr>
        <p:spPr>
          <a:xfrm>
            <a:off x="5440680" y="3008376"/>
            <a:ext cx="3063240" cy="548640"/>
          </a:xfrm>
          <a:prstGeom prst="rect">
            <a:avLst/>
          </a:prstGeom>
          <a:noFill/>
          <a:ln/>
        </p:spPr>
        <p:txBody>
          <a:bodyPr wrap="square" lIns="0" tIns="0" rIns="0" bIns="0" rtlCol="0" anchor="t"/>
          <a:lstStyle/>
          <a:p>
            <a:pPr indent="0" marL="0">
              <a:buNone/>
            </a:pPr>
            <a:r>
              <a:rPr lang="en-US" sz="1300" dirty="0">
                <a:solidFill>
                  <a:schemeClr val="accent6"/>
                </a:solidFill>
              </a:rPr>
              <a:t>Share mule signals via Data Clean Rooms without sharing PII.</a:t>
            </a:r>
            <a:endParaRPr lang="en-US" sz="1300" dirty="0"/>
          </a:p>
        </p:txBody>
      </p:sp>
      <p:sp>
        <p:nvSpPr>
          <p:cNvPr id="28" name="Shape 21"/>
          <p:cNvSpPr/>
          <p:nvPr/>
        </p:nvSpPr>
        <p:spPr>
          <a:xfrm>
            <a:off x="4892040" y="3675888"/>
            <a:ext cx="402336" cy="402336"/>
          </a:xfrm>
          <a:prstGeom prst="ellipse">
            <a:avLst/>
          </a:prstGeom>
          <a:solidFill>
            <a:schemeClr val="accent4"/>
          </a:solidFill>
          <a:ln/>
        </p:spPr>
      </p:sp>
      <p:pic>
        <p:nvPicPr>
          <p:cNvPr id="29" name="Image 5" descr="preencoded.png">    </p:cNvPr>
          <p:cNvPicPr>
            <a:picLocks noChangeAspect="1"/>
          </p:cNvPicPr>
          <p:nvPr/>
        </p:nvPicPr>
        <p:blipFill>
          <a:blip r:embed="rId6"/>
          <a:stretch>
            <a:fillRect/>
          </a:stretch>
        </p:blipFill>
        <p:spPr>
          <a:xfrm>
            <a:off x="4988601" y="3772449"/>
            <a:ext cx="209215" cy="209215"/>
          </a:xfrm>
          <a:prstGeom prst="rect">
            <a:avLst/>
          </a:prstGeom>
        </p:spPr>
      </p:pic>
      <p:sp>
        <p:nvSpPr>
          <p:cNvPr id="30" name="Text 22"/>
          <p:cNvSpPr txBox="1"/>
          <p:nvPr/>
        </p:nvSpPr>
        <p:spPr>
          <a:xfrm>
            <a:off x="5440680" y="3639312"/>
            <a:ext cx="3063240" cy="274320"/>
          </a:xfrm>
          <a:prstGeom prst="rect">
            <a:avLst/>
          </a:prstGeom>
          <a:noFill/>
          <a:ln/>
        </p:spPr>
        <p:txBody>
          <a:bodyPr wrap="square" lIns="0" tIns="0" rIns="0" bIns="0" rtlCol="0" anchor="t"/>
          <a:lstStyle/>
          <a:p>
            <a:pPr indent="0" marL="0">
              <a:buNone/>
            </a:pPr>
            <a:r>
              <a:rPr lang="en-US" sz="1400" b="1" dirty="0">
                <a:solidFill>
                  <a:schemeClr val="tx1"/>
                </a:solidFill>
              </a:rPr>
              <a:t>Wider risk copilot</a:t>
            </a:r>
            <a:endParaRPr lang="en-US" sz="1400" dirty="0"/>
          </a:p>
        </p:txBody>
      </p:sp>
      <p:sp>
        <p:nvSpPr>
          <p:cNvPr id="31" name="Text 23"/>
          <p:cNvSpPr txBox="1"/>
          <p:nvPr/>
        </p:nvSpPr>
        <p:spPr>
          <a:xfrm>
            <a:off x="5440680" y="3922776"/>
            <a:ext cx="3063240" cy="548640"/>
          </a:xfrm>
          <a:prstGeom prst="rect">
            <a:avLst/>
          </a:prstGeom>
          <a:noFill/>
          <a:ln/>
        </p:spPr>
        <p:txBody>
          <a:bodyPr wrap="square" lIns="0" tIns="0" rIns="0" bIns="0" rtlCol="0" anchor="t"/>
          <a:lstStyle/>
          <a:p>
            <a:pPr indent="0" marL="0">
              <a:buNone/>
            </a:pPr>
            <a:r>
              <a:rPr lang="en-US" sz="1300" dirty="0">
                <a:solidFill>
                  <a:schemeClr val="accent6"/>
                </a:solidFill>
              </a:rPr>
              <a:t>Same agent for credit, liquidity and Basel reporting questions.</a:t>
            </a:r>
            <a:endParaRPr lang="en-US" sz="13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822960"/>
            <a:ext cx="4846320" cy="274320"/>
          </a:xfrm>
          <a:prstGeom prst="rect">
            <a:avLst/>
          </a:prstGeom>
          <a:noFill/>
          <a:ln/>
        </p:spPr>
        <p:txBody>
          <a:bodyPr wrap="square" lIns="0" tIns="0" rIns="0" bIns="0" rtlCol="0"/>
          <a:lstStyle/>
          <a:p>
            <a:pPr indent="0" marL="0">
              <a:buNone/>
            </a:pPr>
            <a:r>
              <a:rPr lang="en-US" sz="1100" b="1" spc="150" kern="0" dirty="0">
                <a:solidFill>
                  <a:schemeClr val="accent5"/>
                </a:solidFill>
              </a:rPr>
              <a:t>MVP DEMO SCOPE</a:t>
            </a:r>
            <a:endParaRPr lang="en-US" sz="1100" dirty="0"/>
          </a:p>
        </p:txBody>
      </p:sp>
      <p:sp>
        <p:nvSpPr>
          <p:cNvPr id="3" name="Text 0"/>
          <p:cNvSpPr/>
          <p:nvPr>
            <p:ph idx="101" type="title" hasCustomPrompt="1"/>
          </p:nvPr>
        </p:nvSpPr>
        <p:spPr>
          <a:xfrm>
            <a:off x="457200" y="1188720"/>
            <a:ext cx="4846320" cy="914400"/>
          </a:xfrm>
          <a:prstGeom prst="rect">
            <a:avLst/>
          </a:prstGeom>
          <a:noFill/>
          <a:ln/>
        </p:spPr>
        <p:txBody>
          <a:bodyPr wrap="square" lIns="0" tIns="0" rIns="0" bIns="0" rtlCol="0" anchor="ctr"/>
          <a:lstStyle/>
          <a:p>
            <a:pPr algn="l" indent="0" marL="0">
              <a:buNone/>
            </a:pPr>
            <a:r>
              <a:rPr lang="en-US" sz="4800" b="1" dirty="0">
                <a:solidFill>
                  <a:schemeClr val="bg1"/>
                </a:solidFill>
              </a:rPr>
              <a:t>In the demo</a:t>
            </a:r>
            <a:endParaRPr lang="en-US" sz="4800" dirty="0"/>
          </a:p>
        </p:txBody>
      </p:sp>
      <p:pic>
        <p:nvPicPr>
          <p:cNvPr id="4" name="Image 0" descr="preencoded.png">    </p:cNvPr>
          <p:cNvPicPr>
            <a:picLocks noChangeAspect="1"/>
          </p:cNvPicPr>
          <p:nvPr/>
        </p:nvPicPr>
        <p:blipFill>
          <a:blip r:embed="rId1"/>
          <a:stretch>
            <a:fillRect/>
          </a:stretch>
        </p:blipFill>
        <p:spPr>
          <a:xfrm>
            <a:off x="457200" y="2276856"/>
            <a:ext cx="237744" cy="237744"/>
          </a:xfrm>
          <a:prstGeom prst="rect">
            <a:avLst/>
          </a:prstGeom>
        </p:spPr>
      </p:pic>
      <p:sp>
        <p:nvSpPr>
          <p:cNvPr id="5" name="Text 2"/>
          <p:cNvSpPr txBox="1"/>
          <p:nvPr/>
        </p:nvSpPr>
        <p:spPr>
          <a:xfrm>
            <a:off x="841248" y="2240280"/>
            <a:ext cx="4480560" cy="310896"/>
          </a:xfrm>
          <a:prstGeom prst="rect">
            <a:avLst/>
          </a:prstGeom>
          <a:noFill/>
          <a:ln/>
        </p:spPr>
        <p:txBody>
          <a:bodyPr wrap="square" lIns="0" tIns="0" rIns="0" bIns="0" rtlCol="0" anchor="ctr"/>
          <a:lstStyle/>
          <a:p>
            <a:pPr indent="0" marL="0">
              <a:buNone/>
            </a:pPr>
            <a:r>
              <a:rPr lang="en-US" sz="1500" dirty="0">
                <a:solidFill>
                  <a:schemeClr val="bg1"/>
                </a:solidFill>
              </a:rPr>
              <a:t>A month of synthetic banking data with 4 hidden schemes</a:t>
            </a:r>
            <a:endParaRPr lang="en-US" sz="1500" dirty="0"/>
          </a:p>
        </p:txBody>
      </p:sp>
      <p:pic>
        <p:nvPicPr>
          <p:cNvPr id="6" name="Image 1" descr="preencoded.png">    </p:cNvPr>
          <p:cNvPicPr>
            <a:picLocks noChangeAspect="1"/>
          </p:cNvPicPr>
          <p:nvPr/>
        </p:nvPicPr>
        <p:blipFill>
          <a:blip r:embed="rId2"/>
          <a:stretch>
            <a:fillRect/>
          </a:stretch>
        </p:blipFill>
        <p:spPr>
          <a:xfrm>
            <a:off x="457200" y="2715768"/>
            <a:ext cx="237744" cy="237744"/>
          </a:xfrm>
          <a:prstGeom prst="rect">
            <a:avLst/>
          </a:prstGeom>
        </p:spPr>
      </p:pic>
      <p:sp>
        <p:nvSpPr>
          <p:cNvPr id="7" name="Text 3"/>
          <p:cNvSpPr txBox="1"/>
          <p:nvPr/>
        </p:nvSpPr>
        <p:spPr>
          <a:xfrm>
            <a:off x="841248" y="2679192"/>
            <a:ext cx="4480560" cy="310896"/>
          </a:xfrm>
          <a:prstGeom prst="rect">
            <a:avLst/>
          </a:prstGeom>
          <a:noFill/>
          <a:ln/>
        </p:spPr>
        <p:txBody>
          <a:bodyPr wrap="square" lIns="0" tIns="0" rIns="0" bIns="0" rtlCol="0" anchor="ctr"/>
          <a:lstStyle/>
          <a:p>
            <a:pPr indent="0" marL="0">
              <a:buNone/>
            </a:pPr>
            <a:r>
              <a:rPr lang="en-US" sz="1500" dirty="0">
                <a:solidFill>
                  <a:schemeClr val="bg1"/>
                </a:solidFill>
              </a:rPr>
              <a:t>Graph detection and a risk score for every account</a:t>
            </a:r>
            <a:endParaRPr lang="en-US" sz="1500" dirty="0"/>
          </a:p>
        </p:txBody>
      </p:sp>
      <p:pic>
        <p:nvPicPr>
          <p:cNvPr id="8" name="Image 2" descr="preencoded.png">    </p:cNvPr>
          <p:cNvPicPr>
            <a:picLocks noChangeAspect="1"/>
          </p:cNvPicPr>
          <p:nvPr/>
        </p:nvPicPr>
        <p:blipFill>
          <a:blip r:embed="rId3"/>
          <a:stretch>
            <a:fillRect/>
          </a:stretch>
        </p:blipFill>
        <p:spPr>
          <a:xfrm>
            <a:off x="457200" y="3154680"/>
            <a:ext cx="237744" cy="237744"/>
          </a:xfrm>
          <a:prstGeom prst="rect">
            <a:avLst/>
          </a:prstGeom>
        </p:spPr>
      </p:pic>
      <p:sp>
        <p:nvSpPr>
          <p:cNvPr id="9" name="Text 4"/>
          <p:cNvSpPr txBox="1"/>
          <p:nvPr/>
        </p:nvSpPr>
        <p:spPr>
          <a:xfrm>
            <a:off x="841248" y="3118104"/>
            <a:ext cx="4480560" cy="310896"/>
          </a:xfrm>
          <a:prstGeom prst="rect">
            <a:avLst/>
          </a:prstGeom>
          <a:noFill/>
          <a:ln/>
        </p:spPr>
        <p:txBody>
          <a:bodyPr wrap="square" lIns="0" tIns="0" rIns="0" bIns="0" rtlCol="0" anchor="ctr"/>
          <a:lstStyle/>
          <a:p>
            <a:pPr indent="0" marL="0">
              <a:buNone/>
            </a:pPr>
            <a:r>
              <a:rPr lang="en-US" sz="1500" dirty="0">
                <a:solidFill>
                  <a:schemeClr val="bg1"/>
                </a:solidFill>
              </a:rPr>
              <a:t>Interactive network diagram for every case</a:t>
            </a:r>
            <a:endParaRPr lang="en-US" sz="1500" dirty="0"/>
          </a:p>
        </p:txBody>
      </p:sp>
      <p:pic>
        <p:nvPicPr>
          <p:cNvPr id="10" name="Image 3" descr="preencoded.png">    </p:cNvPr>
          <p:cNvPicPr>
            <a:picLocks noChangeAspect="1"/>
          </p:cNvPicPr>
          <p:nvPr/>
        </p:nvPicPr>
        <p:blipFill>
          <a:blip r:embed="rId4"/>
          <a:stretch>
            <a:fillRect/>
          </a:stretch>
        </p:blipFill>
        <p:spPr>
          <a:xfrm>
            <a:off x="457200" y="3593592"/>
            <a:ext cx="237744" cy="237744"/>
          </a:xfrm>
          <a:prstGeom prst="rect">
            <a:avLst/>
          </a:prstGeom>
        </p:spPr>
      </p:pic>
      <p:sp>
        <p:nvSpPr>
          <p:cNvPr id="11" name="Text 5"/>
          <p:cNvSpPr txBox="1"/>
          <p:nvPr/>
        </p:nvSpPr>
        <p:spPr>
          <a:xfrm>
            <a:off x="841248" y="3557016"/>
            <a:ext cx="4480560" cy="310896"/>
          </a:xfrm>
          <a:prstGeom prst="rect">
            <a:avLst/>
          </a:prstGeom>
          <a:noFill/>
          <a:ln/>
        </p:spPr>
        <p:txBody>
          <a:bodyPr wrap="square" lIns="0" tIns="0" rIns="0" bIns="0" rtlCol="0" anchor="ctr"/>
          <a:lstStyle/>
          <a:p>
            <a:pPr indent="0" marL="0">
              <a:buNone/>
            </a:pPr>
            <a:r>
              <a:rPr lang="en-US" sz="1500" dirty="0">
                <a:solidFill>
                  <a:schemeClr val="bg1"/>
                </a:solidFill>
              </a:rPr>
              <a:t>Plain-English Q&amp;A with cited policy clauses</a:t>
            </a:r>
            <a:endParaRPr lang="en-US" sz="1500" dirty="0"/>
          </a:p>
        </p:txBody>
      </p:sp>
      <p:pic>
        <p:nvPicPr>
          <p:cNvPr id="12" name="Image 4" descr="preencoded.png">    </p:cNvPr>
          <p:cNvPicPr>
            <a:picLocks noChangeAspect="1"/>
          </p:cNvPicPr>
          <p:nvPr/>
        </p:nvPicPr>
        <p:blipFill>
          <a:blip r:embed="rId5"/>
          <a:stretch>
            <a:fillRect/>
          </a:stretch>
        </p:blipFill>
        <p:spPr>
          <a:xfrm>
            <a:off x="457200" y="4032504"/>
            <a:ext cx="237744" cy="237744"/>
          </a:xfrm>
          <a:prstGeom prst="rect">
            <a:avLst/>
          </a:prstGeom>
        </p:spPr>
      </p:pic>
      <p:sp>
        <p:nvSpPr>
          <p:cNvPr id="13" name="Text 6"/>
          <p:cNvSpPr txBox="1"/>
          <p:nvPr/>
        </p:nvSpPr>
        <p:spPr>
          <a:xfrm>
            <a:off x="841248" y="3995928"/>
            <a:ext cx="4480560" cy="310896"/>
          </a:xfrm>
          <a:prstGeom prst="rect">
            <a:avLst/>
          </a:prstGeom>
          <a:noFill/>
          <a:ln/>
        </p:spPr>
        <p:txBody>
          <a:bodyPr wrap="square" lIns="0" tIns="0" rIns="0" bIns="0" rtlCol="0" anchor="ctr"/>
          <a:lstStyle/>
          <a:p>
            <a:pPr indent="0" marL="0">
              <a:buNone/>
            </a:pPr>
            <a:r>
              <a:rPr lang="en-US" sz="1500" dirty="0">
                <a:solidFill>
                  <a:schemeClr val="bg1"/>
                </a:solidFill>
              </a:rPr>
              <a:t>One-click STR draft with evidence attached</a:t>
            </a:r>
            <a:endParaRPr lang="en-US" sz="1500" dirty="0"/>
          </a:p>
        </p:txBody>
      </p:sp>
      <p:sp>
        <p:nvSpPr>
          <p:cNvPr id="14" name="Shape 7"/>
          <p:cNvSpPr/>
          <p:nvPr/>
        </p:nvSpPr>
        <p:spPr>
          <a:xfrm>
            <a:off x="7178040" y="1417320"/>
            <a:ext cx="914" cy="850392"/>
          </a:xfrm>
          <a:prstGeom prst="line">
            <a:avLst/>
          </a:prstGeom>
          <a:noFill/>
          <a:ln w="12700">
            <a:solidFill>
              <a:schemeClr val="accent6"/>
            </a:solidFill>
            <a:prstDash val="solid"/>
            <a:tailEnd type="triangle"/>
          </a:ln>
        </p:spPr>
      </p:sp>
      <p:sp>
        <p:nvSpPr>
          <p:cNvPr id="15" name="Shape 8"/>
          <p:cNvSpPr/>
          <p:nvPr/>
        </p:nvSpPr>
        <p:spPr>
          <a:xfrm>
            <a:off x="7068312" y="1170432"/>
            <a:ext cx="219456" cy="219456"/>
          </a:xfrm>
          <a:prstGeom prst="ellipse">
            <a:avLst/>
          </a:prstGeom>
          <a:solidFill>
            <a:schemeClr val="accent3"/>
          </a:solidFill>
          <a:ln w="12700">
            <a:solidFill>
              <a:schemeClr val="tx2"/>
            </a:solidFill>
            <a:prstDash val="solid"/>
          </a:ln>
        </p:spPr>
      </p:sp>
      <p:sp>
        <p:nvSpPr>
          <p:cNvPr id="16" name="Shape 9"/>
          <p:cNvSpPr/>
          <p:nvPr/>
        </p:nvSpPr>
        <p:spPr>
          <a:xfrm flipH="1">
            <a:off x="7347204" y="1576578"/>
            <a:ext cx="425196" cy="736461"/>
          </a:xfrm>
          <a:prstGeom prst="line">
            <a:avLst/>
          </a:prstGeom>
          <a:noFill/>
          <a:ln w="12700">
            <a:solidFill>
              <a:schemeClr val="accent6"/>
            </a:solidFill>
            <a:prstDash val="solid"/>
            <a:tailEnd type="triangle"/>
          </a:ln>
        </p:spPr>
      </p:sp>
      <p:sp>
        <p:nvSpPr>
          <p:cNvPr id="17" name="Shape 10"/>
          <p:cNvSpPr/>
          <p:nvPr/>
        </p:nvSpPr>
        <p:spPr>
          <a:xfrm>
            <a:off x="7731252" y="1348066"/>
            <a:ext cx="219456" cy="219456"/>
          </a:xfrm>
          <a:prstGeom prst="ellipse">
            <a:avLst/>
          </a:prstGeom>
          <a:solidFill>
            <a:schemeClr val="accent3"/>
          </a:solidFill>
          <a:ln w="12700">
            <a:solidFill>
              <a:schemeClr val="tx2"/>
            </a:solidFill>
            <a:prstDash val="solid"/>
          </a:ln>
        </p:spPr>
      </p:sp>
      <p:sp>
        <p:nvSpPr>
          <p:cNvPr id="18" name="Shape 11"/>
          <p:cNvSpPr/>
          <p:nvPr/>
        </p:nvSpPr>
        <p:spPr>
          <a:xfrm flipH="1">
            <a:off x="7471041" y="2011680"/>
            <a:ext cx="736461" cy="425196"/>
          </a:xfrm>
          <a:prstGeom prst="line">
            <a:avLst/>
          </a:prstGeom>
          <a:noFill/>
          <a:ln w="12700">
            <a:solidFill>
              <a:schemeClr val="accent6"/>
            </a:solidFill>
            <a:prstDash val="solid"/>
            <a:tailEnd type="triangle"/>
          </a:ln>
        </p:spPr>
      </p:sp>
      <p:sp>
        <p:nvSpPr>
          <p:cNvPr id="19" name="Shape 12"/>
          <p:cNvSpPr/>
          <p:nvPr/>
        </p:nvSpPr>
        <p:spPr>
          <a:xfrm>
            <a:off x="8216558" y="1833372"/>
            <a:ext cx="219456" cy="219456"/>
          </a:xfrm>
          <a:prstGeom prst="ellipse">
            <a:avLst/>
          </a:prstGeom>
          <a:solidFill>
            <a:schemeClr val="accent3"/>
          </a:solidFill>
          <a:ln w="12700">
            <a:solidFill>
              <a:schemeClr val="tx2"/>
            </a:solidFill>
            <a:prstDash val="solid"/>
          </a:ln>
        </p:spPr>
      </p:sp>
      <p:sp>
        <p:nvSpPr>
          <p:cNvPr id="20" name="Shape 13"/>
          <p:cNvSpPr/>
          <p:nvPr/>
        </p:nvSpPr>
        <p:spPr>
          <a:xfrm flipH="1">
            <a:off x="7516368" y="2606040"/>
            <a:ext cx="850392" cy="914"/>
          </a:xfrm>
          <a:prstGeom prst="line">
            <a:avLst/>
          </a:prstGeom>
          <a:noFill/>
          <a:ln w="12700">
            <a:solidFill>
              <a:schemeClr val="accent6"/>
            </a:solidFill>
            <a:prstDash val="solid"/>
            <a:tailEnd type="triangle"/>
          </a:ln>
        </p:spPr>
      </p:sp>
      <p:sp>
        <p:nvSpPr>
          <p:cNvPr id="21" name="Shape 14"/>
          <p:cNvSpPr/>
          <p:nvPr/>
        </p:nvSpPr>
        <p:spPr>
          <a:xfrm>
            <a:off x="8394192" y="2496312"/>
            <a:ext cx="219456" cy="219456"/>
          </a:xfrm>
          <a:prstGeom prst="ellipse">
            <a:avLst/>
          </a:prstGeom>
          <a:solidFill>
            <a:schemeClr val="accent3"/>
          </a:solidFill>
          <a:ln w="12700">
            <a:solidFill>
              <a:schemeClr val="tx2"/>
            </a:solidFill>
            <a:prstDash val="solid"/>
          </a:ln>
        </p:spPr>
      </p:sp>
      <p:sp>
        <p:nvSpPr>
          <p:cNvPr id="22" name="Shape 15"/>
          <p:cNvSpPr/>
          <p:nvPr/>
        </p:nvSpPr>
        <p:spPr>
          <a:xfrm flipH="1" flipV="1">
            <a:off x="7471041" y="2775204"/>
            <a:ext cx="736461" cy="425196"/>
          </a:xfrm>
          <a:prstGeom prst="line">
            <a:avLst/>
          </a:prstGeom>
          <a:noFill/>
          <a:ln w="12700">
            <a:solidFill>
              <a:schemeClr val="accent6"/>
            </a:solidFill>
            <a:prstDash val="solid"/>
            <a:tailEnd type="triangle"/>
          </a:ln>
        </p:spPr>
      </p:sp>
      <p:sp>
        <p:nvSpPr>
          <p:cNvPr id="23" name="Shape 16"/>
          <p:cNvSpPr/>
          <p:nvPr/>
        </p:nvSpPr>
        <p:spPr>
          <a:xfrm>
            <a:off x="8216558" y="3159252"/>
            <a:ext cx="219456" cy="219456"/>
          </a:xfrm>
          <a:prstGeom prst="ellipse">
            <a:avLst/>
          </a:prstGeom>
          <a:solidFill>
            <a:schemeClr val="accent3"/>
          </a:solidFill>
          <a:ln w="12700">
            <a:solidFill>
              <a:schemeClr val="tx2"/>
            </a:solidFill>
            <a:prstDash val="solid"/>
          </a:ln>
        </p:spPr>
      </p:sp>
      <p:sp>
        <p:nvSpPr>
          <p:cNvPr id="24" name="Shape 17"/>
          <p:cNvSpPr/>
          <p:nvPr/>
        </p:nvSpPr>
        <p:spPr>
          <a:xfrm flipH="1" flipV="1">
            <a:off x="7347204" y="2899041"/>
            <a:ext cx="425196" cy="736461"/>
          </a:xfrm>
          <a:prstGeom prst="line">
            <a:avLst/>
          </a:prstGeom>
          <a:noFill/>
          <a:ln w="12700">
            <a:solidFill>
              <a:schemeClr val="accent6"/>
            </a:solidFill>
            <a:prstDash val="solid"/>
            <a:tailEnd type="triangle"/>
          </a:ln>
        </p:spPr>
      </p:sp>
      <p:sp>
        <p:nvSpPr>
          <p:cNvPr id="25" name="Shape 18"/>
          <p:cNvSpPr/>
          <p:nvPr/>
        </p:nvSpPr>
        <p:spPr>
          <a:xfrm>
            <a:off x="7731252" y="3644558"/>
            <a:ext cx="219456" cy="219456"/>
          </a:xfrm>
          <a:prstGeom prst="ellipse">
            <a:avLst/>
          </a:prstGeom>
          <a:solidFill>
            <a:schemeClr val="accent3"/>
          </a:solidFill>
          <a:ln w="12700">
            <a:solidFill>
              <a:schemeClr val="tx2"/>
            </a:solidFill>
            <a:prstDash val="solid"/>
          </a:ln>
        </p:spPr>
      </p:sp>
      <p:sp>
        <p:nvSpPr>
          <p:cNvPr id="26" name="Shape 19"/>
          <p:cNvSpPr/>
          <p:nvPr/>
        </p:nvSpPr>
        <p:spPr>
          <a:xfrm flipV="1">
            <a:off x="7178040" y="2944368"/>
            <a:ext cx="914" cy="850392"/>
          </a:xfrm>
          <a:prstGeom prst="line">
            <a:avLst/>
          </a:prstGeom>
          <a:noFill/>
          <a:ln w="12700">
            <a:solidFill>
              <a:schemeClr val="accent6"/>
            </a:solidFill>
            <a:prstDash val="solid"/>
            <a:tailEnd type="triangle"/>
          </a:ln>
        </p:spPr>
      </p:sp>
      <p:sp>
        <p:nvSpPr>
          <p:cNvPr id="27" name="Shape 20"/>
          <p:cNvSpPr/>
          <p:nvPr/>
        </p:nvSpPr>
        <p:spPr>
          <a:xfrm>
            <a:off x="7068312" y="3822192"/>
            <a:ext cx="219456" cy="219456"/>
          </a:xfrm>
          <a:prstGeom prst="ellipse">
            <a:avLst/>
          </a:prstGeom>
          <a:solidFill>
            <a:schemeClr val="accent3"/>
          </a:solidFill>
          <a:ln w="12700">
            <a:solidFill>
              <a:schemeClr val="tx2"/>
            </a:solidFill>
            <a:prstDash val="solid"/>
          </a:ln>
        </p:spPr>
      </p:sp>
      <p:sp>
        <p:nvSpPr>
          <p:cNvPr id="28" name="Shape 21"/>
          <p:cNvSpPr/>
          <p:nvPr/>
        </p:nvSpPr>
        <p:spPr>
          <a:xfrm flipV="1">
            <a:off x="6583680" y="2899041"/>
            <a:ext cx="425196" cy="736461"/>
          </a:xfrm>
          <a:prstGeom prst="line">
            <a:avLst/>
          </a:prstGeom>
          <a:noFill/>
          <a:ln w="12700">
            <a:solidFill>
              <a:schemeClr val="accent6"/>
            </a:solidFill>
            <a:prstDash val="solid"/>
            <a:tailEnd type="triangle"/>
          </a:ln>
        </p:spPr>
      </p:sp>
      <p:sp>
        <p:nvSpPr>
          <p:cNvPr id="29" name="Shape 22"/>
          <p:cNvSpPr/>
          <p:nvPr/>
        </p:nvSpPr>
        <p:spPr>
          <a:xfrm>
            <a:off x="6405372" y="3644558"/>
            <a:ext cx="219456" cy="219456"/>
          </a:xfrm>
          <a:prstGeom prst="ellipse">
            <a:avLst/>
          </a:prstGeom>
          <a:solidFill>
            <a:schemeClr val="accent3"/>
          </a:solidFill>
          <a:ln w="12700">
            <a:solidFill>
              <a:schemeClr val="tx2"/>
            </a:solidFill>
            <a:prstDash val="solid"/>
          </a:ln>
        </p:spPr>
      </p:sp>
      <p:sp>
        <p:nvSpPr>
          <p:cNvPr id="30" name="Shape 23"/>
          <p:cNvSpPr/>
          <p:nvPr/>
        </p:nvSpPr>
        <p:spPr>
          <a:xfrm flipV="1">
            <a:off x="6148578" y="2775204"/>
            <a:ext cx="736461" cy="425196"/>
          </a:xfrm>
          <a:prstGeom prst="line">
            <a:avLst/>
          </a:prstGeom>
          <a:noFill/>
          <a:ln w="12700">
            <a:solidFill>
              <a:schemeClr val="accent6"/>
            </a:solidFill>
            <a:prstDash val="solid"/>
            <a:tailEnd type="triangle"/>
          </a:ln>
        </p:spPr>
      </p:sp>
      <p:sp>
        <p:nvSpPr>
          <p:cNvPr id="31" name="Shape 24"/>
          <p:cNvSpPr/>
          <p:nvPr/>
        </p:nvSpPr>
        <p:spPr>
          <a:xfrm>
            <a:off x="5920066" y="3159252"/>
            <a:ext cx="219456" cy="219456"/>
          </a:xfrm>
          <a:prstGeom prst="ellipse">
            <a:avLst/>
          </a:prstGeom>
          <a:solidFill>
            <a:schemeClr val="accent3"/>
          </a:solidFill>
          <a:ln w="12700">
            <a:solidFill>
              <a:schemeClr val="tx2"/>
            </a:solidFill>
            <a:prstDash val="solid"/>
          </a:ln>
        </p:spPr>
      </p:sp>
      <p:sp>
        <p:nvSpPr>
          <p:cNvPr id="32" name="Shape 25"/>
          <p:cNvSpPr/>
          <p:nvPr/>
        </p:nvSpPr>
        <p:spPr>
          <a:xfrm>
            <a:off x="5989320" y="2606040"/>
            <a:ext cx="850392" cy="914"/>
          </a:xfrm>
          <a:prstGeom prst="line">
            <a:avLst/>
          </a:prstGeom>
          <a:noFill/>
          <a:ln w="12700">
            <a:solidFill>
              <a:schemeClr val="accent6"/>
            </a:solidFill>
            <a:prstDash val="solid"/>
            <a:tailEnd type="triangle"/>
          </a:ln>
        </p:spPr>
      </p:sp>
      <p:sp>
        <p:nvSpPr>
          <p:cNvPr id="33" name="Shape 26"/>
          <p:cNvSpPr/>
          <p:nvPr/>
        </p:nvSpPr>
        <p:spPr>
          <a:xfrm>
            <a:off x="5742432" y="2496312"/>
            <a:ext cx="219456" cy="219456"/>
          </a:xfrm>
          <a:prstGeom prst="ellipse">
            <a:avLst/>
          </a:prstGeom>
          <a:solidFill>
            <a:schemeClr val="accent3"/>
          </a:solidFill>
          <a:ln w="12700">
            <a:solidFill>
              <a:schemeClr val="tx2"/>
            </a:solidFill>
            <a:prstDash val="solid"/>
          </a:ln>
        </p:spPr>
      </p:sp>
      <p:sp>
        <p:nvSpPr>
          <p:cNvPr id="34" name="Shape 27"/>
          <p:cNvSpPr/>
          <p:nvPr/>
        </p:nvSpPr>
        <p:spPr>
          <a:xfrm>
            <a:off x="6148578" y="2011680"/>
            <a:ext cx="736461" cy="425196"/>
          </a:xfrm>
          <a:prstGeom prst="line">
            <a:avLst/>
          </a:prstGeom>
          <a:noFill/>
          <a:ln w="12700">
            <a:solidFill>
              <a:schemeClr val="accent6"/>
            </a:solidFill>
            <a:prstDash val="solid"/>
            <a:tailEnd type="triangle"/>
          </a:ln>
        </p:spPr>
      </p:sp>
      <p:sp>
        <p:nvSpPr>
          <p:cNvPr id="35" name="Shape 28"/>
          <p:cNvSpPr/>
          <p:nvPr/>
        </p:nvSpPr>
        <p:spPr>
          <a:xfrm>
            <a:off x="5920066" y="1833372"/>
            <a:ext cx="219456" cy="219456"/>
          </a:xfrm>
          <a:prstGeom prst="ellipse">
            <a:avLst/>
          </a:prstGeom>
          <a:solidFill>
            <a:schemeClr val="accent3"/>
          </a:solidFill>
          <a:ln w="12700">
            <a:solidFill>
              <a:schemeClr val="tx2"/>
            </a:solidFill>
            <a:prstDash val="solid"/>
          </a:ln>
        </p:spPr>
      </p:sp>
      <p:sp>
        <p:nvSpPr>
          <p:cNvPr id="36" name="Shape 29"/>
          <p:cNvSpPr/>
          <p:nvPr/>
        </p:nvSpPr>
        <p:spPr>
          <a:xfrm>
            <a:off x="6583680" y="1576578"/>
            <a:ext cx="425196" cy="736461"/>
          </a:xfrm>
          <a:prstGeom prst="line">
            <a:avLst/>
          </a:prstGeom>
          <a:noFill/>
          <a:ln w="12700">
            <a:solidFill>
              <a:schemeClr val="accent6"/>
            </a:solidFill>
            <a:prstDash val="solid"/>
            <a:tailEnd type="triangle"/>
          </a:ln>
        </p:spPr>
      </p:sp>
      <p:sp>
        <p:nvSpPr>
          <p:cNvPr id="37" name="Shape 30"/>
          <p:cNvSpPr/>
          <p:nvPr/>
        </p:nvSpPr>
        <p:spPr>
          <a:xfrm>
            <a:off x="6405372" y="1348066"/>
            <a:ext cx="219456" cy="219456"/>
          </a:xfrm>
          <a:prstGeom prst="ellipse">
            <a:avLst/>
          </a:prstGeom>
          <a:solidFill>
            <a:schemeClr val="accent3"/>
          </a:solidFill>
          <a:ln w="12700">
            <a:solidFill>
              <a:schemeClr val="tx2"/>
            </a:solidFill>
            <a:prstDash val="solid"/>
          </a:ln>
        </p:spPr>
      </p:sp>
      <p:sp>
        <p:nvSpPr>
          <p:cNvPr id="38" name="Shape 31"/>
          <p:cNvSpPr/>
          <p:nvPr/>
        </p:nvSpPr>
        <p:spPr>
          <a:xfrm>
            <a:off x="6885432" y="2313432"/>
            <a:ext cx="585216" cy="585216"/>
          </a:xfrm>
          <a:prstGeom prst="ellipse">
            <a:avLst/>
          </a:prstGeom>
          <a:solidFill>
            <a:schemeClr val="accent1"/>
          </a:solidFill>
          <a:ln w="12700">
            <a:solidFill>
              <a:schemeClr val="tx2"/>
            </a:solidFill>
            <a:prstDash val="solid"/>
          </a:ln>
        </p:spPr>
      </p:sp>
      <p:sp>
        <p:nvSpPr>
          <p:cNvPr id="39" name="Text 32"/>
          <p:cNvSpPr txBox="1"/>
          <p:nvPr/>
        </p:nvSpPr>
        <p:spPr>
          <a:xfrm>
            <a:off x="5669280" y="4160520"/>
            <a:ext cx="3017520" cy="457200"/>
          </a:xfrm>
          <a:prstGeom prst="rect">
            <a:avLst/>
          </a:prstGeom>
          <a:noFill/>
          <a:ln/>
        </p:spPr>
        <p:txBody>
          <a:bodyPr wrap="square" lIns="0" tIns="0" rIns="0" bIns="0" rtlCol="0" anchor="t"/>
          <a:lstStyle/>
          <a:p>
            <a:pPr algn="ctr" indent="0" marL="0">
              <a:buNone/>
            </a:pPr>
            <a:r>
              <a:rPr lang="en-US" sz="1200" i="1" dirty="0">
                <a:solidFill>
                  <a:schemeClr val="accent5"/>
                </a:solidFill>
              </a:rPr>
              <a:t>MuleTrace: follow the money, file with confidence.</a:t>
            </a:r>
            <a:endParaRPr lang="en-US" sz="1200" dirty="0"/>
          </a:p>
        </p:txBody>
      </p:sp>
      <p:sp>
        <p:nvSpPr>
          <p:cNvPr id="41" name="Text 0"/>
          <p:cNvSpPr/>
          <p:nvPr>
            <p:ph idx="102" type="body" hasCustomPrompt="1"/>
          </p:nvPr>
        </p:nvSpPr>
        <p:spPr>
          <a:xfrm>
            <a:off x="457200" y="2148840"/>
            <a:ext cx="4846320" cy="685800"/>
          </a:xfrm>
          <a:prstGeom prst="rect">
            <a:avLst/>
          </a:prstGeom>
          <a:noFill/>
          <a:ln/>
        </p:spPr>
        <p:txBody>
          <a:bodyPr wrap="square" lIns="0" tIns="0" rIns="0" bIns="0" rtlCol="0" anchor="t"/>
          <a:lstStyle/>
          <a:p>
            <a:pPr indent="0" marL="0">
              <a:buNone/>
            </a:pPr>
            <a:endParaRPr lang="en-US" sz="2000" dirty="0"/>
          </a:p>
        </p:txBody>
      </p:sp>
      <p:sp>
        <p:nvSpPr>
          <p:cNvPr id="42" name="Text 0"/>
          <p:cNvSpPr/>
          <p:nvPr>
            <p:ph idx="103" type="body" hasCustomPrompt="1"/>
          </p:nvPr>
        </p:nvSpPr>
        <p:spPr>
          <a:xfrm>
            <a:off x="457200" y="2926080"/>
            <a:ext cx="4572000" cy="1097280"/>
          </a:xfrm>
          <a:prstGeom prst="rect">
            <a:avLst/>
          </a:prstGeom>
          <a:noFill/>
          <a:ln/>
        </p:spPr>
        <p:txBody>
          <a:bodyPr wrap="square" lIns="0" tIns="0" rIns="0" bIns="0" rtlCol="0" anchor="t"/>
          <a:lstStyle/>
          <a:p>
            <a:pPr indent="0" marL="0">
              <a:buNone/>
            </a:pPr>
            <a:endParaRPr lang="en-US" sz="1400" dirty="0"/>
          </a:p>
        </p:txBody>
      </p:sp>
    </p:spTree>
  </p:cSld>
  <p:clrMapOvr>
    <a:masterClrMapping/>
  </p:clrMapOvr>
</p:sld>
</file>

<file path=ppt/theme/theme1.xml><?xml version="1.0" encoding="utf-8"?>
<a:theme xmlns:a="http://schemas.openxmlformats.org/drawingml/2006/main" name="MuleTrace">
  <a:themeElements>
    <a:clrScheme name="MuleTrace">
      <a:dk1>
        <a:srgbClr val="111827"/>
      </a:dk1>
      <a:lt1>
        <a:srgbClr val="FFFFFF"/>
      </a:lt1>
      <a:dk2>
        <a:srgbClr val="0E1A2B"/>
      </a:dk2>
      <a:lt2>
        <a:srgbClr val="EEF2F6"/>
      </a:lt2>
      <a:accent1>
        <a:srgbClr val="E4572E"/>
      </a:accent1>
      <a:accent2>
        <a:srgbClr val="1B998B"/>
      </a:accent2>
      <a:accent3>
        <a:srgbClr val="E8A33D"/>
      </a:accent3>
      <a:accent4>
        <a:srgbClr val="7B61FF"/>
      </a:accent4>
      <a:accent5>
        <a:srgbClr val="29B5E8"/>
      </a:accent5>
      <a:accent6>
        <a:srgbClr val="64748B"/>
      </a:accent6>
      <a:hlink>
        <a:srgbClr val="29B5E8"/>
      </a:hlink>
      <a:folHlink>
        <a:srgbClr val="7B61FF"/>
      </a:folHlink>
    </a:clrScheme>
    <a:fontScheme name="MuleTra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MuleTrace — Prototype / MVP Brief</dc:title>
  <dc:subject>Snowflake CoCo Hackathon 2026 – GCC Edition submission</dc:subject>
  <dc:creator>PptxGenJS</dc:creator>
  <cp:lastModifiedBy>PptxGenJS</cp:lastModifiedBy>
  <cp:revision>1</cp:revision>
  <dcterms:created xsi:type="dcterms:W3CDTF">2026-10-06T16:46:19Z</dcterms:created>
  <dcterms:modified xsi:type="dcterms:W3CDTF">2026-10-06T16:46:19Z</dcterms:modified>
</cp:coreProperties>
</file>